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7856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8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" y="9144"/>
            <a:ext cx="114300" cy="6838798"/>
          </a:xfrm>
          <a:prstGeom prst="rect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3371" y="9144"/>
            <a:ext cx="4876495" cy="683879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00746" y="2553005"/>
            <a:ext cx="3810305" cy="1752905"/>
          </a:xfrm>
          <a:prstGeom prst="roundRect">
            <a:avLst>
              <a:gd name="adj" fmla="val 1134"/>
            </a:avLst>
          </a:prstGeom>
          <a:solidFill>
            <a:srgbClr val="1E293B">
              <a:alpha val="80000"/>
            </a:srgbClr>
          </a:solidFill>
          <a:ln/>
          <a:effectLst>
            <a:outerShdw blurRad="241300" dist="101600" dir="16200000" algn="bl" rotWithShape="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00746" y="2553005"/>
            <a:ext cx="38405" cy="1752905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29346" y="2743200"/>
            <a:ext cx="35058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>
                    <a:alpha val="80000"/>
                  </a:srgbClr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// Build Verification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29346" y="2971800"/>
            <a:ext cx="3505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>
                    <a:alpha val="80000"/>
                  </a:srgbClr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$ ./configure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029346" y="3200400"/>
            <a:ext cx="3505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>
                    <a:alpha val="80000"/>
                  </a:srgbClr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$ make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029346" y="3429000"/>
            <a:ext cx="3505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>
                    <a:alpha val="80000"/>
                  </a:srgbClr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Checking system...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029346" y="3657600"/>
            <a:ext cx="3505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>
                    <a:alpha val="80000"/>
                  </a:srgbClr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Compiling objects...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029346" y="3924605"/>
            <a:ext cx="3505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>
                    <a:alpha val="80000"/>
                  </a:srgbClr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BUILD SUCCESSFUL</a:t>
            </a:r>
            <a:endParaRPr lang="en-US" sz="10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 l="-837" r="-837"/>
          <a:stretch/>
        </p:blipFill>
        <p:spPr>
          <a:xfrm>
            <a:off x="886054" y="929030"/>
            <a:ext cx="152705" cy="13350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114654" y="857707"/>
            <a:ext cx="196870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Technical Documentation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71754" y="1362456"/>
            <a:ext cx="10840212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kern="0" spc="-112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eCAMS</a:t>
            </a:r>
            <a:r>
              <a:rPr lang="en-US" sz="4500" b="1" kern="0" spc="-1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Agent</a:t>
            </a:r>
            <a:endParaRPr lang="en-US" sz="4500" dirty="0"/>
          </a:p>
          <a:p>
            <a:pPr marL="0" indent="0" algn="l">
              <a:buNone/>
            </a:pPr>
            <a:r>
              <a:rPr lang="en-US" sz="4500" b="1" kern="0" spc="-1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트러블슈팅가이드</a:t>
            </a:r>
            <a:endParaRPr lang="en-US" sz="4500" dirty="0"/>
          </a:p>
        </p:txBody>
      </p:sp>
      <p:sp>
        <p:nvSpPr>
          <p:cNvPr id="17" name="Text 14"/>
          <p:cNvSpPr txBox="1"/>
          <p:nvPr/>
        </p:nvSpPr>
        <p:spPr>
          <a:xfrm>
            <a:off x="771754" y="2943454"/>
            <a:ext cx="70866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UNIX/Linux 시스템(Solaris, AIX, HP-UX)에서의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컴파일 오류 해결 및 최적화 전략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806501" y="4009644"/>
            <a:ext cx="457200" cy="457200"/>
          </a:xfrm>
          <a:prstGeom prst="roundRect">
            <a:avLst>
              <a:gd name="adj" fmla="val 200000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40003" y="4143146"/>
            <a:ext cx="190195" cy="19019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71754" y="4581144"/>
            <a:ext cx="63550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오류 해결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1820570" y="4009644"/>
            <a:ext cx="457200" cy="457200"/>
          </a:xfrm>
          <a:prstGeom prst="roundRect">
            <a:avLst>
              <a:gd name="adj" fmla="val 200000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953158" y="4143146"/>
            <a:ext cx="190195" cy="19019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756562" y="4581144"/>
            <a:ext cx="667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OS별 대응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2798064" y="4009644"/>
            <a:ext cx="457200" cy="457200"/>
          </a:xfrm>
          <a:prstGeom prst="roundRect">
            <a:avLst>
              <a:gd name="adj" fmla="val 200000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907792" y="4143146"/>
            <a:ext cx="237744" cy="19019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2842870" y="4581144"/>
            <a:ext cx="4480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771754" y="5381244"/>
            <a:ext cx="548640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71754" y="5619902"/>
            <a:ext cx="1629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AUTHOR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771754" y="5810098"/>
            <a:ext cx="18480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Polaris (Senior Architect)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3614623" y="5619902"/>
            <a:ext cx="667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VERSION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614623" y="5810098"/>
            <a:ext cx="667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1.0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771754" y="857707"/>
            <a:ext cx="2115007" cy="276149"/>
          </a:xfrm>
          <a:prstGeom prst="roundRect">
            <a:avLst>
              <a:gd name="adj" fmla="val 331126"/>
            </a:avLst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" y="390449"/>
            <a:ext cx="75895" cy="761695"/>
          </a:xfrm>
          <a:prstGeom prst="rect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0354" y="580644"/>
            <a:ext cx="10725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개요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1000354" y="1037844"/>
            <a:ext cx="106116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효과적인 트러블슈팅을 위한 문서의 목적과 범위, 전제조건을 정의합니다.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1754" y="1762049"/>
            <a:ext cx="3353105" cy="4515307"/>
          </a:xfrm>
          <a:prstGeom prst="roundRect">
            <a:avLst>
              <a:gd name="adj" fmla="val 124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6307" y="2076602"/>
            <a:ext cx="571500" cy="571500"/>
          </a:xfrm>
          <a:prstGeom prst="roundRect">
            <a:avLst>
              <a:gd name="adj" fmla="val 32000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57300" y="2247595"/>
            <a:ext cx="228600" cy="228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86307" y="2838298"/>
            <a:ext cx="29151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목적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086307" y="3589328"/>
            <a:ext cx="57607" cy="57607"/>
          </a:xfrm>
          <a:prstGeom prst="ellipse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257300" y="3372307"/>
            <a:ext cx="40197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실패 및 경고 메시지의 근본 원인을 신속하게 진단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086307" y="4236723"/>
            <a:ext cx="57607" cy="57607"/>
          </a:xfrm>
          <a:prstGeom prst="ellipse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257300" y="4019702"/>
            <a:ext cx="379384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OS별 상이한 환경에 대한 표준화된 대처 방안 제시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1086307" y="4884118"/>
            <a:ext cx="57607" cy="57607"/>
          </a:xfrm>
          <a:prstGeom prst="ellipse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257300" y="4667098"/>
            <a:ext cx="40197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재현 가능한 해결책을 통해 엔지니어링 리소스 낭비 최소화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422953" y="1762049"/>
            <a:ext cx="3353105" cy="4515307"/>
          </a:xfrm>
          <a:prstGeom prst="roundRect">
            <a:avLst>
              <a:gd name="adj" fmla="val 124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45198" y="1466698"/>
            <a:ext cx="1218895" cy="1218895"/>
          </a:xfrm>
          <a:prstGeom prst="rect">
            <a:avLst/>
          </a:prstGeom>
          <a:solidFill>
            <a:srgbClr val="6366F1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37506" y="2076602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312E81">
              <a:alpha val="30000"/>
            </a:srgbClr>
          </a:solidFill>
          <a:ln w="12700">
            <a:solidFill>
              <a:srgbClr val="3730A3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 t="-45" b="-45"/>
          <a:stretch/>
        </p:blipFill>
        <p:spPr>
          <a:xfrm>
            <a:off x="4893869" y="2247595"/>
            <a:ext cx="256946" cy="2286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737506" y="2838298"/>
            <a:ext cx="29151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 범위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4737506" y="3598036"/>
            <a:ext cx="57607" cy="57607"/>
          </a:xfrm>
          <a:prstGeom prst="ellipse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908499" y="3372307"/>
            <a:ext cx="40197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컴파일/링크 오류:</a:t>
            </a:r>
            <a:r>
              <a:rPr lang="en-US" sz="8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헤더 누락, 타입 미정의, 심볼 충돌 등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4737506" y="4245431"/>
            <a:ext cx="57607" cy="57607"/>
          </a:xfrm>
          <a:prstGeom prst="ellipse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908499" y="4019702"/>
            <a:ext cx="30385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시스템:</a:t>
            </a:r>
            <a:r>
              <a:rPr lang="en-US" sz="8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Configure 스크립트, Autoconf, Makefile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4737506" y="4892826"/>
            <a:ext cx="57607" cy="57607"/>
          </a:xfrm>
          <a:prstGeom prst="ellipse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908499" y="4667098"/>
            <a:ext cx="30385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 OS:</a:t>
            </a:r>
            <a:r>
              <a:rPr lang="en-US" sz="8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Solaris, AIX, HP-UX, 다양한 Linux 배포판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8074152" y="1762049"/>
            <a:ext cx="3353105" cy="4515307"/>
          </a:xfrm>
          <a:prstGeom prst="roundRect">
            <a:avLst>
              <a:gd name="adj" fmla="val 124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388706" y="2076602"/>
            <a:ext cx="571500" cy="571500"/>
          </a:xfrm>
          <a:prstGeom prst="roundRect">
            <a:avLst>
              <a:gd name="adj" fmla="val 32000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8588045" y="2247595"/>
            <a:ext cx="171907" cy="22860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8388706" y="2838298"/>
            <a:ext cx="29151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전제 조건</a:t>
            </a:r>
            <a:endParaRPr lang="en-US" sz="1800" dirty="0"/>
          </a:p>
        </p:txBody>
      </p:sp>
      <p:sp>
        <p:nvSpPr>
          <p:cNvPr id="32" name="Shape 27"/>
          <p:cNvSpPr/>
          <p:nvPr/>
        </p:nvSpPr>
        <p:spPr>
          <a:xfrm>
            <a:off x="8388706" y="3606744"/>
            <a:ext cx="57607" cy="57607"/>
          </a:xfrm>
          <a:prstGeom prst="ellipse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8559698" y="3372307"/>
            <a:ext cx="30385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 서버에 대한 Shell 접근 권한 및 Root/Sudo 권한 확보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8388706" y="4254139"/>
            <a:ext cx="57607" cy="57607"/>
          </a:xfrm>
          <a:prstGeom prst="ellipse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8559698" y="4019702"/>
            <a:ext cx="30385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개발 도구(GCC/CC, Make, Autotools 등) 설치 가능 환경</a:t>
            </a:r>
            <a:endParaRPr lang="en-US" sz="800" dirty="0"/>
          </a:p>
        </p:txBody>
      </p:sp>
      <p:sp>
        <p:nvSpPr>
          <p:cNvPr id="36" name="Shape 31"/>
          <p:cNvSpPr/>
          <p:nvPr/>
        </p:nvSpPr>
        <p:spPr>
          <a:xfrm>
            <a:off x="8388706" y="4901534"/>
            <a:ext cx="57607" cy="57607"/>
          </a:xfrm>
          <a:prstGeom prst="ellipse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8559698" y="4667098"/>
            <a:ext cx="30385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err="1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eCAMS</a:t>
            </a:r>
            <a:r>
              <a:rPr lang="en-US" sz="8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Agent 소스 코드 트리 및 쓰기 권한 보유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" y="390449"/>
            <a:ext cx="75895" cy="761695"/>
          </a:xfrm>
          <a:prstGeom prst="rect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0354" y="580644"/>
            <a:ext cx="10725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1000354" y="1037844"/>
            <a:ext cx="106116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트러블슈팅 가이드 문서 구성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1754" y="1790395"/>
            <a:ext cx="5210251" cy="923544"/>
          </a:xfrm>
          <a:prstGeom prst="roundRect">
            <a:avLst>
              <a:gd name="adj" fmla="val 1224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3602" y="1976018"/>
            <a:ext cx="5431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38BDF8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619402" y="1990649"/>
            <a:ext cx="43150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시스템 개요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619402" y="2314346"/>
            <a:ext cx="42391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Configure, Make 프로세스 및 주요 산출물 이해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0605" y="1790395"/>
            <a:ext cx="5210251" cy="923544"/>
          </a:xfrm>
          <a:prstGeom prst="roundRect">
            <a:avLst>
              <a:gd name="adj" fmla="val 1224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72454" y="1976018"/>
            <a:ext cx="5431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38BDF8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7058254" y="1990649"/>
            <a:ext cx="43150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컴파일 오류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58254" y="2314346"/>
            <a:ext cx="43150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헤더 누락, 타입 미정의 등 빈출 오류 해결책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1754" y="2943454"/>
            <a:ext cx="5210251" cy="923544"/>
          </a:xfrm>
          <a:prstGeom prst="roundRect">
            <a:avLst>
              <a:gd name="adj" fmla="val 1224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3602" y="3129077"/>
            <a:ext cx="5431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38BDF8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619402" y="3143707"/>
            <a:ext cx="43150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OS별 특화 문제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619402" y="3467405"/>
            <a:ext cx="42391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Solaris, AIX, HP-UX, Linux 플랫폼별 이슈 대응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0605" y="2943454"/>
            <a:ext cx="5210251" cy="923544"/>
          </a:xfrm>
          <a:prstGeom prst="roundRect">
            <a:avLst>
              <a:gd name="adj" fmla="val 1224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72454" y="3129077"/>
            <a:ext cx="5431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38BDF8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7058254" y="3143707"/>
            <a:ext cx="42391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Configure 스크립트 오류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58254" y="3467405"/>
            <a:ext cx="42391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Autoconf 버전, 매크로 누락 및 Cache 문제 해결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1754" y="4095598"/>
            <a:ext cx="5210251" cy="923544"/>
          </a:xfrm>
          <a:prstGeom prst="roundRect">
            <a:avLst>
              <a:gd name="adj" fmla="val 1224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3602" y="4281221"/>
            <a:ext cx="5431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38BDF8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1619402" y="4295851"/>
            <a:ext cx="43150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링커 오류 해결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619402" y="4619549"/>
            <a:ext cx="43150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라이브러리 순서, 중복 심볼 및 의존성 문제 처리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0605" y="4095598"/>
            <a:ext cx="5210251" cy="923544"/>
          </a:xfrm>
          <a:prstGeom prst="roundRect">
            <a:avLst>
              <a:gd name="adj" fmla="val 1224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72454" y="4281221"/>
            <a:ext cx="5431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38BDF8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7058254" y="4295851"/>
            <a:ext cx="42391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Warning 최적화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058254" y="4619549"/>
            <a:ext cx="42391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미사용 변수, 형변환, Deprecated 함수 경고 제거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71754" y="5248656"/>
            <a:ext cx="5210251" cy="923544"/>
          </a:xfrm>
          <a:prstGeom prst="roundRect">
            <a:avLst>
              <a:gd name="adj" fmla="val 1224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33602" y="5434279"/>
            <a:ext cx="5431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38BDF8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3000" dirty="0"/>
          </a:p>
        </p:txBody>
      </p:sp>
      <p:sp>
        <p:nvSpPr>
          <p:cNvPr id="33" name="Text 31"/>
          <p:cNvSpPr txBox="1"/>
          <p:nvPr/>
        </p:nvSpPr>
        <p:spPr>
          <a:xfrm>
            <a:off x="1619402" y="5447995"/>
            <a:ext cx="43150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자동화된 대처 스크립트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1619402" y="5772607"/>
            <a:ext cx="43150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점검, 자동 패치, 일괄 빌드 스크립트 활용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0605" y="5248656"/>
            <a:ext cx="5210251" cy="923544"/>
          </a:xfrm>
          <a:prstGeom prst="roundRect">
            <a:avLst>
              <a:gd name="adj" fmla="val 1224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72454" y="5434279"/>
            <a:ext cx="5431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38BDF8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3000" dirty="0"/>
          </a:p>
        </p:txBody>
      </p:sp>
      <p:sp>
        <p:nvSpPr>
          <p:cNvPr id="37" name="Text 35"/>
          <p:cNvSpPr txBox="1"/>
          <p:nvPr/>
        </p:nvSpPr>
        <p:spPr>
          <a:xfrm>
            <a:off x="7058254" y="5447995"/>
            <a:ext cx="43150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트러블슈팅 체크리스트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7058254" y="5772607"/>
            <a:ext cx="43150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실패 시 신속한 복구를 위한 단계별 점검표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" y="390449"/>
            <a:ext cx="75895" cy="761695"/>
          </a:xfrm>
          <a:prstGeom prst="rect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0354" y="580644"/>
            <a:ext cx="10725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시스템 개요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1000354" y="1037844"/>
            <a:ext cx="106116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빌드 프로세스 흐름과 주요 구성 요소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1754" y="1686154"/>
            <a:ext cx="3172054" cy="2523744"/>
          </a:xfrm>
          <a:prstGeom prst="roundRect">
            <a:avLst>
              <a:gd name="adj" fmla="val 164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70532" y="1580998"/>
            <a:ext cx="771754" cy="237744"/>
          </a:xfrm>
          <a:prstGeom prst="roundRect">
            <a:avLst>
              <a:gd name="adj" fmla="val 384615"/>
            </a:avLst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46427" y="1600200"/>
            <a:ext cx="619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807769" y="2686507"/>
            <a:ext cx="11000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Configure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705356" y="3029407"/>
            <a:ext cx="130393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환경 검사 및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Makefile 자동 생성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9498" y="3600907"/>
            <a:ext cx="2695651" cy="371246"/>
          </a:xfrm>
          <a:prstGeom prst="roundRect">
            <a:avLst>
              <a:gd name="adj" fmla="val 3789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795882" y="3705149"/>
            <a:ext cx="11247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5B4FC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$ ./configure</a:t>
            </a:r>
            <a:endParaRPr lang="en-US" sz="10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 t="-80" b="-80"/>
          <a:stretch/>
        </p:blipFill>
        <p:spPr>
          <a:xfrm>
            <a:off x="4154119" y="2833726"/>
            <a:ext cx="142646" cy="2286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511650" y="1686154"/>
            <a:ext cx="3172054" cy="2523744"/>
          </a:xfrm>
          <a:prstGeom prst="roundRect">
            <a:avLst>
              <a:gd name="adj" fmla="val 164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10428" y="1580998"/>
            <a:ext cx="771754" cy="237744"/>
          </a:xfrm>
          <a:prstGeom prst="roundRect">
            <a:avLst>
              <a:gd name="adj" fmla="val 384615"/>
            </a:avLst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787238" y="1600200"/>
            <a:ext cx="619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02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811012" y="2686507"/>
            <a:ext cx="5715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Make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231282" y="3029407"/>
            <a:ext cx="173095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소스 코드 컴파일 및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오브젝트 링크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49394" y="3600907"/>
            <a:ext cx="2695651" cy="371246"/>
          </a:xfrm>
          <a:prstGeom prst="roundRect">
            <a:avLst>
              <a:gd name="adj" fmla="val 3789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817413" y="3705149"/>
            <a:ext cx="5623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5B4FC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$ make</a:t>
            </a:r>
            <a:endParaRPr lang="en-US" sz="10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rcRect t="-80" b="-80"/>
          <a:stretch/>
        </p:blipFill>
        <p:spPr>
          <a:xfrm>
            <a:off x="7894930" y="2833726"/>
            <a:ext cx="142646" cy="22860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8251546" y="1686154"/>
            <a:ext cx="3172054" cy="2523744"/>
          </a:xfrm>
          <a:prstGeom prst="roundRect">
            <a:avLst>
              <a:gd name="adj" fmla="val 164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9451238" y="1580998"/>
            <a:ext cx="771754" cy="237744"/>
          </a:xfrm>
          <a:prstGeom prst="roundRect">
            <a:avLst>
              <a:gd name="adj" fmla="val 384615"/>
            </a:avLst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9527134" y="1600200"/>
            <a:ext cx="619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03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9489643" y="2686507"/>
            <a:ext cx="70317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Install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9099194" y="3029407"/>
            <a:ext cx="147492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바이너리 배포 및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 설정 (선택)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8490204" y="3600907"/>
            <a:ext cx="2695651" cy="371246"/>
          </a:xfrm>
          <a:prstGeom prst="roundRect">
            <a:avLst>
              <a:gd name="adj" fmla="val 3789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9236354" y="3705149"/>
            <a:ext cx="12097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5B4FC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$ make install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771754" y="4515307"/>
            <a:ext cx="5171846" cy="2324405"/>
          </a:xfrm>
          <a:prstGeom prst="roundRect">
            <a:avLst>
              <a:gd name="adj" fmla="val 193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1276502" y="4753051"/>
            <a:ext cx="461954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서브 모듈 구조</a:t>
            </a:r>
            <a:endParaRPr lang="en-US" sz="130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4"/>
          <a:srcRect t="-842" b="-842"/>
          <a:stretch/>
        </p:blipFill>
        <p:spPr>
          <a:xfrm>
            <a:off x="1009498" y="4800600"/>
            <a:ext cx="190195" cy="171907"/>
          </a:xfrm>
          <a:prstGeom prst="rect">
            <a:avLst/>
          </a:prstGeom>
        </p:spPr>
      </p:pic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09498" y="5210251"/>
            <a:ext cx="152705" cy="152705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1238098" y="5171846"/>
            <a:ext cx="4992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svrsrc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1691640" y="5219395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(Core)</a:t>
            </a:r>
            <a:endParaRPr lang="en-US" sz="9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33572" y="5210251"/>
            <a:ext cx="152705" cy="152705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3662172" y="5171846"/>
            <a:ext cx="533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aessrc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4147718" y="5219395"/>
            <a:ext cx="5221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(Crypto)</a:t>
            </a:r>
            <a:endParaRPr lang="en-US" sz="90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09498" y="5591556"/>
            <a:ext cx="152705" cy="152705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1238098" y="5553151"/>
            <a:ext cx="4882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ftpsrc</a:t>
            </a:r>
            <a:endParaRPr lang="en-US" sz="1200" dirty="0"/>
          </a:p>
        </p:txBody>
      </p:sp>
      <p:sp>
        <p:nvSpPr>
          <p:cNvPr id="41" name="Text 33"/>
          <p:cNvSpPr txBox="1"/>
          <p:nvPr/>
        </p:nvSpPr>
        <p:spPr>
          <a:xfrm>
            <a:off x="1683410" y="5600700"/>
            <a:ext cx="61264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(Transfer)</a:t>
            </a:r>
            <a:endParaRPr lang="en-US" sz="900" dirty="0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33572" y="5591556"/>
            <a:ext cx="152705" cy="152705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3662172" y="5553151"/>
            <a:ext cx="609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md5src</a:t>
            </a:r>
            <a:endParaRPr lang="en-US" sz="1200" dirty="0"/>
          </a:p>
        </p:txBody>
      </p:sp>
      <p:sp>
        <p:nvSpPr>
          <p:cNvPr id="44" name="Text 35"/>
          <p:cNvSpPr txBox="1"/>
          <p:nvPr/>
        </p:nvSpPr>
        <p:spPr>
          <a:xfrm>
            <a:off x="4226357" y="5600700"/>
            <a:ext cx="4288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(Hash)</a:t>
            </a:r>
            <a:endParaRPr lang="en-US" sz="900" dirty="0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09498" y="5971946"/>
            <a:ext cx="152705" cy="152705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1238098" y="5934456"/>
            <a:ext cx="4882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tarsrc</a:t>
            </a:r>
            <a:endParaRPr lang="en-US" sz="1200" dirty="0"/>
          </a:p>
        </p:txBody>
      </p:sp>
      <p:sp>
        <p:nvSpPr>
          <p:cNvPr id="47" name="Text 37"/>
          <p:cNvSpPr txBox="1"/>
          <p:nvPr/>
        </p:nvSpPr>
        <p:spPr>
          <a:xfrm>
            <a:off x="1679753" y="5982005"/>
            <a:ext cx="5669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(Archive)</a:t>
            </a:r>
            <a:endParaRPr lang="en-US" sz="900" dirty="0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3433572" y="5971946"/>
            <a:ext cx="114300" cy="152705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3624682" y="5934456"/>
            <a:ext cx="952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include/*.h</a:t>
            </a:r>
            <a:endParaRPr lang="en-US" sz="1200" dirty="0"/>
          </a:p>
        </p:txBody>
      </p:sp>
      <p:sp>
        <p:nvSpPr>
          <p:cNvPr id="50" name="Shape 39"/>
          <p:cNvSpPr/>
          <p:nvPr/>
        </p:nvSpPr>
        <p:spPr>
          <a:xfrm>
            <a:off x="6248095" y="4515307"/>
            <a:ext cx="5171846" cy="2324405"/>
          </a:xfrm>
          <a:prstGeom prst="roundRect">
            <a:avLst>
              <a:gd name="adj" fmla="val 193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1" name="Text 40"/>
          <p:cNvSpPr txBox="1"/>
          <p:nvPr/>
        </p:nvSpPr>
        <p:spPr>
          <a:xfrm>
            <a:off x="6734556" y="4753051"/>
            <a:ext cx="46387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빌드 산출물</a:t>
            </a:r>
            <a:endParaRPr lang="en-US" sz="1300" dirty="0"/>
          </a:p>
        </p:txBody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86754" y="4800600"/>
            <a:ext cx="171907" cy="171907"/>
          </a:xfrm>
          <a:prstGeom prst="rect">
            <a:avLst/>
          </a:prstGeom>
        </p:spPr>
      </p:pic>
      <p:sp>
        <p:nvSpPr>
          <p:cNvPr id="53" name="Shape 41"/>
          <p:cNvSpPr/>
          <p:nvPr/>
        </p:nvSpPr>
        <p:spPr>
          <a:xfrm>
            <a:off x="6486754" y="5171846"/>
            <a:ext cx="4695444" cy="400507"/>
          </a:xfrm>
          <a:prstGeom prst="roundRect">
            <a:avLst>
              <a:gd name="adj" fmla="val 2174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42"/>
          <p:cNvSpPr txBox="1"/>
          <p:nvPr/>
        </p:nvSpPr>
        <p:spPr>
          <a:xfrm>
            <a:off x="6572707" y="5286146"/>
            <a:ext cx="9052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eCAMS_svr</a:t>
            </a:r>
            <a:endParaRPr lang="en-US" sz="1200" dirty="0"/>
          </a:p>
        </p:txBody>
      </p:sp>
      <p:sp>
        <p:nvSpPr>
          <p:cNvPr id="55" name="Text 43"/>
          <p:cNvSpPr txBox="1"/>
          <p:nvPr/>
        </p:nvSpPr>
        <p:spPr>
          <a:xfrm>
            <a:off x="10325405" y="5286146"/>
            <a:ext cx="85130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실행 파일</a:t>
            </a:r>
            <a:endParaRPr lang="en-US" sz="900" dirty="0"/>
          </a:p>
        </p:txBody>
      </p:sp>
      <p:sp>
        <p:nvSpPr>
          <p:cNvPr id="56" name="Shape 44"/>
          <p:cNvSpPr/>
          <p:nvPr/>
        </p:nvSpPr>
        <p:spPr>
          <a:xfrm>
            <a:off x="6486754" y="5686654"/>
            <a:ext cx="4695444" cy="400507"/>
          </a:xfrm>
          <a:prstGeom prst="roundRect">
            <a:avLst>
              <a:gd name="adj" fmla="val 2174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7" name="Text 45"/>
          <p:cNvSpPr txBox="1"/>
          <p:nvPr/>
        </p:nvSpPr>
        <p:spPr>
          <a:xfrm>
            <a:off x="6572707" y="5800954"/>
            <a:ext cx="10003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object/*.o</a:t>
            </a:r>
            <a:endParaRPr lang="en-US" sz="1200" dirty="0"/>
          </a:p>
        </p:txBody>
      </p:sp>
      <p:sp>
        <p:nvSpPr>
          <p:cNvPr id="58" name="Text 46"/>
          <p:cNvSpPr txBox="1"/>
          <p:nvPr/>
        </p:nvSpPr>
        <p:spPr>
          <a:xfrm>
            <a:off x="10357409" y="5800954"/>
            <a:ext cx="78089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 오브젝트</a:t>
            </a:r>
            <a:endParaRPr lang="en-US" sz="900" dirty="0"/>
          </a:p>
        </p:txBody>
      </p:sp>
      <p:sp>
        <p:nvSpPr>
          <p:cNvPr id="59" name="Shape 47"/>
          <p:cNvSpPr/>
          <p:nvPr/>
        </p:nvSpPr>
        <p:spPr>
          <a:xfrm>
            <a:off x="6486754" y="6200546"/>
            <a:ext cx="4695444" cy="400507"/>
          </a:xfrm>
          <a:prstGeom prst="roundRect">
            <a:avLst>
              <a:gd name="adj" fmla="val 2174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0" name="Text 48"/>
          <p:cNvSpPr txBox="1"/>
          <p:nvPr/>
        </p:nvSpPr>
        <p:spPr>
          <a:xfrm>
            <a:off x="6572707" y="6314846"/>
            <a:ext cx="8101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config.h</a:t>
            </a:r>
            <a:endParaRPr lang="en-US" sz="1200" dirty="0"/>
          </a:p>
        </p:txBody>
      </p:sp>
      <p:sp>
        <p:nvSpPr>
          <p:cNvPr id="61" name="Text 49"/>
          <p:cNvSpPr txBox="1"/>
          <p:nvPr/>
        </p:nvSpPr>
        <p:spPr>
          <a:xfrm>
            <a:off x="10325405" y="6314846"/>
            <a:ext cx="85130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설정 헤더</a:t>
            </a:r>
            <a:endParaRPr lang="en-US" sz="900" dirty="0"/>
          </a:p>
        </p:txBody>
      </p:sp>
      <p:sp>
        <p:nvSpPr>
          <p:cNvPr id="62" name="Shape 50"/>
          <p:cNvSpPr/>
          <p:nvPr/>
        </p:nvSpPr>
        <p:spPr>
          <a:xfrm>
            <a:off x="2050999" y="1923898"/>
            <a:ext cx="609905" cy="60990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</p:sp>
      <p:pic>
        <p:nvPicPr>
          <p:cNvPr id="63" name="Image 10" descr="preencoded.png"/>
          <p:cNvPicPr>
            <a:picLocks noChangeAspect="1"/>
          </p:cNvPicPr>
          <p:nvPr/>
        </p:nvPicPr>
        <p:blipFill>
          <a:blip r:embed="rId8"/>
          <a:srcRect l="-80" r="-80"/>
          <a:stretch/>
        </p:blipFill>
        <p:spPr>
          <a:xfrm>
            <a:off x="2212848" y="2115007"/>
            <a:ext cx="286207" cy="228600"/>
          </a:xfrm>
          <a:prstGeom prst="rect">
            <a:avLst/>
          </a:prstGeom>
        </p:spPr>
      </p:pic>
      <p:sp>
        <p:nvSpPr>
          <p:cNvPr id="64" name="Shape 51"/>
          <p:cNvSpPr/>
          <p:nvPr/>
        </p:nvSpPr>
        <p:spPr>
          <a:xfrm>
            <a:off x="5790895" y="1923898"/>
            <a:ext cx="609905" cy="60990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</p:sp>
      <p:pic>
        <p:nvPicPr>
          <p:cNvPr id="65" name="Image 11" descr="preencoded.png"/>
          <p:cNvPicPr>
            <a:picLocks noChangeAspect="1"/>
          </p:cNvPicPr>
          <p:nvPr/>
        </p:nvPicPr>
        <p:blipFill>
          <a:blip r:embed="rId9"/>
          <a:srcRect t="-45" b="-45"/>
          <a:stretch/>
        </p:blipFill>
        <p:spPr>
          <a:xfrm>
            <a:off x="5967374" y="2115007"/>
            <a:ext cx="256946" cy="228600"/>
          </a:xfrm>
          <a:prstGeom prst="rect">
            <a:avLst/>
          </a:prstGeom>
        </p:spPr>
      </p:pic>
      <p:sp>
        <p:nvSpPr>
          <p:cNvPr id="66" name="Shape 52"/>
          <p:cNvSpPr/>
          <p:nvPr/>
        </p:nvSpPr>
        <p:spPr>
          <a:xfrm>
            <a:off x="9531706" y="1923898"/>
            <a:ext cx="609905" cy="60990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</p:sp>
      <p:pic>
        <p:nvPicPr>
          <p:cNvPr id="67" name="Image 12" descr="preencoded.png"/>
          <p:cNvPicPr>
            <a:picLocks noChangeAspect="1"/>
          </p:cNvPicPr>
          <p:nvPr/>
        </p:nvPicPr>
        <p:blipFill>
          <a:blip r:embed="rId10"/>
          <a:srcRect l="-80" r="-80"/>
          <a:stretch/>
        </p:blipFill>
        <p:spPr>
          <a:xfrm>
            <a:off x="9693554" y="2115007"/>
            <a:ext cx="286207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" y="390449"/>
            <a:ext cx="75895" cy="761695"/>
          </a:xfrm>
          <a:prstGeom prst="rect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0354" y="580644"/>
            <a:ext cx="10725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및 컴파일러 설정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1000354" y="1037844"/>
            <a:ext cx="106116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결과물 구조와 컴파일러 환경 구성 요소 상세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1754" y="964433"/>
            <a:ext cx="5134356" cy="5695798"/>
          </a:xfrm>
          <a:prstGeom prst="roundRect">
            <a:avLst>
              <a:gd name="adj" fmla="val 52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0898" y="1658505"/>
            <a:ext cx="5115154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1009498" y="1229651"/>
            <a:ext cx="219456" cy="1901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43254" y="1182102"/>
            <a:ext cx="166603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산출물 구조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01591" y="1257997"/>
            <a:ext cx="124815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./</a:t>
            </a:r>
            <a:r>
              <a:rPr lang="en-US" sz="1050" dirty="0" err="1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eCAMS_svr_root</a:t>
            </a:r>
            <a:r>
              <a:rPr lang="en-US" sz="105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58515"/>
              </p:ext>
            </p:extLst>
          </p:nvPr>
        </p:nvGraphicFramePr>
        <p:xfrm>
          <a:off x="780898" y="1667649"/>
          <a:ext cx="5114239" cy="5077664"/>
        </p:xfrm>
        <a:graphic>
          <a:graphicData uri="http://schemas.openxmlformats.org/drawingml/2006/table">
            <a:tbl>
              <a:tblPr/>
              <a:tblGrid>
                <a:gridCol w="1534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5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4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47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경로 / 파일명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설명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47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Executable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6" dirty="0" err="1">
                          <a:solidFill>
                            <a:srgbClr val="E2E8F0"/>
                          </a:solidFill>
                          <a:latin typeface="Monaco" pitchFamily="34" charset="0"/>
                          <a:ea typeface="Monaco" pitchFamily="34" charset="-122"/>
                          <a:cs typeface="Monaco" pitchFamily="34" charset="-120"/>
                        </a:rPr>
                        <a:t>eCAMS_svr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최종 실행 바이너리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47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Object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6" dirty="0">
                          <a:solidFill>
                            <a:srgbClr val="E2E8F0"/>
                          </a:solidFill>
                          <a:latin typeface="Monaco" pitchFamily="34" charset="0"/>
                          <a:ea typeface="Monaco" pitchFamily="34" charset="-122"/>
                          <a:cs typeface="Monaco" pitchFamily="34" charset="-120"/>
                        </a:rPr>
                        <a:t>object/*.o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모듈별 컴파일 결과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47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8BDF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Module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6" dirty="0">
                          <a:solidFill>
                            <a:srgbClr val="E2E8F0"/>
                          </a:solidFill>
                          <a:latin typeface="Monaco" pitchFamily="34" charset="0"/>
                          <a:ea typeface="Monaco" pitchFamily="34" charset="-122"/>
                          <a:cs typeface="Monaco" pitchFamily="34" charset="-120"/>
                        </a:rPr>
                        <a:t>svrsrc/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Core 서버 로직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47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8BDF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Module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6" dirty="0">
                          <a:solidFill>
                            <a:srgbClr val="E2E8F0"/>
                          </a:solidFill>
                          <a:latin typeface="Monaco" pitchFamily="34" charset="0"/>
                          <a:ea typeface="Monaco" pitchFamily="34" charset="-122"/>
                          <a:cs typeface="Monaco" pitchFamily="34" charset="-120"/>
                        </a:rPr>
                        <a:t>aessrc/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AES 암호화 모듈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47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8BDF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Module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6" dirty="0">
                          <a:solidFill>
                            <a:srgbClr val="E2E8F0"/>
                          </a:solidFill>
                          <a:latin typeface="Monaco" pitchFamily="34" charset="0"/>
                          <a:ea typeface="Monaco" pitchFamily="34" charset="-122"/>
                          <a:cs typeface="Monaco" pitchFamily="34" charset="-120"/>
                        </a:rPr>
                        <a:t>ftpsrc/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FTP 전송 모듈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47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8BDF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Module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6" dirty="0">
                          <a:solidFill>
                            <a:srgbClr val="E2E8F0"/>
                          </a:solidFill>
                          <a:latin typeface="Monaco" pitchFamily="34" charset="0"/>
                          <a:ea typeface="Monaco" pitchFamily="34" charset="-122"/>
                          <a:cs typeface="Monaco" pitchFamily="34" charset="-120"/>
                        </a:rPr>
                        <a:t>md5src/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MD5 해시 모듈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47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8BDF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Module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6" dirty="0">
                          <a:solidFill>
                            <a:srgbClr val="E2E8F0"/>
                          </a:solidFill>
                          <a:latin typeface="Monaco" pitchFamily="34" charset="0"/>
                          <a:ea typeface="Monaco" pitchFamily="34" charset="-122"/>
                          <a:cs typeface="Monaco" pitchFamily="34" charset="-120"/>
                        </a:rPr>
                        <a:t>tarsrc/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아카이브 처리 모듈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6286500" y="964433"/>
            <a:ext cx="5134356" cy="5695798"/>
          </a:xfrm>
          <a:prstGeom prst="roundRect">
            <a:avLst>
              <a:gd name="adj" fmla="val 52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95644" y="1658505"/>
            <a:ext cx="5115154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24244" y="1229651"/>
            <a:ext cx="190195" cy="19019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29654" y="1182102"/>
            <a:ext cx="186994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컴파일러 환경 설정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0359238" y="1257997"/>
            <a:ext cx="90525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configure.ac</a:t>
            </a:r>
            <a:endParaRPr lang="en-US" sz="1050" dirty="0"/>
          </a:p>
        </p:txBody>
      </p:sp>
      <p:graphicFrame>
        <p:nvGraphicFramePr>
          <p:cNvPr id="1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143205"/>
              </p:ext>
            </p:extLst>
          </p:nvPr>
        </p:nvGraphicFramePr>
        <p:xfrm>
          <a:off x="6295644" y="1667649"/>
          <a:ext cx="5114239" cy="5124034"/>
        </p:xfrm>
        <a:graphic>
          <a:graphicData uri="http://schemas.openxmlformats.org/drawingml/2006/table">
            <a:tbl>
              <a:tblPr/>
              <a:tblGrid>
                <a:gridCol w="1534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5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4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16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설정 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비고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6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b="1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기본 컴파일러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6" dirty="0">
                          <a:solidFill>
                            <a:srgbClr val="E2E8F0"/>
                          </a:solidFill>
                          <a:latin typeface="Monaco" pitchFamily="34" charset="0"/>
                          <a:ea typeface="Monaco" pitchFamily="34" charset="-122"/>
                          <a:cs typeface="Monaco" pitchFamily="34" charset="-120"/>
                        </a:rPr>
                        <a:t>cc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자동 탐지 (Default)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6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b="1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지원 컴파일러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18CF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gcc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18CF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clang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18CF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xlc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18CF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Sun Studio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다중 OS 지원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6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b="1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CFLAGS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6" dirty="0">
                          <a:solidFill>
                            <a:srgbClr val="E2E8F0"/>
                          </a:solidFill>
                          <a:latin typeface="Monaco" pitchFamily="34" charset="0"/>
                          <a:ea typeface="Monaco" pitchFamily="34" charset="-122"/>
                          <a:cs typeface="Monaco" pitchFamily="34" charset="-120"/>
                        </a:rPr>
                        <a:t>-g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디버그 심볼 포함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6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b="1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LIBS (Solaris)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6" dirty="0">
                          <a:solidFill>
                            <a:srgbClr val="E2E8F0"/>
                          </a:solidFill>
                          <a:latin typeface="Monaco" pitchFamily="34" charset="0"/>
                          <a:ea typeface="Monaco" pitchFamily="34" charset="-122"/>
                          <a:cs typeface="Monaco" pitchFamily="34" charset="-120"/>
                        </a:rPr>
                        <a:t>-lxnet -lnsl -lsocket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네트워크 라이브러리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6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b="1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LIBS (Linux)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6" dirty="0">
                          <a:solidFill>
                            <a:srgbClr val="E2E8F0"/>
                          </a:solidFill>
                          <a:latin typeface="Monaco" pitchFamily="34" charset="0"/>
                          <a:ea typeface="Monaco" pitchFamily="34" charset="-122"/>
                          <a:cs typeface="Monaco" pitchFamily="34" charset="-120"/>
                        </a:rPr>
                        <a:t>-lcrypt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필요 시 추가 (uclibc 등)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16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b="1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Define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6" dirty="0">
                          <a:solidFill>
                            <a:srgbClr val="E2E8F0"/>
                          </a:solidFill>
                          <a:latin typeface="Monaco" pitchFamily="34" charset="0"/>
                          <a:ea typeface="Monaco" pitchFamily="34" charset="-122"/>
                          <a:cs typeface="Monaco" pitchFamily="34" charset="-120"/>
                        </a:rPr>
                        <a:t>-D_REENTRANT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스레드 안전성 확보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" y="390449"/>
            <a:ext cx="75895" cy="761695"/>
          </a:xfrm>
          <a:prstGeom prst="rect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0354" y="485546"/>
            <a:ext cx="10725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컴파일 오류 맵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1000354" y="942746"/>
            <a:ext cx="106116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빈번하게 발생하는 5가지 주요 컴파일 및 빌드 오류 유형과 해결 방향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1754" y="1552651"/>
            <a:ext cx="3400654" cy="2609698"/>
          </a:xfrm>
          <a:prstGeom prst="roundRect">
            <a:avLst>
              <a:gd name="adj" fmla="val 153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1754" y="1552651"/>
            <a:ext cx="3400654" cy="38405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2007" y="1781251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1052474" y="1876349"/>
            <a:ext cx="219456" cy="19019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061411" y="1781251"/>
            <a:ext cx="914400" cy="228600"/>
          </a:xfrm>
          <a:prstGeom prst="roundRect">
            <a:avLst>
              <a:gd name="adj" fmla="val 66667"/>
            </a:avLst>
          </a:prstGeom>
          <a:solidFill>
            <a:srgbClr val="7F1D1D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138221" y="1828800"/>
            <a:ext cx="8385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Fatal Error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72007" y="2276856"/>
            <a:ext cx="31912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헤더 파일 없음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72007" y="2609698"/>
            <a:ext cx="406359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또는 시스템 개발 헤더 패키지가 OS에 설치되지 않음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72007" y="3161995"/>
            <a:ext cx="3000146" cy="800100"/>
          </a:xfrm>
          <a:prstGeom prst="roundRect">
            <a:avLst>
              <a:gd name="adj" fmla="val 816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95451" y="3267151"/>
            <a:ext cx="7050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SOLUTION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095451" y="3476549"/>
            <a:ext cx="2862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8BDF8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yum install glibc-devel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095451" y="3700577"/>
            <a:ext cx="28629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또는 configure에 경로 추가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397350" y="1552651"/>
            <a:ext cx="3400654" cy="2609698"/>
          </a:xfrm>
          <a:prstGeom prst="roundRect">
            <a:avLst>
              <a:gd name="adj" fmla="val 153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397350" y="1552651"/>
            <a:ext cx="3400654" cy="38405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97603" y="1781251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9731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4701845" y="1876349"/>
            <a:ext cx="171907" cy="190195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695237" y="1828800"/>
            <a:ext cx="90525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Unknown Type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4597603" y="2276856"/>
            <a:ext cx="31912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타입 정의 누락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4597603" y="2609698"/>
            <a:ext cx="356524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구형 OS에서 socklen_t, uint64_t 등의 타입이 정의되지 않음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597603" y="3161995"/>
            <a:ext cx="3000146" cy="800100"/>
          </a:xfrm>
          <a:prstGeom prst="roundRect">
            <a:avLst>
              <a:gd name="adj" fmla="val 816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721047" y="3267151"/>
            <a:ext cx="7050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SOLUTION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4721047" y="3476549"/>
            <a:ext cx="2862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8BDF8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typedef unsigned long socklen_t;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4721047" y="3700577"/>
            <a:ext cx="28629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config.h 내 조건부 정의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8022946" y="1552651"/>
            <a:ext cx="3400654" cy="2609698"/>
          </a:xfrm>
          <a:prstGeom prst="roundRect">
            <a:avLst>
              <a:gd name="adj" fmla="val 153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022946" y="1552651"/>
            <a:ext cx="3400654" cy="38405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>
                <a:alpha val="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223199" y="1781251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AB30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94522" y="1876349"/>
            <a:ext cx="237744" cy="190195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10176358" y="1781251"/>
            <a:ext cx="1047902" cy="228600"/>
          </a:xfrm>
          <a:prstGeom prst="roundRect">
            <a:avLst>
              <a:gd name="adj" fmla="val 66667"/>
            </a:avLst>
          </a:prstGeom>
          <a:solidFill>
            <a:srgbClr val="78350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10252253" y="1828800"/>
            <a:ext cx="9720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Implicit Decl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8223199" y="2276856"/>
            <a:ext cx="31912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함수 선언 누락</a:t>
            </a:r>
            <a:endParaRPr lang="en-US" sz="1300" dirty="0"/>
          </a:p>
        </p:txBody>
      </p:sp>
      <p:sp>
        <p:nvSpPr>
          <p:cNvPr id="37" name="Text 32"/>
          <p:cNvSpPr txBox="1"/>
          <p:nvPr/>
        </p:nvSpPr>
        <p:spPr>
          <a:xfrm>
            <a:off x="8223199" y="2609698"/>
            <a:ext cx="387157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함수 프로토타입이 포함된 헤더 파일을 include 하지 않음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8223199" y="3161995"/>
            <a:ext cx="3000146" cy="800100"/>
          </a:xfrm>
          <a:prstGeom prst="roundRect">
            <a:avLst>
              <a:gd name="adj" fmla="val 816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8346643" y="3267151"/>
            <a:ext cx="7050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SOLUTION</a:t>
            </a:r>
            <a:endParaRPr lang="en-US" sz="900" dirty="0"/>
          </a:p>
        </p:txBody>
      </p:sp>
      <p:sp>
        <p:nvSpPr>
          <p:cNvPr id="40" name="Text 35"/>
          <p:cNvSpPr txBox="1"/>
          <p:nvPr/>
        </p:nvSpPr>
        <p:spPr>
          <a:xfrm>
            <a:off x="8346643" y="3476549"/>
            <a:ext cx="2862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8BDF8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#include &lt;sys/socket.h&gt;</a:t>
            </a:r>
            <a:endParaRPr lang="en-US" sz="900" dirty="0"/>
          </a:p>
        </p:txBody>
      </p:sp>
      <p:sp>
        <p:nvSpPr>
          <p:cNvPr id="41" name="Text 36"/>
          <p:cNvSpPr txBox="1"/>
          <p:nvPr/>
        </p:nvSpPr>
        <p:spPr>
          <a:xfrm>
            <a:off x="8346643" y="3700577"/>
            <a:ext cx="28629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AC_CHECK_FUNCS 매크로 확인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1914754" y="4386377"/>
            <a:ext cx="4067251" cy="2409444"/>
          </a:xfrm>
          <a:prstGeom prst="roundRect">
            <a:avLst>
              <a:gd name="adj" fmla="val 18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914754" y="4386377"/>
            <a:ext cx="4067251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2115007" y="4614977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210105" y="4710074"/>
            <a:ext cx="190195" cy="190195"/>
          </a:xfrm>
          <a:prstGeom prst="rect">
            <a:avLst/>
          </a:prstGeom>
        </p:spPr>
      </p:pic>
      <p:sp>
        <p:nvSpPr>
          <p:cNvPr id="46" name="Shape 40"/>
          <p:cNvSpPr/>
          <p:nvPr/>
        </p:nvSpPr>
        <p:spPr>
          <a:xfrm>
            <a:off x="4806086" y="4614977"/>
            <a:ext cx="981151" cy="228600"/>
          </a:xfrm>
          <a:prstGeom prst="roundRect">
            <a:avLst>
              <a:gd name="adj" fmla="val 66667"/>
            </a:avLst>
          </a:prstGeom>
          <a:solidFill>
            <a:srgbClr val="1E3A8A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4881982" y="4662526"/>
            <a:ext cx="90525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Redefinition</a:t>
            </a:r>
            <a:endParaRPr lang="en-US" sz="900" dirty="0"/>
          </a:p>
        </p:txBody>
      </p:sp>
      <p:sp>
        <p:nvSpPr>
          <p:cNvPr id="48" name="Text 42"/>
          <p:cNvSpPr txBox="1"/>
          <p:nvPr/>
        </p:nvSpPr>
        <p:spPr>
          <a:xfrm>
            <a:off x="2115007" y="5110582"/>
            <a:ext cx="3781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 정의 (Redefinition)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2115007" y="5443423"/>
            <a:ext cx="38578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헤더와 사용자 헤더 간의 충돌 또는 헤더 가드 누락</a:t>
            </a:r>
            <a:endParaRPr lang="en-US" sz="1000" dirty="0"/>
          </a:p>
        </p:txBody>
      </p:sp>
      <p:sp>
        <p:nvSpPr>
          <p:cNvPr id="50" name="Shape 44"/>
          <p:cNvSpPr/>
          <p:nvPr/>
        </p:nvSpPr>
        <p:spPr>
          <a:xfrm>
            <a:off x="2115007" y="5796382"/>
            <a:ext cx="3666744" cy="800100"/>
          </a:xfrm>
          <a:prstGeom prst="roundRect">
            <a:avLst>
              <a:gd name="adj" fmla="val 816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2238451" y="5900623"/>
            <a:ext cx="7050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SOLUTION</a:t>
            </a:r>
            <a:endParaRPr lang="en-US" sz="900" dirty="0"/>
          </a:p>
        </p:txBody>
      </p:sp>
      <p:sp>
        <p:nvSpPr>
          <p:cNvPr id="52" name="Text 46"/>
          <p:cNvSpPr txBox="1"/>
          <p:nvPr/>
        </p:nvSpPr>
        <p:spPr>
          <a:xfrm>
            <a:off x="2238451" y="6110021"/>
            <a:ext cx="35341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8BDF8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#ifndef _SOCKADDR_IN_DEFINED</a:t>
            </a:r>
            <a:endParaRPr lang="en-US" sz="900" dirty="0"/>
          </a:p>
        </p:txBody>
      </p:sp>
      <p:sp>
        <p:nvSpPr>
          <p:cNvPr id="53" name="Text 47"/>
          <p:cNvSpPr txBox="1"/>
          <p:nvPr/>
        </p:nvSpPr>
        <p:spPr>
          <a:xfrm>
            <a:off x="2238451" y="6334049"/>
            <a:ext cx="35341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헤더 가드(Include Guard) 적용</a:t>
            </a:r>
            <a:endParaRPr lang="en-US" sz="900" dirty="0"/>
          </a:p>
        </p:txBody>
      </p:sp>
      <p:sp>
        <p:nvSpPr>
          <p:cNvPr id="54" name="Shape 48"/>
          <p:cNvSpPr/>
          <p:nvPr/>
        </p:nvSpPr>
        <p:spPr>
          <a:xfrm>
            <a:off x="6210605" y="4386377"/>
            <a:ext cx="4067251" cy="2409444"/>
          </a:xfrm>
          <a:prstGeom prst="roundRect">
            <a:avLst>
              <a:gd name="adj" fmla="val 18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6210605" y="4386377"/>
            <a:ext cx="4067251" cy="38405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6409944" y="4614977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A855F7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29730" y="4710074"/>
            <a:ext cx="142646" cy="190195"/>
          </a:xfrm>
          <a:prstGeom prst="rect">
            <a:avLst/>
          </a:prstGeom>
        </p:spPr>
      </p:pic>
      <p:sp>
        <p:nvSpPr>
          <p:cNvPr id="58" name="Shape 51"/>
          <p:cNvSpPr/>
          <p:nvPr/>
        </p:nvSpPr>
        <p:spPr>
          <a:xfrm>
            <a:off x="9170518" y="4614977"/>
            <a:ext cx="914400" cy="228600"/>
          </a:xfrm>
          <a:prstGeom prst="roundRect">
            <a:avLst>
              <a:gd name="adj" fmla="val 66667"/>
            </a:avLst>
          </a:prstGeom>
          <a:solidFill>
            <a:srgbClr val="4C1D95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2"/>
          <p:cNvSpPr txBox="1"/>
          <p:nvPr/>
        </p:nvSpPr>
        <p:spPr>
          <a:xfrm>
            <a:off x="9246413" y="4662526"/>
            <a:ext cx="8385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Build Error</a:t>
            </a:r>
            <a:endParaRPr lang="en-US" sz="900" dirty="0"/>
          </a:p>
        </p:txBody>
      </p:sp>
      <p:sp>
        <p:nvSpPr>
          <p:cNvPr id="60" name="Text 53"/>
          <p:cNvSpPr txBox="1"/>
          <p:nvPr/>
        </p:nvSpPr>
        <p:spPr>
          <a:xfrm>
            <a:off x="6409944" y="5110582"/>
            <a:ext cx="3781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Makefile 변수 미정의</a:t>
            </a:r>
            <a:endParaRPr lang="en-US" sz="1300" dirty="0"/>
          </a:p>
        </p:txBody>
      </p:sp>
      <p:sp>
        <p:nvSpPr>
          <p:cNvPr id="61" name="Text 54"/>
          <p:cNvSpPr txBox="1"/>
          <p:nvPr/>
        </p:nvSpPr>
        <p:spPr>
          <a:xfrm>
            <a:off x="6409944" y="5443423"/>
            <a:ext cx="40197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configure 미실행으로 인해 @CC@ 등의 변수가 치환되지 않음</a:t>
            </a:r>
            <a:endParaRPr lang="en-US" sz="1000" dirty="0"/>
          </a:p>
        </p:txBody>
      </p:sp>
      <p:sp>
        <p:nvSpPr>
          <p:cNvPr id="62" name="Shape 55"/>
          <p:cNvSpPr/>
          <p:nvPr/>
        </p:nvSpPr>
        <p:spPr>
          <a:xfrm>
            <a:off x="6409944" y="5796382"/>
            <a:ext cx="3666744" cy="800100"/>
          </a:xfrm>
          <a:prstGeom prst="roundRect">
            <a:avLst>
              <a:gd name="adj" fmla="val 816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3" name="Text 56"/>
          <p:cNvSpPr txBox="1"/>
          <p:nvPr/>
        </p:nvSpPr>
        <p:spPr>
          <a:xfrm>
            <a:off x="6534302" y="5900623"/>
            <a:ext cx="7050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SOLUTION</a:t>
            </a:r>
            <a:endParaRPr lang="en-US" sz="900" dirty="0"/>
          </a:p>
        </p:txBody>
      </p:sp>
      <p:sp>
        <p:nvSpPr>
          <p:cNvPr id="64" name="Text 57"/>
          <p:cNvSpPr txBox="1"/>
          <p:nvPr/>
        </p:nvSpPr>
        <p:spPr>
          <a:xfrm>
            <a:off x="6534302" y="6110021"/>
            <a:ext cx="35341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8BDF8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$ ./configure &amp;&amp; make</a:t>
            </a:r>
            <a:endParaRPr lang="en-US" sz="900" dirty="0"/>
          </a:p>
        </p:txBody>
      </p:sp>
      <p:sp>
        <p:nvSpPr>
          <p:cNvPr id="65" name="Text 58"/>
          <p:cNvSpPr txBox="1"/>
          <p:nvPr/>
        </p:nvSpPr>
        <p:spPr>
          <a:xfrm>
            <a:off x="6534302" y="6334049"/>
            <a:ext cx="35341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config.status 재생성 필요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" y="390449"/>
            <a:ext cx="75895" cy="761695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0354" y="485546"/>
            <a:ext cx="106116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헤더 파일 없음 (Header Not Found)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1000354" y="942746"/>
            <a:ext cx="106116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및 시스템 필수 헤더 누락 시 증상과 해결 방안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1754" y="1533448"/>
            <a:ext cx="4041647" cy="3116275"/>
          </a:xfrm>
          <a:prstGeom prst="roundRect">
            <a:avLst>
              <a:gd name="adj" fmla="val 127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241300" dist="1016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0898" y="1543507"/>
            <a:ext cx="4021278" cy="42885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780898" y="1963217"/>
            <a:ext cx="3791102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3602" y="1691640"/>
            <a:ext cx="114300" cy="1143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4595" y="1691640"/>
            <a:ext cx="114300" cy="1143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76502" y="1691640"/>
            <a:ext cx="114300" cy="1143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43507" y="1657807"/>
            <a:ext cx="8622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build_log.txt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72007" y="2154326"/>
            <a:ext cx="3525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$ make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72007" y="2450592"/>
            <a:ext cx="3525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gcc -g -O2 -c svrsrc/lanapi.c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72007" y="2707538"/>
            <a:ext cx="403616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7171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svrsrc/lanapi.c:12:10: fatal error: sys/socket.h: No such file or directory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72007" y="3184855"/>
            <a:ext cx="3525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12 | #include &lt;sys/socket.h&gt;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72007" y="3557016"/>
            <a:ext cx="403616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7171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svrsrc/util.c:5:10: fatal error: netinet/in.h: No such file or directory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72007" y="4034333"/>
            <a:ext cx="3525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compilation terminated.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972007" y="4406494"/>
            <a:ext cx="3525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make: *** [all] Error 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1754" y="4986660"/>
            <a:ext cx="3810305" cy="1742846"/>
          </a:xfrm>
          <a:prstGeom prst="roundRect">
            <a:avLst>
              <a:gd name="adj" fmla="val 3440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257300" y="5224404"/>
            <a:ext cx="32772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 분석</a:t>
            </a:r>
            <a:endParaRPr lang="en-US" sz="13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9498" y="5283840"/>
            <a:ext cx="171907" cy="171907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009498" y="5605709"/>
            <a:ext cx="3410712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 설치된 OS 환경에서 네트워크 개발 관련 헤더 파일(</a:t>
            </a:r>
            <a:r>
              <a:rPr lang="en-US" sz="10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glibc-headers</a:t>
            </a: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등)이 포함되지 않아 발생합니다. 빌드를 위해서는 표준 라이브러리의 개발용 패키지 설치가 필요합니다.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962449" y="1533449"/>
            <a:ext cx="6458407" cy="3610051"/>
          </a:xfrm>
          <a:prstGeom prst="roundRect">
            <a:avLst>
              <a:gd name="adj" fmla="val 80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515661" y="1772107"/>
            <a:ext cx="58576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OS별 해결책 (패키지 설치)</a:t>
            </a:r>
            <a:endParaRPr lang="en-US" sz="150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01107" y="1814170"/>
            <a:ext cx="237744" cy="190195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5201107" y="2076602"/>
            <a:ext cx="61722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운영체제에 맞는 패키지 관리자를 사용하여 필수 개발 도구를 설치합니다.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5201107" y="2572207"/>
            <a:ext cx="1895551" cy="2333549"/>
          </a:xfrm>
          <a:prstGeom prst="roundRect">
            <a:avLst>
              <a:gd name="adj" fmla="val 193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362956" y="2734056"/>
            <a:ext cx="1295705" cy="267005"/>
          </a:xfrm>
          <a:prstGeom prst="roundRect">
            <a:avLst>
              <a:gd name="adj" fmla="val 48924"/>
            </a:avLst>
          </a:prstGeom>
          <a:solidFill>
            <a:srgbClr val="E95420">
              <a:alpha val="10000"/>
            </a:srgbClr>
          </a:solidFill>
          <a:ln w="12700">
            <a:solidFill>
              <a:srgbClr val="E95420">
                <a:alpha val="20000"/>
              </a:srgbClr>
            </a:solidFill>
            <a:prstDash val="solid"/>
          </a:ln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rcRect t="-6250" b="-6250"/>
          <a:stretch/>
        </p:blipFill>
        <p:spPr>
          <a:xfrm>
            <a:off x="5447995" y="2809951"/>
            <a:ext cx="114300" cy="114300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5639105" y="2734056"/>
            <a:ext cx="110093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954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Debian / Ubuntu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5362956" y="3114446"/>
            <a:ext cx="1571854" cy="1628546"/>
          </a:xfrm>
          <a:prstGeom prst="roundRect">
            <a:avLst>
              <a:gd name="adj" fmla="val 2115"/>
            </a:avLst>
          </a:prstGeom>
          <a:solidFill>
            <a:srgbClr val="000000">
              <a:alpha val="30000"/>
            </a:srgbClr>
          </a:solidFill>
          <a:ln/>
        </p:spPr>
      </p:sp>
      <p:sp>
        <p:nvSpPr>
          <p:cNvPr id="34" name="Shape 29"/>
          <p:cNvSpPr/>
          <p:nvPr/>
        </p:nvSpPr>
        <p:spPr>
          <a:xfrm>
            <a:off x="5362956" y="3114446"/>
            <a:ext cx="28346" cy="162854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5486400" y="3209544"/>
            <a:ext cx="14612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필수 빌드 도구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5486400" y="3404311"/>
            <a:ext cx="1429207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$ sudo apt-get install</a:t>
            </a:r>
            <a:r>
              <a:rPr lang="en-US" sz="1000" dirty="0">
                <a:solidFill>
                  <a:srgbClr val="38BDF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build-essential</a:t>
            </a:r>
            <a:endParaRPr lang="en-US" sz="1000" dirty="0"/>
          </a:p>
        </p:txBody>
      </p:sp>
      <p:sp>
        <p:nvSpPr>
          <p:cNvPr id="37" name="Text 32"/>
          <p:cNvSpPr txBox="1"/>
          <p:nvPr/>
        </p:nvSpPr>
        <p:spPr>
          <a:xfrm>
            <a:off x="5486400" y="4063594"/>
            <a:ext cx="14612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C 라이브러리 헤더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5486400" y="4258361"/>
            <a:ext cx="161025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$ sudo apt-get install</a:t>
            </a:r>
            <a:r>
              <a:rPr lang="en-US" sz="1000" dirty="0">
                <a:solidFill>
                  <a:srgbClr val="38BDF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libc6-dev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7245706" y="2572207"/>
            <a:ext cx="1895551" cy="2333549"/>
          </a:xfrm>
          <a:prstGeom prst="roundRect">
            <a:avLst>
              <a:gd name="adj" fmla="val 193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7407554" y="2734056"/>
            <a:ext cx="1200607" cy="267005"/>
          </a:xfrm>
          <a:prstGeom prst="roundRect">
            <a:avLst>
              <a:gd name="adj" fmla="val 48924"/>
            </a:avLst>
          </a:prstGeom>
          <a:solidFill>
            <a:srgbClr val="262577">
              <a:alpha val="20000"/>
            </a:srgbClr>
          </a:solidFill>
          <a:ln w="12700">
            <a:solidFill>
              <a:srgbClr val="9333EA">
                <a:alpha val="20000"/>
              </a:srgbClr>
            </a:solidFill>
            <a:prstDash val="solid"/>
          </a:ln>
        </p:spPr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492594" y="2809951"/>
            <a:ext cx="114300" cy="114300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7683703" y="2734056"/>
            <a:ext cx="95554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33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RHEL / CentOS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7407554" y="3114446"/>
            <a:ext cx="1571854" cy="1438351"/>
          </a:xfrm>
          <a:prstGeom prst="roundRect">
            <a:avLst>
              <a:gd name="adj" fmla="val 2526"/>
            </a:avLst>
          </a:prstGeom>
          <a:solidFill>
            <a:srgbClr val="000000">
              <a:alpha val="30000"/>
            </a:srgbClr>
          </a:solidFill>
          <a:ln/>
        </p:spPr>
      </p:sp>
      <p:sp>
        <p:nvSpPr>
          <p:cNvPr id="44" name="Shape 38"/>
          <p:cNvSpPr/>
          <p:nvPr/>
        </p:nvSpPr>
        <p:spPr>
          <a:xfrm>
            <a:off x="7407554" y="3114446"/>
            <a:ext cx="28346" cy="1438351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7530998" y="3209544"/>
            <a:ext cx="14292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컴파일러 및 Make</a:t>
            </a:r>
            <a:endParaRPr lang="en-US" sz="1000" dirty="0"/>
          </a:p>
        </p:txBody>
      </p:sp>
      <p:sp>
        <p:nvSpPr>
          <p:cNvPr id="46" name="Text 40"/>
          <p:cNvSpPr txBox="1"/>
          <p:nvPr/>
        </p:nvSpPr>
        <p:spPr>
          <a:xfrm>
            <a:off x="7530998" y="3404311"/>
            <a:ext cx="161025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$ sudo yum install</a:t>
            </a:r>
            <a:r>
              <a:rPr lang="en-US" sz="1000" dirty="0">
                <a:solidFill>
                  <a:srgbClr val="38BDF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gcc make</a:t>
            </a:r>
            <a:endParaRPr lang="en-US" sz="1000" dirty="0"/>
          </a:p>
        </p:txBody>
      </p:sp>
      <p:sp>
        <p:nvSpPr>
          <p:cNvPr id="47" name="Text 41"/>
          <p:cNvSpPr txBox="1"/>
          <p:nvPr/>
        </p:nvSpPr>
        <p:spPr>
          <a:xfrm>
            <a:off x="7530998" y="3868826"/>
            <a:ext cx="14292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Glibc 개발 헤더</a:t>
            </a:r>
            <a:endParaRPr lang="en-US" sz="1000" dirty="0"/>
          </a:p>
        </p:txBody>
      </p:sp>
      <p:sp>
        <p:nvSpPr>
          <p:cNvPr id="48" name="Text 42"/>
          <p:cNvSpPr txBox="1"/>
          <p:nvPr/>
        </p:nvSpPr>
        <p:spPr>
          <a:xfrm>
            <a:off x="7530998" y="4063594"/>
            <a:ext cx="161025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$ sudo yum install</a:t>
            </a:r>
            <a:r>
              <a:rPr lang="en-US" sz="1000" dirty="0">
                <a:solidFill>
                  <a:srgbClr val="38BDF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glibc-devel</a:t>
            </a:r>
            <a:endParaRPr lang="en-US" sz="1000" dirty="0"/>
          </a:p>
        </p:txBody>
      </p:sp>
      <p:sp>
        <p:nvSpPr>
          <p:cNvPr id="49" name="Shape 43"/>
          <p:cNvSpPr/>
          <p:nvPr/>
        </p:nvSpPr>
        <p:spPr>
          <a:xfrm>
            <a:off x="9290304" y="2572207"/>
            <a:ext cx="1895551" cy="2333549"/>
          </a:xfrm>
          <a:prstGeom prst="roundRect">
            <a:avLst>
              <a:gd name="adj" fmla="val 193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9452153" y="2734056"/>
            <a:ext cx="1248156" cy="267005"/>
          </a:xfrm>
          <a:prstGeom prst="roundRect">
            <a:avLst>
              <a:gd name="adj" fmla="val 48924"/>
            </a:avLst>
          </a:prstGeom>
          <a:solidFill>
            <a:srgbClr val="EAB308">
              <a:alpha val="10000"/>
            </a:srgbClr>
          </a:solidFill>
          <a:ln w="12700">
            <a:solidFill>
              <a:srgbClr val="EAB308">
                <a:alpha val="20000"/>
              </a:srgbClr>
            </a:solidFill>
            <a:prstDash val="solid"/>
          </a:ln>
        </p:spPr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538106" y="2809951"/>
            <a:ext cx="114300" cy="114300"/>
          </a:xfrm>
          <a:prstGeom prst="rect">
            <a:avLst/>
          </a:prstGeom>
        </p:spPr>
      </p:pic>
      <p:sp>
        <p:nvSpPr>
          <p:cNvPr id="52" name="Text 45"/>
          <p:cNvSpPr txBox="1"/>
          <p:nvPr/>
        </p:nvSpPr>
        <p:spPr>
          <a:xfrm>
            <a:off x="9728302" y="2734056"/>
            <a:ext cx="105430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AB3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Solaris (SunOS)</a:t>
            </a:r>
            <a:endParaRPr lang="en-US" sz="900" dirty="0"/>
          </a:p>
        </p:txBody>
      </p:sp>
      <p:sp>
        <p:nvSpPr>
          <p:cNvPr id="53" name="Shape 46"/>
          <p:cNvSpPr/>
          <p:nvPr/>
        </p:nvSpPr>
        <p:spPr>
          <a:xfrm>
            <a:off x="9452153" y="3114446"/>
            <a:ext cx="1571854" cy="1438351"/>
          </a:xfrm>
          <a:prstGeom prst="roundRect">
            <a:avLst>
              <a:gd name="adj" fmla="val 2526"/>
            </a:avLst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4" name="Shape 47"/>
          <p:cNvSpPr/>
          <p:nvPr/>
        </p:nvSpPr>
        <p:spPr>
          <a:xfrm>
            <a:off x="9452153" y="3114446"/>
            <a:ext cx="28346" cy="1438351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55" name="Text 48"/>
          <p:cNvSpPr txBox="1"/>
          <p:nvPr/>
        </p:nvSpPr>
        <p:spPr>
          <a:xfrm>
            <a:off x="9575597" y="3209544"/>
            <a:ext cx="14612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헤더 패키지 확인</a:t>
            </a:r>
            <a:endParaRPr lang="en-US" sz="1000" dirty="0"/>
          </a:p>
        </p:txBody>
      </p:sp>
      <p:sp>
        <p:nvSpPr>
          <p:cNvPr id="56" name="Text 49"/>
          <p:cNvSpPr txBox="1"/>
          <p:nvPr/>
        </p:nvSpPr>
        <p:spPr>
          <a:xfrm>
            <a:off x="9575597" y="3404311"/>
            <a:ext cx="161025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$ pkginfo | grep</a:t>
            </a:r>
            <a:r>
              <a:rPr lang="en-US" sz="1000" dirty="0">
                <a:solidFill>
                  <a:srgbClr val="38BDF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SUNWhea</a:t>
            </a:r>
            <a:endParaRPr lang="en-US" sz="1000" dirty="0"/>
          </a:p>
        </p:txBody>
      </p:sp>
      <p:sp>
        <p:nvSpPr>
          <p:cNvPr id="57" name="Text 50"/>
          <p:cNvSpPr txBox="1"/>
          <p:nvPr/>
        </p:nvSpPr>
        <p:spPr>
          <a:xfrm>
            <a:off x="9575597" y="3868826"/>
            <a:ext cx="14612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미설치 시 추가</a:t>
            </a:r>
            <a:endParaRPr lang="en-US" sz="1000" dirty="0"/>
          </a:p>
        </p:txBody>
      </p:sp>
      <p:sp>
        <p:nvSpPr>
          <p:cNvPr id="58" name="Text 51"/>
          <p:cNvSpPr txBox="1"/>
          <p:nvPr/>
        </p:nvSpPr>
        <p:spPr>
          <a:xfrm>
            <a:off x="9575597" y="4063594"/>
            <a:ext cx="161025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$ pkgadd -d cdrom</a:t>
            </a:r>
            <a:r>
              <a:rPr lang="en-US" sz="1000" dirty="0">
                <a:solidFill>
                  <a:srgbClr val="38BDF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SUNWhea</a:t>
            </a:r>
            <a:endParaRPr lang="en-US" sz="1000" dirty="0"/>
          </a:p>
        </p:txBody>
      </p:sp>
      <p:sp>
        <p:nvSpPr>
          <p:cNvPr id="59" name="Shape 52"/>
          <p:cNvSpPr/>
          <p:nvPr/>
        </p:nvSpPr>
        <p:spPr>
          <a:xfrm>
            <a:off x="4962449" y="5370271"/>
            <a:ext cx="6458407" cy="2381098"/>
          </a:xfrm>
          <a:prstGeom prst="roundRect">
            <a:avLst>
              <a:gd name="adj" fmla="val 18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4972507" y="5380330"/>
            <a:ext cx="6439205" cy="42885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1" name="Shape 54"/>
          <p:cNvSpPr/>
          <p:nvPr/>
        </p:nvSpPr>
        <p:spPr>
          <a:xfrm>
            <a:off x="4972507" y="5800039"/>
            <a:ext cx="643920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pic>
        <p:nvPicPr>
          <p:cNvPr id="62" name="Image 5" descr="preencoded.png"/>
          <p:cNvPicPr>
            <a:picLocks noChangeAspect="1"/>
          </p:cNvPicPr>
          <p:nvPr/>
        </p:nvPicPr>
        <p:blipFill>
          <a:blip r:embed="rId8"/>
          <a:srcRect l="-2512" r="-2512"/>
          <a:stretch/>
        </p:blipFill>
        <p:spPr>
          <a:xfrm>
            <a:off x="5124298" y="5530291"/>
            <a:ext cx="105156" cy="133502"/>
          </a:xfrm>
          <a:prstGeom prst="rect">
            <a:avLst/>
          </a:prstGeom>
        </p:spPr>
      </p:pic>
      <p:sp>
        <p:nvSpPr>
          <p:cNvPr id="63" name="Text 55"/>
          <p:cNvSpPr txBox="1"/>
          <p:nvPr/>
        </p:nvSpPr>
        <p:spPr>
          <a:xfrm>
            <a:off x="5305349" y="5494630"/>
            <a:ext cx="19156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configure.ac (영구적 해결)</a:t>
            </a:r>
            <a:endParaRPr lang="en-US" sz="1000" dirty="0"/>
          </a:p>
        </p:txBody>
      </p:sp>
      <p:sp>
        <p:nvSpPr>
          <p:cNvPr id="64" name="Text 56"/>
          <p:cNvSpPr txBox="1"/>
          <p:nvPr/>
        </p:nvSpPr>
        <p:spPr>
          <a:xfrm>
            <a:off x="5201107" y="6037783"/>
            <a:ext cx="7055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시작 전 필수 헤더 존재 여부를 미리 검사하고, 없을 경우 명확한 에러 메시지를 출력하도록 수정합니다.</a:t>
            </a:r>
            <a:endParaRPr lang="en-US" sz="1000" dirty="0"/>
          </a:p>
        </p:txBody>
      </p:sp>
      <p:sp>
        <p:nvSpPr>
          <p:cNvPr id="65" name="Shape 57"/>
          <p:cNvSpPr/>
          <p:nvPr/>
        </p:nvSpPr>
        <p:spPr>
          <a:xfrm>
            <a:off x="5201107" y="6342278"/>
            <a:ext cx="5982005" cy="1171346"/>
          </a:xfrm>
          <a:prstGeom prst="roundRect">
            <a:avLst>
              <a:gd name="adj" fmla="val 3808"/>
            </a:avLst>
          </a:prstGeom>
          <a:solidFill>
            <a:srgbClr val="000000">
              <a:alpha val="30000"/>
            </a:srgbClr>
          </a:solidFill>
          <a:ln/>
        </p:spPr>
      </p:sp>
      <p:sp>
        <p:nvSpPr>
          <p:cNvPr id="66" name="Shape 58"/>
          <p:cNvSpPr/>
          <p:nvPr/>
        </p:nvSpPr>
        <p:spPr>
          <a:xfrm>
            <a:off x="5201107" y="6342278"/>
            <a:ext cx="28346" cy="117134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67" name="Text 59"/>
          <p:cNvSpPr txBox="1"/>
          <p:nvPr/>
        </p:nvSpPr>
        <p:spPr>
          <a:xfrm>
            <a:off x="5324551" y="6437376"/>
            <a:ext cx="5877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8BF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AC_CHECK_HEADERS([</a:t>
            </a:r>
            <a:endParaRPr lang="en-US" sz="1000" dirty="0"/>
          </a:p>
        </p:txBody>
      </p:sp>
      <p:sp>
        <p:nvSpPr>
          <p:cNvPr id="68" name="Text 60"/>
          <p:cNvSpPr txBox="1"/>
          <p:nvPr/>
        </p:nvSpPr>
        <p:spPr>
          <a:xfrm>
            <a:off x="5324551" y="6632143"/>
            <a:ext cx="5877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sys/socket.h netinet/in.h netdb.h arpa/inet.h</a:t>
            </a:r>
            <a:endParaRPr lang="en-US" sz="1000" dirty="0"/>
          </a:p>
        </p:txBody>
      </p:sp>
      <p:sp>
        <p:nvSpPr>
          <p:cNvPr id="69" name="Text 61"/>
          <p:cNvSpPr txBox="1"/>
          <p:nvPr/>
        </p:nvSpPr>
        <p:spPr>
          <a:xfrm>
            <a:off x="5324551" y="6825996"/>
            <a:ext cx="5877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], [], [</a:t>
            </a:r>
            <a:endParaRPr lang="en-US" sz="1000" dirty="0"/>
          </a:p>
        </p:txBody>
      </p:sp>
      <p:sp>
        <p:nvSpPr>
          <p:cNvPr id="70" name="Text 62"/>
          <p:cNvSpPr txBox="1"/>
          <p:nvPr/>
        </p:nvSpPr>
        <p:spPr>
          <a:xfrm>
            <a:off x="5324551" y="7020763"/>
            <a:ext cx="605058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8BF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AC_MSG_ERROR([</a:t>
            </a:r>
            <a:r>
              <a:rPr lang="en-US" sz="1000" dirty="0">
                <a:solidFill>
                  <a:srgbClr val="FCD34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Required network headers not found. Please install libc-dev.</a:t>
            </a:r>
            <a:r>
              <a:rPr lang="en-US" sz="1000" dirty="0">
                <a:solidFill>
                  <a:srgbClr val="A78BF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])</a:t>
            </a:r>
            <a:endParaRPr lang="en-US" sz="1000" dirty="0"/>
          </a:p>
        </p:txBody>
      </p:sp>
      <p:sp>
        <p:nvSpPr>
          <p:cNvPr id="71" name="Text 63"/>
          <p:cNvSpPr txBox="1"/>
          <p:nvPr/>
        </p:nvSpPr>
        <p:spPr>
          <a:xfrm>
            <a:off x="5324551" y="7214616"/>
            <a:ext cx="5877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])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" y="390449"/>
            <a:ext cx="75895" cy="761695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0354" y="485546"/>
            <a:ext cx="106116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타입 정의 누락 (Type Not Defined)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1000354" y="942746"/>
            <a:ext cx="106116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구형 OS 호환성을 위한 타입 재정의 및 해결 전략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1754" y="1628546"/>
            <a:ext cx="5086807" cy="1495044"/>
          </a:xfrm>
          <a:prstGeom prst="roundRect">
            <a:avLst>
              <a:gd name="adj" fmla="val 467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0898" y="1638605"/>
            <a:ext cx="5067605" cy="33375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780898" y="1963217"/>
            <a:ext cx="506760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1911" r="-1911"/>
          <a:stretch/>
        </p:blipFill>
        <p:spPr>
          <a:xfrm>
            <a:off x="933602" y="1742846"/>
            <a:ext cx="133502" cy="1143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43000" y="1714500"/>
            <a:ext cx="119054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Compile Error Log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581498" y="1742846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33602" y="2152498"/>
            <a:ext cx="4672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$ make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322222" y="2152498"/>
            <a:ext cx="170078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gcc -c svrsrc/lanapi.c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33602" y="2152498"/>
            <a:ext cx="47155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svrsrc/lanapi.c:45:12: error: unknown type name 'socklen_t'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969618" y="2360066"/>
            <a:ext cx="3429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45 |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2228393" y="2360066"/>
            <a:ext cx="70043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socklen_t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810866" y="2360066"/>
            <a:ext cx="77083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addrlen; |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3458261" y="2360066"/>
            <a:ext cx="70043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^~~~~~~~~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33602" y="2360066"/>
            <a:ext cx="45820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svrsrc/util.c:102:5: error: unknown type name 'uint64_t'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3199486" y="2567635"/>
            <a:ext cx="4005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102 |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3523183" y="2567635"/>
            <a:ext cx="62270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uint64_t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4040734" y="2567635"/>
            <a:ext cx="92994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file_size; |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817974" y="2567635"/>
            <a:ext cx="62270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^~~~~~~~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933602" y="2567635"/>
            <a:ext cx="49057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make: *** [all] Error 1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71754" y="3305556"/>
            <a:ext cx="5086807" cy="1495044"/>
          </a:xfrm>
          <a:prstGeom prst="roundRect">
            <a:avLst>
              <a:gd name="adj" fmla="val 467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80898" y="3315614"/>
            <a:ext cx="5067605" cy="33375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Shape 25"/>
          <p:cNvSpPr/>
          <p:nvPr/>
        </p:nvSpPr>
        <p:spPr>
          <a:xfrm>
            <a:off x="780898" y="3640226"/>
            <a:ext cx="506760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933602" y="3419856"/>
            <a:ext cx="85954" cy="11430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1095451" y="3391510"/>
            <a:ext cx="119054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configure.ac (권장)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933602" y="3829507"/>
            <a:ext cx="26581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시스템 타입 체크 및 대체 매크로 설정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3393338" y="3829507"/>
            <a:ext cx="123626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472B6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PSG_REPLACE_TYPE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4429354" y="3829507"/>
            <a:ext cx="2103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([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4559198" y="3829507"/>
            <a:ext cx="70043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socklen_t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933602" y="3829507"/>
            <a:ext cx="45244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], [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998525" y="4037076"/>
            <a:ext cx="100949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unsigned long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933602" y="4037076"/>
            <a:ext cx="11814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], [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998525" y="4244645"/>
            <a:ext cx="62270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84F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#include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1516075" y="4244645"/>
            <a:ext cx="100949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&lt;sys/types.h&gt;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2357323" y="4244645"/>
            <a:ext cx="62270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84F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#include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2875788" y="4244645"/>
            <a:ext cx="123626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&lt;sys/socket.h&gt;])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3911803" y="4244645"/>
            <a:ext cx="123626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472B6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PSG_REPLACE_TYPE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4946904" y="4244645"/>
            <a:ext cx="2103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([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5076749" y="4244645"/>
            <a:ext cx="62270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uint64_t</a:t>
            </a:r>
            <a:endParaRPr lang="en-US" sz="1000" dirty="0"/>
          </a:p>
        </p:txBody>
      </p:sp>
      <p:sp>
        <p:nvSpPr>
          <p:cNvPr id="45" name="Text 41"/>
          <p:cNvSpPr txBox="1"/>
          <p:nvPr/>
        </p:nvSpPr>
        <p:spPr>
          <a:xfrm>
            <a:off x="933602" y="4244645"/>
            <a:ext cx="49725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], [</a:t>
            </a:r>
            <a:endParaRPr lang="en-US" sz="1000" dirty="0"/>
          </a:p>
        </p:txBody>
      </p:sp>
      <p:sp>
        <p:nvSpPr>
          <p:cNvPr id="46" name="Text 42"/>
          <p:cNvSpPr txBox="1"/>
          <p:nvPr/>
        </p:nvSpPr>
        <p:spPr>
          <a:xfrm>
            <a:off x="998525" y="4451299"/>
            <a:ext cx="70043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long long</a:t>
            </a:r>
            <a:endParaRPr lang="en-US" sz="1000" dirty="0"/>
          </a:p>
        </p:txBody>
      </p:sp>
      <p:sp>
        <p:nvSpPr>
          <p:cNvPr id="47" name="Text 43"/>
          <p:cNvSpPr txBox="1"/>
          <p:nvPr/>
        </p:nvSpPr>
        <p:spPr>
          <a:xfrm>
            <a:off x="1580998" y="4451299"/>
            <a:ext cx="2103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])</a:t>
            </a:r>
            <a:endParaRPr lang="en-US" sz="1000" dirty="0"/>
          </a:p>
        </p:txBody>
      </p:sp>
      <p:sp>
        <p:nvSpPr>
          <p:cNvPr id="48" name="Text 44"/>
          <p:cNvSpPr txBox="1"/>
          <p:nvPr/>
        </p:nvSpPr>
        <p:spPr>
          <a:xfrm>
            <a:off x="1709928" y="4451299"/>
            <a:ext cx="123626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472B6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PSG_REPLACE_TYPE</a:t>
            </a:r>
            <a:endParaRPr lang="en-US" sz="1000" dirty="0"/>
          </a:p>
        </p:txBody>
      </p:sp>
      <p:sp>
        <p:nvSpPr>
          <p:cNvPr id="49" name="Text 45"/>
          <p:cNvSpPr txBox="1"/>
          <p:nvPr/>
        </p:nvSpPr>
        <p:spPr>
          <a:xfrm>
            <a:off x="2745943" y="4451299"/>
            <a:ext cx="2103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([</a:t>
            </a:r>
            <a:endParaRPr lang="en-US" sz="1000" dirty="0"/>
          </a:p>
        </p:txBody>
      </p:sp>
      <p:sp>
        <p:nvSpPr>
          <p:cNvPr id="50" name="Text 46"/>
          <p:cNvSpPr txBox="1"/>
          <p:nvPr/>
        </p:nvSpPr>
        <p:spPr>
          <a:xfrm>
            <a:off x="2875788" y="4451299"/>
            <a:ext cx="4005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dev_t</a:t>
            </a:r>
            <a:endParaRPr lang="en-US" sz="1000" dirty="0"/>
          </a:p>
        </p:txBody>
      </p:sp>
      <p:sp>
        <p:nvSpPr>
          <p:cNvPr id="51" name="Text 47"/>
          <p:cNvSpPr txBox="1"/>
          <p:nvPr/>
        </p:nvSpPr>
        <p:spPr>
          <a:xfrm>
            <a:off x="3199486" y="4451299"/>
            <a:ext cx="3429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], [</a:t>
            </a:r>
            <a:endParaRPr lang="en-US" sz="1000" dirty="0"/>
          </a:p>
        </p:txBody>
      </p:sp>
      <p:sp>
        <p:nvSpPr>
          <p:cNvPr id="52" name="Text 48"/>
          <p:cNvSpPr txBox="1"/>
          <p:nvPr/>
        </p:nvSpPr>
        <p:spPr>
          <a:xfrm>
            <a:off x="3458261" y="4451299"/>
            <a:ext cx="100949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unsigned long</a:t>
            </a:r>
            <a:endParaRPr lang="en-US" sz="1000" dirty="0"/>
          </a:p>
        </p:txBody>
      </p:sp>
      <p:sp>
        <p:nvSpPr>
          <p:cNvPr id="53" name="Text 49"/>
          <p:cNvSpPr txBox="1"/>
          <p:nvPr/>
        </p:nvSpPr>
        <p:spPr>
          <a:xfrm>
            <a:off x="4299509" y="4451299"/>
            <a:ext cx="2103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])</a:t>
            </a:r>
            <a:endParaRPr lang="en-US" sz="1000" dirty="0"/>
          </a:p>
        </p:txBody>
      </p:sp>
      <p:sp>
        <p:nvSpPr>
          <p:cNvPr id="54" name="Shape 50"/>
          <p:cNvSpPr/>
          <p:nvPr/>
        </p:nvSpPr>
        <p:spPr>
          <a:xfrm>
            <a:off x="771754" y="4982566"/>
            <a:ext cx="5086807" cy="1495044"/>
          </a:xfrm>
          <a:prstGeom prst="roundRect">
            <a:avLst>
              <a:gd name="adj" fmla="val 467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5" name="Shape 51"/>
          <p:cNvSpPr/>
          <p:nvPr/>
        </p:nvSpPr>
        <p:spPr>
          <a:xfrm>
            <a:off x="780898" y="4992624"/>
            <a:ext cx="5067605" cy="33375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6" name="Shape 52"/>
          <p:cNvSpPr/>
          <p:nvPr/>
        </p:nvSpPr>
        <p:spPr>
          <a:xfrm>
            <a:off x="780898" y="5317236"/>
            <a:ext cx="506760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pic>
        <p:nvPicPr>
          <p:cNvPr id="57" name="Image 2" descr="preencoded.png"/>
          <p:cNvPicPr>
            <a:picLocks noChangeAspect="1"/>
          </p:cNvPicPr>
          <p:nvPr/>
        </p:nvPicPr>
        <p:blipFill>
          <a:blip r:embed="rId5"/>
          <a:srcRect l="-1911" r="-1911"/>
          <a:stretch/>
        </p:blipFill>
        <p:spPr>
          <a:xfrm>
            <a:off x="933602" y="5096866"/>
            <a:ext cx="133502" cy="114300"/>
          </a:xfrm>
          <a:prstGeom prst="rect">
            <a:avLst/>
          </a:prstGeom>
        </p:spPr>
      </p:pic>
      <p:sp>
        <p:nvSpPr>
          <p:cNvPr id="58" name="Text 53"/>
          <p:cNvSpPr txBox="1"/>
          <p:nvPr/>
        </p:nvSpPr>
        <p:spPr>
          <a:xfrm>
            <a:off x="1143000" y="5068519"/>
            <a:ext cx="13496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svrsrc/lanapi.c (임시)</a:t>
            </a:r>
            <a:endParaRPr lang="en-US" sz="900" dirty="0"/>
          </a:p>
        </p:txBody>
      </p:sp>
      <p:sp>
        <p:nvSpPr>
          <p:cNvPr id="59" name="Text 54"/>
          <p:cNvSpPr txBox="1"/>
          <p:nvPr/>
        </p:nvSpPr>
        <p:spPr>
          <a:xfrm>
            <a:off x="933602" y="5506517"/>
            <a:ext cx="62270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84F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#include</a:t>
            </a:r>
            <a:endParaRPr lang="en-US" sz="1000" dirty="0"/>
          </a:p>
        </p:txBody>
      </p:sp>
      <p:sp>
        <p:nvSpPr>
          <p:cNvPr id="60" name="Text 55"/>
          <p:cNvSpPr txBox="1"/>
          <p:nvPr/>
        </p:nvSpPr>
        <p:spPr>
          <a:xfrm>
            <a:off x="1451153" y="5506517"/>
            <a:ext cx="77083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&lt;config.h&gt;</a:t>
            </a:r>
            <a:endParaRPr lang="en-US" sz="1000" dirty="0"/>
          </a:p>
        </p:txBody>
      </p:sp>
      <p:sp>
        <p:nvSpPr>
          <p:cNvPr id="61" name="Text 56"/>
          <p:cNvSpPr txBox="1"/>
          <p:nvPr/>
        </p:nvSpPr>
        <p:spPr>
          <a:xfrm>
            <a:off x="933602" y="5506517"/>
            <a:ext cx="41340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/* socklen_t가 정의되지 않은 경우 수동 정의 */</a:t>
            </a:r>
            <a:endParaRPr lang="en-US" sz="1000" dirty="0"/>
          </a:p>
        </p:txBody>
      </p:sp>
      <p:sp>
        <p:nvSpPr>
          <p:cNvPr id="62" name="Text 57"/>
          <p:cNvSpPr txBox="1"/>
          <p:nvPr/>
        </p:nvSpPr>
        <p:spPr>
          <a:xfrm>
            <a:off x="1062533" y="5714086"/>
            <a:ext cx="54406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472B6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#ifndef</a:t>
            </a:r>
            <a:endParaRPr lang="en-US" sz="1000" dirty="0"/>
          </a:p>
        </p:txBody>
      </p:sp>
      <p:sp>
        <p:nvSpPr>
          <p:cNvPr id="63" name="Text 58"/>
          <p:cNvSpPr txBox="1"/>
          <p:nvPr/>
        </p:nvSpPr>
        <p:spPr>
          <a:xfrm>
            <a:off x="1516075" y="5714086"/>
            <a:ext cx="108813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HAVE_SOCKLEN_T</a:t>
            </a:r>
            <a:endParaRPr lang="en-US" sz="1000" dirty="0"/>
          </a:p>
        </p:txBody>
      </p:sp>
      <p:sp>
        <p:nvSpPr>
          <p:cNvPr id="64" name="Text 59"/>
          <p:cNvSpPr txBox="1"/>
          <p:nvPr/>
        </p:nvSpPr>
        <p:spPr>
          <a:xfrm>
            <a:off x="2422246" y="5714086"/>
            <a:ext cx="54406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84F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typedef</a:t>
            </a:r>
            <a:endParaRPr lang="en-US" sz="1000" dirty="0"/>
          </a:p>
        </p:txBody>
      </p:sp>
      <p:sp>
        <p:nvSpPr>
          <p:cNvPr id="65" name="Text 60"/>
          <p:cNvSpPr txBox="1"/>
          <p:nvPr/>
        </p:nvSpPr>
        <p:spPr>
          <a:xfrm>
            <a:off x="933602" y="5714086"/>
            <a:ext cx="263530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unsigned long</a:t>
            </a:r>
            <a:endParaRPr lang="en-US" sz="1000" dirty="0"/>
          </a:p>
        </p:txBody>
      </p:sp>
      <p:sp>
        <p:nvSpPr>
          <p:cNvPr id="66" name="Text 61"/>
          <p:cNvSpPr txBox="1"/>
          <p:nvPr/>
        </p:nvSpPr>
        <p:spPr>
          <a:xfrm>
            <a:off x="1192378" y="5921654"/>
            <a:ext cx="70043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socklen_t</a:t>
            </a:r>
            <a:endParaRPr lang="en-US" sz="1000" dirty="0"/>
          </a:p>
        </p:txBody>
      </p:sp>
      <p:sp>
        <p:nvSpPr>
          <p:cNvPr id="67" name="Text 62"/>
          <p:cNvSpPr txBox="1"/>
          <p:nvPr/>
        </p:nvSpPr>
        <p:spPr>
          <a:xfrm>
            <a:off x="1774850" y="5921654"/>
            <a:ext cx="1435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;</a:t>
            </a:r>
            <a:endParaRPr lang="en-US" sz="1000" dirty="0"/>
          </a:p>
        </p:txBody>
      </p:sp>
      <p:sp>
        <p:nvSpPr>
          <p:cNvPr id="68" name="Text 63"/>
          <p:cNvSpPr txBox="1"/>
          <p:nvPr/>
        </p:nvSpPr>
        <p:spPr>
          <a:xfrm>
            <a:off x="1839773" y="5921654"/>
            <a:ext cx="4672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472B6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#endif</a:t>
            </a:r>
            <a:endParaRPr lang="en-US" sz="1000" dirty="0"/>
          </a:p>
        </p:txBody>
      </p:sp>
      <p:sp>
        <p:nvSpPr>
          <p:cNvPr id="69" name="Text 64"/>
          <p:cNvSpPr txBox="1"/>
          <p:nvPr/>
        </p:nvSpPr>
        <p:spPr>
          <a:xfrm>
            <a:off x="2228393" y="5921654"/>
            <a:ext cx="2770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int</a:t>
            </a:r>
            <a:endParaRPr lang="en-US" sz="1000" dirty="0"/>
          </a:p>
        </p:txBody>
      </p:sp>
      <p:sp>
        <p:nvSpPr>
          <p:cNvPr id="70" name="Text 65"/>
          <p:cNvSpPr txBox="1"/>
          <p:nvPr/>
        </p:nvSpPr>
        <p:spPr>
          <a:xfrm>
            <a:off x="2422246" y="5921654"/>
            <a:ext cx="115671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connect_server(</a:t>
            </a:r>
            <a:endParaRPr lang="en-US" sz="1000" dirty="0"/>
          </a:p>
        </p:txBody>
      </p:sp>
      <p:sp>
        <p:nvSpPr>
          <p:cNvPr id="71" name="Text 66"/>
          <p:cNvSpPr txBox="1"/>
          <p:nvPr/>
        </p:nvSpPr>
        <p:spPr>
          <a:xfrm>
            <a:off x="3393338" y="5921654"/>
            <a:ext cx="2770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int</a:t>
            </a:r>
            <a:endParaRPr lang="en-US" sz="1000" dirty="0"/>
          </a:p>
        </p:txBody>
      </p:sp>
      <p:sp>
        <p:nvSpPr>
          <p:cNvPr id="72" name="Text 67"/>
          <p:cNvSpPr txBox="1"/>
          <p:nvPr/>
        </p:nvSpPr>
        <p:spPr>
          <a:xfrm>
            <a:off x="3588106" y="5921654"/>
            <a:ext cx="4005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sock,</a:t>
            </a:r>
            <a:endParaRPr lang="en-US" sz="1000" dirty="0"/>
          </a:p>
        </p:txBody>
      </p:sp>
      <p:sp>
        <p:nvSpPr>
          <p:cNvPr id="73" name="Text 68"/>
          <p:cNvSpPr txBox="1"/>
          <p:nvPr/>
        </p:nvSpPr>
        <p:spPr>
          <a:xfrm>
            <a:off x="3911803" y="5921654"/>
            <a:ext cx="4672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84F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struct</a:t>
            </a:r>
            <a:endParaRPr lang="en-US" sz="1000" dirty="0"/>
          </a:p>
        </p:txBody>
      </p:sp>
      <p:sp>
        <p:nvSpPr>
          <p:cNvPr id="74" name="Text 69"/>
          <p:cNvSpPr txBox="1"/>
          <p:nvPr/>
        </p:nvSpPr>
        <p:spPr>
          <a:xfrm>
            <a:off x="933602" y="5921654"/>
            <a:ext cx="45244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sockaddr *addr) {</a:t>
            </a:r>
            <a:endParaRPr lang="en-US" sz="1000" dirty="0"/>
          </a:p>
        </p:txBody>
      </p:sp>
      <p:sp>
        <p:nvSpPr>
          <p:cNvPr id="75" name="Text 70"/>
          <p:cNvSpPr txBox="1"/>
          <p:nvPr/>
        </p:nvSpPr>
        <p:spPr>
          <a:xfrm>
            <a:off x="998525" y="6128309"/>
            <a:ext cx="70043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socklen_t</a:t>
            </a:r>
            <a:endParaRPr lang="en-US" sz="1000" dirty="0"/>
          </a:p>
        </p:txBody>
      </p:sp>
      <p:sp>
        <p:nvSpPr>
          <p:cNvPr id="76" name="Text 71"/>
          <p:cNvSpPr txBox="1"/>
          <p:nvPr/>
        </p:nvSpPr>
        <p:spPr>
          <a:xfrm>
            <a:off x="1580998" y="6128309"/>
            <a:ext cx="4005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len =</a:t>
            </a:r>
            <a:endParaRPr lang="en-US" sz="1000" dirty="0"/>
          </a:p>
        </p:txBody>
      </p:sp>
      <p:sp>
        <p:nvSpPr>
          <p:cNvPr id="77" name="Text 72"/>
          <p:cNvSpPr txBox="1"/>
          <p:nvPr/>
        </p:nvSpPr>
        <p:spPr>
          <a:xfrm>
            <a:off x="1904695" y="6128309"/>
            <a:ext cx="4672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84F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sizeof</a:t>
            </a:r>
            <a:endParaRPr lang="en-US" sz="1000" dirty="0"/>
          </a:p>
        </p:txBody>
      </p:sp>
      <p:sp>
        <p:nvSpPr>
          <p:cNvPr id="78" name="Text 73"/>
          <p:cNvSpPr txBox="1"/>
          <p:nvPr/>
        </p:nvSpPr>
        <p:spPr>
          <a:xfrm>
            <a:off x="2293315" y="6128309"/>
            <a:ext cx="1435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(</a:t>
            </a:r>
            <a:endParaRPr lang="en-US" sz="1000" dirty="0"/>
          </a:p>
        </p:txBody>
      </p:sp>
      <p:sp>
        <p:nvSpPr>
          <p:cNvPr id="79" name="Text 74"/>
          <p:cNvSpPr txBox="1"/>
          <p:nvPr/>
        </p:nvSpPr>
        <p:spPr>
          <a:xfrm>
            <a:off x="2357323" y="6128309"/>
            <a:ext cx="4672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84F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struct</a:t>
            </a:r>
            <a:endParaRPr lang="en-US" sz="1000" dirty="0"/>
          </a:p>
        </p:txBody>
      </p:sp>
      <p:sp>
        <p:nvSpPr>
          <p:cNvPr id="80" name="Text 75"/>
          <p:cNvSpPr txBox="1"/>
          <p:nvPr/>
        </p:nvSpPr>
        <p:spPr>
          <a:xfrm>
            <a:off x="2745943" y="6128309"/>
            <a:ext cx="108813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sockaddr); ...</a:t>
            </a:r>
            <a:endParaRPr lang="en-US" sz="1000" dirty="0"/>
          </a:p>
        </p:txBody>
      </p:sp>
      <p:sp>
        <p:nvSpPr>
          <p:cNvPr id="81" name="Shape 76"/>
          <p:cNvSpPr/>
          <p:nvPr/>
        </p:nvSpPr>
        <p:spPr>
          <a:xfrm>
            <a:off x="6334049" y="1723644"/>
            <a:ext cx="5086807" cy="129570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2" name="Shape 77"/>
          <p:cNvSpPr/>
          <p:nvPr/>
        </p:nvSpPr>
        <p:spPr>
          <a:xfrm>
            <a:off x="6334049" y="1723644"/>
            <a:ext cx="38405" cy="1295705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219749" y="1914754"/>
            <a:ext cx="190195" cy="190195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79"/>
          <p:cNvSpPr/>
          <p:nvPr/>
        </p:nvSpPr>
        <p:spPr>
          <a:xfrm>
            <a:off x="6601054" y="1914754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76949" y="1990649"/>
            <a:ext cx="152705" cy="152705"/>
          </a:xfrm>
          <a:prstGeom prst="rect">
            <a:avLst/>
          </a:prstGeom>
        </p:spPr>
      </p:pic>
      <p:sp>
        <p:nvSpPr>
          <p:cNvPr id="86" name="Text 80"/>
          <p:cNvSpPr txBox="1"/>
          <p:nvPr/>
        </p:nvSpPr>
        <p:spPr>
          <a:xfrm>
            <a:off x="7019849" y="1941271"/>
            <a:ext cx="110916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증상 및 원인</a:t>
            </a:r>
            <a:endParaRPr lang="en-US" sz="1300" dirty="0"/>
          </a:p>
        </p:txBody>
      </p:sp>
      <p:sp>
        <p:nvSpPr>
          <p:cNvPr id="87" name="Shape 81"/>
          <p:cNvSpPr/>
          <p:nvPr/>
        </p:nvSpPr>
        <p:spPr>
          <a:xfrm>
            <a:off x="10336378" y="1948586"/>
            <a:ext cx="857707" cy="237744"/>
          </a:xfrm>
          <a:prstGeom prst="roundRect">
            <a:avLst>
              <a:gd name="adj" fmla="val 61538"/>
            </a:avLst>
          </a:prstGeom>
          <a:solidFill>
            <a:srgbClr val="7F1D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Text 82"/>
          <p:cNvSpPr txBox="1"/>
          <p:nvPr/>
        </p:nvSpPr>
        <p:spPr>
          <a:xfrm>
            <a:off x="10412273" y="1986991"/>
            <a:ext cx="781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FATAL ERROR</a:t>
            </a:r>
            <a:endParaRPr lang="en-US" sz="800" dirty="0"/>
          </a:p>
        </p:txBody>
      </p:sp>
      <p:sp>
        <p:nvSpPr>
          <p:cNvPr id="89" name="Text 83"/>
          <p:cNvSpPr txBox="1"/>
          <p:nvPr/>
        </p:nvSpPr>
        <p:spPr>
          <a:xfrm>
            <a:off x="6601054" y="2333549"/>
            <a:ext cx="46680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오래된 시스템(Solaris 2.6 등)이나 일부 임베디드 리눅스에서 최신 표준 타입(</a:t>
            </a:r>
            <a:r>
              <a:rPr lang="en-US" sz="11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socklen_t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en-US" sz="11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uint64_t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)이 시스템 헤더에 정의되어 있지 않아 발생합니다.</a:t>
            </a:r>
            <a:endParaRPr lang="en-US" sz="1100" dirty="0"/>
          </a:p>
        </p:txBody>
      </p:sp>
      <p:sp>
        <p:nvSpPr>
          <p:cNvPr id="90" name="Shape 84"/>
          <p:cNvSpPr/>
          <p:nvPr/>
        </p:nvSpPr>
        <p:spPr>
          <a:xfrm>
            <a:off x="6334049" y="3244291"/>
            <a:ext cx="5086807" cy="1552651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1" name="Shape 85"/>
          <p:cNvSpPr/>
          <p:nvPr/>
        </p:nvSpPr>
        <p:spPr>
          <a:xfrm>
            <a:off x="6334049" y="3244291"/>
            <a:ext cx="38405" cy="1552651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92" name="Shape 86"/>
          <p:cNvSpPr/>
          <p:nvPr/>
        </p:nvSpPr>
        <p:spPr>
          <a:xfrm>
            <a:off x="6219749" y="3435401"/>
            <a:ext cx="190195" cy="190195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87"/>
          <p:cNvSpPr/>
          <p:nvPr/>
        </p:nvSpPr>
        <p:spPr>
          <a:xfrm>
            <a:off x="6601054" y="3435401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76949" y="3511296"/>
            <a:ext cx="152705" cy="152705"/>
          </a:xfrm>
          <a:prstGeom prst="rect">
            <a:avLst/>
          </a:prstGeom>
        </p:spPr>
      </p:pic>
      <p:sp>
        <p:nvSpPr>
          <p:cNvPr id="95" name="Text 88"/>
          <p:cNvSpPr txBox="1"/>
          <p:nvPr/>
        </p:nvSpPr>
        <p:spPr>
          <a:xfrm>
            <a:off x="7019849" y="3461918"/>
            <a:ext cx="198424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권장 해결책: Autoconf</a:t>
            </a:r>
            <a:endParaRPr lang="en-US" sz="1300" dirty="0"/>
          </a:p>
        </p:txBody>
      </p:sp>
      <p:sp>
        <p:nvSpPr>
          <p:cNvPr id="96" name="Text 89"/>
          <p:cNvSpPr txBox="1"/>
          <p:nvPr/>
        </p:nvSpPr>
        <p:spPr>
          <a:xfrm>
            <a:off x="10285171" y="3507638"/>
            <a:ext cx="914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RECOMMENDED</a:t>
            </a:r>
            <a:endParaRPr lang="en-US" sz="800" dirty="0"/>
          </a:p>
        </p:txBody>
      </p:sp>
      <p:sp>
        <p:nvSpPr>
          <p:cNvPr id="97" name="Text 90"/>
          <p:cNvSpPr txBox="1"/>
          <p:nvPr/>
        </p:nvSpPr>
        <p:spPr>
          <a:xfrm>
            <a:off x="6601054" y="3854196"/>
            <a:ext cx="4668012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configure.ac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에서 타입을 체크하고 누락 시 대체 타입을 정의하는 매크로를 사용합니다.</a:t>
            </a:r>
            <a:r>
              <a:rPr lang="en-US" sz="11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config.h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자동으로 반영되어 소스 코드 수정 없이 모든 파일에 적용됩니다.</a:t>
            </a:r>
            <a:endParaRPr lang="en-US" sz="1100" dirty="0"/>
          </a:p>
        </p:txBody>
      </p:sp>
      <p:sp>
        <p:nvSpPr>
          <p:cNvPr id="98" name="Shape 91"/>
          <p:cNvSpPr/>
          <p:nvPr/>
        </p:nvSpPr>
        <p:spPr>
          <a:xfrm>
            <a:off x="6334049" y="5024628"/>
            <a:ext cx="5086807" cy="152430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9" name="Shape 92"/>
          <p:cNvSpPr/>
          <p:nvPr/>
        </p:nvSpPr>
        <p:spPr>
          <a:xfrm>
            <a:off x="6334049" y="5024628"/>
            <a:ext cx="38405" cy="152430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00" name="Shape 93"/>
          <p:cNvSpPr/>
          <p:nvPr/>
        </p:nvSpPr>
        <p:spPr>
          <a:xfrm>
            <a:off x="6219749" y="5215738"/>
            <a:ext cx="190195" cy="190195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4"/>
          <p:cNvSpPr/>
          <p:nvPr/>
        </p:nvSpPr>
        <p:spPr>
          <a:xfrm>
            <a:off x="6601054" y="5215738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2" name="Image 5" descr="preencoded.png"/>
          <p:cNvPicPr>
            <a:picLocks noChangeAspect="1"/>
          </p:cNvPicPr>
          <p:nvPr/>
        </p:nvPicPr>
        <p:blipFill>
          <a:blip r:embed="rId8"/>
          <a:srcRect t="-180" b="-180"/>
          <a:stretch/>
        </p:blipFill>
        <p:spPr>
          <a:xfrm>
            <a:off x="6657746" y="5291633"/>
            <a:ext cx="190195" cy="152705"/>
          </a:xfrm>
          <a:prstGeom prst="rect">
            <a:avLst/>
          </a:prstGeom>
        </p:spPr>
      </p:pic>
      <p:sp>
        <p:nvSpPr>
          <p:cNvPr id="103" name="Text 95"/>
          <p:cNvSpPr txBox="1"/>
          <p:nvPr/>
        </p:nvSpPr>
        <p:spPr>
          <a:xfrm>
            <a:off x="7019849" y="5242255"/>
            <a:ext cx="204002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임시 해결책: 소스 수정</a:t>
            </a:r>
            <a:endParaRPr lang="en-US" sz="1300" dirty="0"/>
          </a:p>
        </p:txBody>
      </p:sp>
      <p:sp>
        <p:nvSpPr>
          <p:cNvPr id="104" name="Text 96"/>
          <p:cNvSpPr txBox="1"/>
          <p:nvPr/>
        </p:nvSpPr>
        <p:spPr>
          <a:xfrm>
            <a:off x="10334549" y="5287975"/>
            <a:ext cx="8668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WORKAROUND</a:t>
            </a:r>
            <a:endParaRPr lang="en-US" sz="800" dirty="0"/>
          </a:p>
        </p:txBody>
      </p:sp>
      <p:sp>
        <p:nvSpPr>
          <p:cNvPr id="105" name="Text 97"/>
          <p:cNvSpPr txBox="1"/>
          <p:nvPr/>
        </p:nvSpPr>
        <p:spPr>
          <a:xfrm>
            <a:off x="6601054" y="5634533"/>
            <a:ext cx="4668012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소스 코드 상단에 직접</a:t>
            </a:r>
            <a:r>
              <a:rPr lang="en-US" sz="11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typedef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추가합니다. 반드시</a:t>
            </a:r>
            <a:r>
              <a:rPr lang="en-US" sz="1100" dirty="0">
                <a:solidFill>
                  <a:srgbClr val="C4B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#ifndef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가드를 사용하여 중복 정의 오류를 방지해야 합니다. 유지보수성이 떨어지므로 급한 경우에만 사용합니다.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" y="390449"/>
            <a:ext cx="75895" cy="761695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0354" y="485546"/>
            <a:ext cx="106116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함수 선언 누락 · 중복 정의 · Makefile 오류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1000354" y="942746"/>
            <a:ext cx="106116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호환성 및 빌드 구성 관련 주요 이슈 해결 방안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1754" y="1495044"/>
            <a:ext cx="4000500" cy="4876495"/>
          </a:xfrm>
          <a:prstGeom prst="roundRect">
            <a:avLst>
              <a:gd name="adj" fmla="val 65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241300" dist="1016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0898" y="1505102"/>
            <a:ext cx="3981298" cy="39044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780898" y="1886407"/>
            <a:ext cx="3981298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3602" y="1634033"/>
            <a:ext cx="114300" cy="1143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4595" y="1634033"/>
            <a:ext cx="114300" cy="1143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76502" y="1634033"/>
            <a:ext cx="114300" cy="1143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43507" y="1600200"/>
            <a:ext cx="108813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build_errors.log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33602" y="3354934"/>
            <a:ext cx="3676802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3602" y="2040026"/>
            <a:ext cx="37911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1. 함수 선언 누락 (Implicit Declaration)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33602" y="2234794"/>
            <a:ext cx="387157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warning: implicit declaration of function 'select'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33602" y="2467051"/>
            <a:ext cx="434248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warning: implicit declaration of function 'gethostbyname'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33602" y="2894076"/>
            <a:ext cx="434248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svrsrc/lanapi.c:45:5: note: include '&lt;sys/select.h&gt;' or provide a declaration of 'select'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33602" y="4789627"/>
            <a:ext cx="3676802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3602" y="3513125"/>
            <a:ext cx="37911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2. 중복 정의 (Redefinition)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33602" y="3707892"/>
            <a:ext cx="37911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error: redefinition of 'struct sockaddr_in'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33602" y="3940150"/>
            <a:ext cx="3791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In file included from </a:t>
            </a:r>
            <a:r>
              <a:rPr lang="en-US" sz="900" dirty="0" err="1">
                <a:solidFill>
                  <a:srgbClr val="FFFFFF">
                    <a:alpha val="70000"/>
                  </a:srgbClr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svrsrc</a:t>
            </a: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/eCAMSapi.h:10,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933602" y="4091940"/>
            <a:ext cx="3791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from svrsrc/lanapi.c:5: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33602" y="4244645"/>
            <a:ext cx="434248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/usr/include/netinet/in.h:240:8: note: originally defined here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33602" y="4947818"/>
            <a:ext cx="37911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3. Makefile 변수 미정의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33602" y="5142586"/>
            <a:ext cx="37911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Makefile:5: *** missing separator. Stop.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33602" y="5374843"/>
            <a:ext cx="37911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@CC@: command not found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33602" y="5607101"/>
            <a:ext cx="3791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make: *** [all] Error 127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152644" y="1495044"/>
            <a:ext cx="6267298" cy="1943100"/>
          </a:xfrm>
          <a:prstGeom prst="roundRect">
            <a:avLst>
              <a:gd name="adj" fmla="val 27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33695" y="1714500"/>
            <a:ext cx="152705" cy="152705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5562295" y="1676095"/>
            <a:ext cx="15937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함수 선언 누락 해결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0347350" y="1705356"/>
            <a:ext cx="97566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Missing Header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5333695" y="2000707"/>
            <a:ext cx="62078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필요한 헤더 파일을 명시적으로 포함하거나,</a:t>
            </a:r>
            <a:r>
              <a:rPr lang="en-US" sz="10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configure.ac</a:t>
            </a: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에서 함수 존재 여부를 체크합니다.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333695" y="2305202"/>
            <a:ext cx="5905195" cy="952805"/>
          </a:xfrm>
          <a:prstGeom prst="roundRect">
            <a:avLst>
              <a:gd name="adj" fmla="val 5758"/>
            </a:avLst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5333695" y="2305202"/>
            <a:ext cx="28346" cy="95280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477256" y="2400300"/>
            <a:ext cx="57634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472B6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#include</a:t>
            </a:r>
            <a:r>
              <a:rPr lang="en-US" sz="9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&lt;sys/select.h&gt;</a:t>
            </a:r>
            <a:r>
              <a:rPr lang="en-US" sz="900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// select()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5477256" y="2571293"/>
            <a:ext cx="57634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472B6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#include</a:t>
            </a:r>
            <a:r>
              <a:rPr lang="en-US" sz="9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&lt;netdb.h&gt;</a:t>
            </a:r>
            <a:r>
              <a:rPr lang="en-US" sz="900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// gethostbyname()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5477256" y="2818181"/>
            <a:ext cx="57634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// configure.ac 추가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5477256" y="2988259"/>
            <a:ext cx="57634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AC_CHECK_FUNCS</a:t>
            </a:r>
            <a:r>
              <a:rPr lang="en-US" sz="9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([select socket gethostbyname])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152644" y="3625596"/>
            <a:ext cx="6267298" cy="1848002"/>
          </a:xfrm>
          <a:prstGeom prst="roundRect">
            <a:avLst>
              <a:gd name="adj" fmla="val 306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33695" y="3845052"/>
            <a:ext cx="152705" cy="152705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5562295" y="3806647"/>
            <a:ext cx="11713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 정의 해결</a:t>
            </a:r>
            <a:endParaRPr lang="en-US" sz="1200" dirty="0"/>
          </a:p>
        </p:txBody>
      </p:sp>
      <p:sp>
        <p:nvSpPr>
          <p:cNvPr id="43" name="Text 39"/>
          <p:cNvSpPr txBox="1"/>
          <p:nvPr/>
        </p:nvSpPr>
        <p:spPr>
          <a:xfrm>
            <a:off x="10511942" y="3835908"/>
            <a:ext cx="7827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Redefinition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5333695" y="4131259"/>
            <a:ext cx="6096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헤더 가드(Header Guard)를 강화하거나 조건부 컴파일로 시스템 정의와 충돌을 방지합니다.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5333695" y="4416552"/>
            <a:ext cx="5905195" cy="875995"/>
          </a:xfrm>
          <a:prstGeom prst="roundRect">
            <a:avLst>
              <a:gd name="adj" fmla="val 6808"/>
            </a:avLst>
          </a:prstGeom>
          <a:solidFill>
            <a:srgbClr val="000000">
              <a:alpha val="40000"/>
            </a:srgbClr>
          </a:solidFill>
          <a:ln/>
        </p:spPr>
      </p:sp>
      <p:sp>
        <p:nvSpPr>
          <p:cNvPr id="46" name="Shape 42"/>
          <p:cNvSpPr/>
          <p:nvPr/>
        </p:nvSpPr>
        <p:spPr>
          <a:xfrm>
            <a:off x="5333695" y="4416552"/>
            <a:ext cx="28346" cy="875995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5477256" y="4511650"/>
            <a:ext cx="57634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472B6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#ifndef</a:t>
            </a:r>
            <a:r>
              <a:rPr lang="en-US" sz="9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_SOCKADDR_IN_DEFINED</a:t>
            </a:r>
            <a:endParaRPr lang="en-US" sz="900" dirty="0"/>
          </a:p>
        </p:txBody>
      </p:sp>
      <p:sp>
        <p:nvSpPr>
          <p:cNvPr id="48" name="Text 44"/>
          <p:cNvSpPr txBox="1"/>
          <p:nvPr/>
        </p:nvSpPr>
        <p:spPr>
          <a:xfrm>
            <a:off x="5477256" y="4682642"/>
            <a:ext cx="57634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472B6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#define</a:t>
            </a:r>
            <a:r>
              <a:rPr lang="en-US" sz="9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_SOCKADDR_IN_DEFINED</a:t>
            </a:r>
            <a:endParaRPr lang="en-US" sz="900" dirty="0"/>
          </a:p>
        </p:txBody>
      </p:sp>
      <p:sp>
        <p:nvSpPr>
          <p:cNvPr id="49" name="Text 45"/>
          <p:cNvSpPr txBox="1"/>
          <p:nvPr/>
        </p:nvSpPr>
        <p:spPr>
          <a:xfrm>
            <a:off x="5477256" y="4853635"/>
            <a:ext cx="57634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// struct sockaddr_in 정의 코드...</a:t>
            </a:r>
            <a:endParaRPr lang="en-US" sz="900" dirty="0"/>
          </a:p>
        </p:txBody>
      </p:sp>
      <p:sp>
        <p:nvSpPr>
          <p:cNvPr id="50" name="Text 46"/>
          <p:cNvSpPr txBox="1"/>
          <p:nvPr/>
        </p:nvSpPr>
        <p:spPr>
          <a:xfrm>
            <a:off x="5477256" y="5023714"/>
            <a:ext cx="57634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472B6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#endif</a:t>
            </a:r>
            <a:endParaRPr lang="en-US" sz="900" dirty="0"/>
          </a:p>
        </p:txBody>
      </p:sp>
      <p:sp>
        <p:nvSpPr>
          <p:cNvPr id="51" name="Shape 47"/>
          <p:cNvSpPr/>
          <p:nvPr/>
        </p:nvSpPr>
        <p:spPr>
          <a:xfrm>
            <a:off x="5152644" y="5661050"/>
            <a:ext cx="6267298" cy="2095805"/>
          </a:xfrm>
          <a:prstGeom prst="roundRect">
            <a:avLst>
              <a:gd name="adj" fmla="val 238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52" name="Image 2" descr="preencoded.png"/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5333695" y="5880506"/>
            <a:ext cx="114300" cy="152705"/>
          </a:xfrm>
          <a:prstGeom prst="rect">
            <a:avLst/>
          </a:prstGeom>
        </p:spPr>
      </p:pic>
      <p:sp>
        <p:nvSpPr>
          <p:cNvPr id="53" name="Text 48"/>
          <p:cNvSpPr txBox="1"/>
          <p:nvPr/>
        </p:nvSpPr>
        <p:spPr>
          <a:xfrm>
            <a:off x="5524805" y="5842102"/>
            <a:ext cx="19156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Makefile 변수 오류 해결</a:t>
            </a:r>
            <a:endParaRPr lang="en-US" sz="1200" dirty="0"/>
          </a:p>
        </p:txBody>
      </p:sp>
      <p:sp>
        <p:nvSpPr>
          <p:cNvPr id="54" name="Text 49"/>
          <p:cNvSpPr txBox="1"/>
          <p:nvPr/>
        </p:nvSpPr>
        <p:spPr>
          <a:xfrm>
            <a:off x="10432390" y="5871362"/>
            <a:ext cx="87325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Configuration</a:t>
            </a:r>
            <a:endParaRPr lang="en-US" sz="900" dirty="0"/>
          </a:p>
        </p:txBody>
      </p:sp>
      <p:sp>
        <p:nvSpPr>
          <p:cNvPr id="55" name="Text 50"/>
          <p:cNvSpPr txBox="1"/>
          <p:nvPr/>
        </p:nvSpPr>
        <p:spPr>
          <a:xfrm>
            <a:off x="5333695" y="6165799"/>
            <a:ext cx="59820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@CC@</a:t>
            </a: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같은 치환 변수가 남아있는 경우, configure 스크립트를 재실행하거나 강제로 Makefile을 생성합니다.</a:t>
            </a:r>
            <a:endParaRPr lang="en-US" sz="1000" dirty="0"/>
          </a:p>
        </p:txBody>
      </p:sp>
      <p:sp>
        <p:nvSpPr>
          <p:cNvPr id="56" name="Shape 51"/>
          <p:cNvSpPr/>
          <p:nvPr/>
        </p:nvSpPr>
        <p:spPr>
          <a:xfrm>
            <a:off x="5333695" y="6661404"/>
            <a:ext cx="5905195" cy="914400"/>
          </a:xfrm>
          <a:prstGeom prst="roundRect">
            <a:avLst>
              <a:gd name="adj" fmla="val 6250"/>
            </a:avLst>
          </a:prstGeom>
          <a:solidFill>
            <a:srgbClr val="000000">
              <a:alpha val="40000"/>
            </a:srgbClr>
          </a:solidFill>
          <a:ln/>
        </p:spPr>
      </p:sp>
      <p:sp>
        <p:nvSpPr>
          <p:cNvPr id="57" name="Shape 52"/>
          <p:cNvSpPr/>
          <p:nvPr/>
        </p:nvSpPr>
        <p:spPr>
          <a:xfrm>
            <a:off x="5333695" y="6661404"/>
            <a:ext cx="28346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5477256" y="6756502"/>
            <a:ext cx="57634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1. configure 재실행 (변수 치환 수행)</a:t>
            </a:r>
            <a:endParaRPr lang="en-US" sz="900" dirty="0"/>
          </a:p>
        </p:txBody>
      </p:sp>
      <p:sp>
        <p:nvSpPr>
          <p:cNvPr id="59" name="Text 54"/>
          <p:cNvSpPr txBox="1"/>
          <p:nvPr/>
        </p:nvSpPr>
        <p:spPr>
          <a:xfrm>
            <a:off x="5477256" y="6927494"/>
            <a:ext cx="57634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$ ./configure</a:t>
            </a:r>
            <a:endParaRPr lang="en-US" sz="900" dirty="0"/>
          </a:p>
        </p:txBody>
      </p:sp>
      <p:sp>
        <p:nvSpPr>
          <p:cNvPr id="60" name="Text 55"/>
          <p:cNvSpPr txBox="1"/>
          <p:nvPr/>
        </p:nvSpPr>
        <p:spPr>
          <a:xfrm>
            <a:off x="5477256" y="7135978"/>
            <a:ext cx="57634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2. configure 누락 시 재생성</a:t>
            </a:r>
            <a:endParaRPr lang="en-US" sz="900" dirty="0"/>
          </a:p>
        </p:txBody>
      </p:sp>
      <p:sp>
        <p:nvSpPr>
          <p:cNvPr id="61" name="Text 56"/>
          <p:cNvSpPr txBox="1"/>
          <p:nvPr/>
        </p:nvSpPr>
        <p:spPr>
          <a:xfrm>
            <a:off x="5477256" y="7306970"/>
            <a:ext cx="57634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$ autoconf &amp;&amp; autoheader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" y="390449"/>
            <a:ext cx="75895" cy="761695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0354" y="580644"/>
            <a:ext cx="10725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OS별 특화 문제 개요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1000354" y="1037844"/>
            <a:ext cx="105348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Solaris, AIX, HP-UX, Linux 시스템별 주요 이슈 및 해결 포인트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1754" y="1800454"/>
            <a:ext cx="5134356" cy="4638751"/>
          </a:xfrm>
          <a:prstGeom prst="roundRect">
            <a:avLst>
              <a:gd name="adj" fmla="val 64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0898" y="2477110"/>
            <a:ext cx="5115154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9498" y="2048256"/>
            <a:ext cx="190195" cy="1901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14907" y="2000707"/>
            <a:ext cx="284561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Major UNIX (Solaris / AIX)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433011" y="2076602"/>
            <a:ext cx="13149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Enterprise Systems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80898" y="2486254"/>
            <a:ext cx="1095451" cy="50474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0"/>
          <p:cNvSpPr/>
          <p:nvPr/>
        </p:nvSpPr>
        <p:spPr>
          <a:xfrm>
            <a:off x="780898" y="2981858"/>
            <a:ext cx="1095451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72007" y="2638044"/>
            <a:ext cx="2578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873606" y="2486254"/>
            <a:ext cx="2000707" cy="50474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3"/>
          <p:cNvSpPr/>
          <p:nvPr/>
        </p:nvSpPr>
        <p:spPr>
          <a:xfrm>
            <a:off x="1873606" y="2981858"/>
            <a:ext cx="2000707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063801" y="2638044"/>
            <a:ext cx="63550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이슈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873398" y="2486254"/>
            <a:ext cx="2029054" cy="50474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Shape 16"/>
          <p:cNvSpPr/>
          <p:nvPr/>
        </p:nvSpPr>
        <p:spPr>
          <a:xfrm>
            <a:off x="3873398" y="2981858"/>
            <a:ext cx="2029054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064508" y="2638044"/>
            <a:ext cx="7744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 포인트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80898" y="4790542"/>
            <a:ext cx="1095451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72007" y="3147365"/>
            <a:ext cx="714146" cy="267005"/>
          </a:xfrm>
          <a:prstGeom prst="roundRect">
            <a:avLst>
              <a:gd name="adj" fmla="val 48924"/>
            </a:avLst>
          </a:prstGeom>
          <a:solidFill>
            <a:srgbClr val="F97316">
              <a:alpha val="10000"/>
            </a:srgbClr>
          </a:solidFill>
          <a:ln w="12700">
            <a:solidFill>
              <a:srgbClr val="F97316">
                <a:alpha val="20000"/>
              </a:srgbClr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57046" y="3223260"/>
            <a:ext cx="114300" cy="11430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209751" y="3147365"/>
            <a:ext cx="4672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92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Solaris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1873606" y="3886200"/>
            <a:ext cx="2000707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2063801" y="3147365"/>
            <a:ext cx="14474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라이브러리 링크 누락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2063801" y="3390595"/>
            <a:ext cx="192755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socket, gethostbyname 등 미정의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3873398" y="3886200"/>
            <a:ext cx="2029054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064508" y="3184855"/>
            <a:ext cx="1647749" cy="390449"/>
          </a:xfrm>
          <a:prstGeom prst="roundRect">
            <a:avLst>
              <a:gd name="adj" fmla="val 2284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121201" y="3223260"/>
            <a:ext cx="175747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LIBS = -lxnet -lnsl -lsocket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4064508" y="3573475"/>
            <a:ext cx="190926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라이브러리 명시적 추가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1873606" y="4789627"/>
            <a:ext cx="2000707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2063801" y="4050792"/>
            <a:ext cx="12701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statfs 구조체 없음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2063801" y="4294937"/>
            <a:ext cx="16962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f_bavail 멤버 접근 불가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3873398" y="4789627"/>
            <a:ext cx="2029054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064508" y="4089197"/>
            <a:ext cx="1647749" cy="390449"/>
          </a:xfrm>
          <a:prstGeom prst="roundRect">
            <a:avLst>
              <a:gd name="adj" fmla="val 2284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4121201" y="4126687"/>
            <a:ext cx="125821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#include &lt;sys/statvfs.h&gt;</a:t>
            </a:r>
            <a:endParaRPr lang="en-US" sz="900" dirty="0"/>
          </a:p>
        </p:txBody>
      </p:sp>
      <p:sp>
        <p:nvSpPr>
          <p:cNvPr id="38" name="Text 34"/>
          <p:cNvSpPr txBox="1"/>
          <p:nvPr/>
        </p:nvSpPr>
        <p:spPr>
          <a:xfrm>
            <a:off x="4064508" y="4476902"/>
            <a:ext cx="17245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statvfs 함수로 대체 구현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780898" y="6416345"/>
            <a:ext cx="1095451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972007" y="4954219"/>
            <a:ext cx="514807" cy="267005"/>
          </a:xfrm>
          <a:prstGeom prst="roundRect">
            <a:avLst>
              <a:gd name="adj" fmla="val 48924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57046" y="5030114"/>
            <a:ext cx="114300" cy="114300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1209751" y="4954219"/>
            <a:ext cx="2670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AIX</a:t>
            </a:r>
            <a:endParaRPr lang="en-US" sz="900" dirty="0"/>
          </a:p>
        </p:txBody>
      </p:sp>
      <p:sp>
        <p:nvSpPr>
          <p:cNvPr id="43" name="Shape 38"/>
          <p:cNvSpPr/>
          <p:nvPr/>
        </p:nvSpPr>
        <p:spPr>
          <a:xfrm>
            <a:off x="1873606" y="5693054"/>
            <a:ext cx="2000707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2063801" y="4954219"/>
            <a:ext cx="12929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컴파일러(xlc) 경고</a:t>
            </a:r>
            <a:endParaRPr lang="en-US" sz="1000" dirty="0"/>
          </a:p>
        </p:txBody>
      </p:sp>
      <p:sp>
        <p:nvSpPr>
          <p:cNvPr id="45" name="Text 40"/>
          <p:cNvSpPr txBox="1"/>
          <p:nvPr/>
        </p:nvSpPr>
        <p:spPr>
          <a:xfrm>
            <a:off x="2063801" y="5198364"/>
            <a:ext cx="192755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implicit declaration 경고 다수</a:t>
            </a:r>
            <a:endParaRPr lang="en-US" sz="900" dirty="0"/>
          </a:p>
        </p:txBody>
      </p:sp>
      <p:sp>
        <p:nvSpPr>
          <p:cNvPr id="46" name="Shape 41"/>
          <p:cNvSpPr/>
          <p:nvPr/>
        </p:nvSpPr>
        <p:spPr>
          <a:xfrm>
            <a:off x="3873398" y="5693054"/>
            <a:ext cx="2029054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4064508" y="4992624"/>
            <a:ext cx="1647749" cy="390449"/>
          </a:xfrm>
          <a:prstGeom prst="roundRect">
            <a:avLst>
              <a:gd name="adj" fmla="val 2284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4121201" y="5030114"/>
            <a:ext cx="133776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CFLAGS="-qlanglvl=extc99"</a:t>
            </a:r>
            <a:endParaRPr lang="en-US" sz="900" dirty="0"/>
          </a:p>
        </p:txBody>
      </p:sp>
      <p:sp>
        <p:nvSpPr>
          <p:cNvPr id="49" name="Text 44"/>
          <p:cNvSpPr txBox="1"/>
          <p:nvPr/>
        </p:nvSpPr>
        <p:spPr>
          <a:xfrm>
            <a:off x="4064508" y="5380330"/>
            <a:ext cx="178033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C99 확장 모드 활성화</a:t>
            </a:r>
            <a:endParaRPr lang="en-US" sz="900" dirty="0"/>
          </a:p>
        </p:txBody>
      </p:sp>
      <p:sp>
        <p:nvSpPr>
          <p:cNvPr id="50" name="Text 45"/>
          <p:cNvSpPr txBox="1"/>
          <p:nvPr/>
        </p:nvSpPr>
        <p:spPr>
          <a:xfrm>
            <a:off x="2063801" y="5857646"/>
            <a:ext cx="12134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32bit/64bit 충돌</a:t>
            </a:r>
            <a:endParaRPr lang="en-US" sz="1000" dirty="0"/>
          </a:p>
        </p:txBody>
      </p:sp>
      <p:sp>
        <p:nvSpPr>
          <p:cNvPr id="51" name="Text 46"/>
          <p:cNvSpPr txBox="1"/>
          <p:nvPr/>
        </p:nvSpPr>
        <p:spPr>
          <a:xfrm>
            <a:off x="2063801" y="6101791"/>
            <a:ext cx="16962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ld: 0711-317 ERROR</a:t>
            </a:r>
            <a:endParaRPr lang="en-US" sz="900" dirty="0"/>
          </a:p>
        </p:txBody>
      </p:sp>
      <p:sp>
        <p:nvSpPr>
          <p:cNvPr id="52" name="Shape 47"/>
          <p:cNvSpPr/>
          <p:nvPr/>
        </p:nvSpPr>
        <p:spPr>
          <a:xfrm>
            <a:off x="4064508" y="5896051"/>
            <a:ext cx="1028700" cy="219456"/>
          </a:xfrm>
          <a:prstGeom prst="roundRect">
            <a:avLst>
              <a:gd name="adj" fmla="val 72464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4121201" y="5933542"/>
            <a:ext cx="9912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CC="xlc -q32"</a:t>
            </a:r>
            <a:endParaRPr lang="en-US" sz="900" dirty="0"/>
          </a:p>
        </p:txBody>
      </p:sp>
      <p:sp>
        <p:nvSpPr>
          <p:cNvPr id="54" name="Text 49"/>
          <p:cNvSpPr txBox="1"/>
          <p:nvPr/>
        </p:nvSpPr>
        <p:spPr>
          <a:xfrm>
            <a:off x="4064508" y="6109106"/>
            <a:ext cx="17245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명시적 32bit 빌드 옵션 적용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6286500" y="1800454"/>
            <a:ext cx="5134356" cy="4638751"/>
          </a:xfrm>
          <a:prstGeom prst="roundRect">
            <a:avLst>
              <a:gd name="adj" fmla="val 64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6295644" y="2477110"/>
            <a:ext cx="5115154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pic>
        <p:nvPicPr>
          <p:cNvPr id="57" name="Image 3" descr="preencoded.png"/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6524244" y="2048256"/>
            <a:ext cx="219456" cy="190195"/>
          </a:xfrm>
          <a:prstGeom prst="rect">
            <a:avLst/>
          </a:prstGeom>
        </p:spPr>
      </p:pic>
      <p:sp>
        <p:nvSpPr>
          <p:cNvPr id="58" name="Text 52"/>
          <p:cNvSpPr txBox="1"/>
          <p:nvPr/>
        </p:nvSpPr>
        <p:spPr>
          <a:xfrm>
            <a:off x="6858000" y="2000707"/>
            <a:ext cx="15910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HP-UX &amp; Linux</a:t>
            </a:r>
            <a:endParaRPr lang="en-US" sz="1500" dirty="0"/>
          </a:p>
        </p:txBody>
      </p:sp>
      <p:sp>
        <p:nvSpPr>
          <p:cNvPr id="59" name="Text 53"/>
          <p:cNvSpPr txBox="1"/>
          <p:nvPr/>
        </p:nvSpPr>
        <p:spPr>
          <a:xfrm>
            <a:off x="10153498" y="2076602"/>
            <a:ext cx="111465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Legacy &amp; Modern</a:t>
            </a:r>
            <a:endParaRPr lang="en-US" sz="900" dirty="0"/>
          </a:p>
        </p:txBody>
      </p:sp>
      <p:sp>
        <p:nvSpPr>
          <p:cNvPr id="60" name="Shape 54"/>
          <p:cNvSpPr/>
          <p:nvPr/>
        </p:nvSpPr>
        <p:spPr>
          <a:xfrm>
            <a:off x="6295644" y="2486254"/>
            <a:ext cx="1028700" cy="50474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1" name="Shape 55"/>
          <p:cNvSpPr/>
          <p:nvPr/>
        </p:nvSpPr>
        <p:spPr>
          <a:xfrm>
            <a:off x="6295644" y="2981858"/>
            <a:ext cx="102870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62" name="Text 56"/>
          <p:cNvSpPr txBox="1"/>
          <p:nvPr/>
        </p:nvSpPr>
        <p:spPr>
          <a:xfrm>
            <a:off x="6486754" y="2638044"/>
            <a:ext cx="2578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</a:t>
            </a:r>
            <a:endParaRPr lang="en-US" sz="1000" dirty="0"/>
          </a:p>
        </p:txBody>
      </p:sp>
      <p:sp>
        <p:nvSpPr>
          <p:cNvPr id="63" name="Shape 57"/>
          <p:cNvSpPr/>
          <p:nvPr/>
        </p:nvSpPr>
        <p:spPr>
          <a:xfrm>
            <a:off x="7318858" y="2486254"/>
            <a:ext cx="2048256" cy="50474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4" name="Shape 58"/>
          <p:cNvSpPr/>
          <p:nvPr/>
        </p:nvSpPr>
        <p:spPr>
          <a:xfrm>
            <a:off x="7318858" y="2981858"/>
            <a:ext cx="2048256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65" name="Text 59"/>
          <p:cNvSpPr txBox="1"/>
          <p:nvPr/>
        </p:nvSpPr>
        <p:spPr>
          <a:xfrm>
            <a:off x="7509053" y="2638044"/>
            <a:ext cx="63550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이슈</a:t>
            </a:r>
            <a:endParaRPr lang="en-US" sz="1000" dirty="0"/>
          </a:p>
        </p:txBody>
      </p:sp>
      <p:sp>
        <p:nvSpPr>
          <p:cNvPr id="66" name="Shape 60"/>
          <p:cNvSpPr/>
          <p:nvPr/>
        </p:nvSpPr>
        <p:spPr>
          <a:xfrm>
            <a:off x="9365285" y="2486254"/>
            <a:ext cx="2048256" cy="50474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7" name="Shape 61"/>
          <p:cNvSpPr/>
          <p:nvPr/>
        </p:nvSpPr>
        <p:spPr>
          <a:xfrm>
            <a:off x="9365285" y="2981858"/>
            <a:ext cx="2048256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68" name="Text 62"/>
          <p:cNvSpPr txBox="1"/>
          <p:nvPr/>
        </p:nvSpPr>
        <p:spPr>
          <a:xfrm>
            <a:off x="9555480" y="2638044"/>
            <a:ext cx="7744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 포인트</a:t>
            </a:r>
            <a:endParaRPr lang="en-US" sz="1000" dirty="0"/>
          </a:p>
        </p:txBody>
      </p:sp>
      <p:sp>
        <p:nvSpPr>
          <p:cNvPr id="69" name="Shape 63"/>
          <p:cNvSpPr/>
          <p:nvPr/>
        </p:nvSpPr>
        <p:spPr>
          <a:xfrm>
            <a:off x="6295644" y="4438498"/>
            <a:ext cx="102870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70" name="Shape 64"/>
          <p:cNvSpPr/>
          <p:nvPr/>
        </p:nvSpPr>
        <p:spPr>
          <a:xfrm>
            <a:off x="6486754" y="3147365"/>
            <a:ext cx="647395" cy="437998"/>
          </a:xfrm>
          <a:prstGeom prst="roundRect">
            <a:avLst>
              <a:gd name="adj" fmla="val 18154"/>
            </a:avLst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20000"/>
              </a:srgbClr>
            </a:solidFill>
            <a:prstDash val="solid"/>
          </a:ln>
        </p:spPr>
      </p:sp>
      <p:pic>
        <p:nvPicPr>
          <p:cNvPr id="7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72707" y="3309214"/>
            <a:ext cx="114300" cy="114300"/>
          </a:xfrm>
          <a:prstGeom prst="rect">
            <a:avLst/>
          </a:prstGeom>
        </p:spPr>
      </p:pic>
      <p:sp>
        <p:nvSpPr>
          <p:cNvPr id="72" name="Text 65"/>
          <p:cNvSpPr txBox="1"/>
          <p:nvPr/>
        </p:nvSpPr>
        <p:spPr>
          <a:xfrm>
            <a:off x="6724498" y="3147365"/>
            <a:ext cx="4005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472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HP-UX</a:t>
            </a:r>
            <a:endParaRPr lang="en-US" sz="900" dirty="0"/>
          </a:p>
        </p:txBody>
      </p:sp>
      <p:sp>
        <p:nvSpPr>
          <p:cNvPr id="73" name="Shape 66"/>
          <p:cNvSpPr/>
          <p:nvPr/>
        </p:nvSpPr>
        <p:spPr>
          <a:xfrm>
            <a:off x="7318858" y="3714293"/>
            <a:ext cx="2048256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74" name="Text 67"/>
          <p:cNvSpPr txBox="1"/>
          <p:nvPr/>
        </p:nvSpPr>
        <p:spPr>
          <a:xfrm>
            <a:off x="7509053" y="3147365"/>
            <a:ext cx="12243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ANSI C 모드 필요</a:t>
            </a:r>
            <a:endParaRPr lang="en-US" sz="1000" dirty="0"/>
          </a:p>
        </p:txBody>
      </p:sp>
      <p:sp>
        <p:nvSpPr>
          <p:cNvPr id="75" name="Text 68"/>
          <p:cNvSpPr txBox="1"/>
          <p:nvPr/>
        </p:nvSpPr>
        <p:spPr>
          <a:xfrm>
            <a:off x="7509053" y="3390595"/>
            <a:ext cx="198424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syntax error before 'inline'</a:t>
            </a:r>
            <a:endParaRPr lang="en-US" sz="900" dirty="0"/>
          </a:p>
        </p:txBody>
      </p:sp>
      <p:sp>
        <p:nvSpPr>
          <p:cNvPr id="76" name="Shape 69"/>
          <p:cNvSpPr/>
          <p:nvPr/>
        </p:nvSpPr>
        <p:spPr>
          <a:xfrm>
            <a:off x="9365285" y="3714293"/>
            <a:ext cx="2048256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77" name="Shape 70"/>
          <p:cNvSpPr/>
          <p:nvPr/>
        </p:nvSpPr>
        <p:spPr>
          <a:xfrm>
            <a:off x="9555480" y="3184855"/>
            <a:ext cx="895198" cy="219456"/>
          </a:xfrm>
          <a:prstGeom prst="roundRect">
            <a:avLst>
              <a:gd name="adj" fmla="val 72464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Text 71"/>
          <p:cNvSpPr txBox="1"/>
          <p:nvPr/>
        </p:nvSpPr>
        <p:spPr>
          <a:xfrm>
            <a:off x="9612173" y="3223260"/>
            <a:ext cx="8577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CC="cc -Ae"</a:t>
            </a:r>
            <a:endParaRPr lang="en-US" sz="900" dirty="0"/>
          </a:p>
        </p:txBody>
      </p:sp>
      <p:sp>
        <p:nvSpPr>
          <p:cNvPr id="79" name="Text 72"/>
          <p:cNvSpPr txBox="1"/>
          <p:nvPr/>
        </p:nvSpPr>
        <p:spPr>
          <a:xfrm>
            <a:off x="9555480" y="3397910"/>
            <a:ext cx="188549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ANSI C 확장 모드 컴파일러 사용</a:t>
            </a:r>
            <a:endParaRPr lang="en-US" sz="900" dirty="0"/>
          </a:p>
        </p:txBody>
      </p:sp>
      <p:sp>
        <p:nvSpPr>
          <p:cNvPr id="80" name="Shape 73"/>
          <p:cNvSpPr/>
          <p:nvPr/>
        </p:nvSpPr>
        <p:spPr>
          <a:xfrm>
            <a:off x="7318858" y="4443070"/>
            <a:ext cx="2048256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81" name="Text 74"/>
          <p:cNvSpPr txBox="1"/>
          <p:nvPr/>
        </p:nvSpPr>
        <p:spPr>
          <a:xfrm>
            <a:off x="7509053" y="3876142"/>
            <a:ext cx="9372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아키텍처 옵션</a:t>
            </a:r>
            <a:endParaRPr lang="en-US" sz="1000" dirty="0"/>
          </a:p>
        </p:txBody>
      </p:sp>
      <p:sp>
        <p:nvSpPr>
          <p:cNvPr id="82" name="Text 75"/>
          <p:cNvSpPr txBox="1"/>
          <p:nvPr/>
        </p:nvSpPr>
        <p:spPr>
          <a:xfrm>
            <a:off x="7509053" y="4119372"/>
            <a:ext cx="18004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바이너리 호환성 문제</a:t>
            </a:r>
            <a:endParaRPr lang="en-US" sz="900" dirty="0"/>
          </a:p>
        </p:txBody>
      </p:sp>
      <p:sp>
        <p:nvSpPr>
          <p:cNvPr id="83" name="Shape 76"/>
          <p:cNvSpPr/>
          <p:nvPr/>
        </p:nvSpPr>
        <p:spPr>
          <a:xfrm>
            <a:off x="9365285" y="4443070"/>
            <a:ext cx="2048256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84" name="Shape 77"/>
          <p:cNvSpPr/>
          <p:nvPr/>
        </p:nvSpPr>
        <p:spPr>
          <a:xfrm>
            <a:off x="9555480" y="3913632"/>
            <a:ext cx="1238098" cy="219456"/>
          </a:xfrm>
          <a:prstGeom prst="roundRect">
            <a:avLst>
              <a:gd name="adj" fmla="val 72464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Text 78"/>
          <p:cNvSpPr txBox="1"/>
          <p:nvPr/>
        </p:nvSpPr>
        <p:spPr>
          <a:xfrm>
            <a:off x="9612173" y="3952037"/>
            <a:ext cx="12006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CFLAGS="+DA2.0W"</a:t>
            </a:r>
            <a:endParaRPr lang="en-US" sz="900" dirty="0"/>
          </a:p>
        </p:txBody>
      </p:sp>
      <p:sp>
        <p:nvSpPr>
          <p:cNvPr id="86" name="Text 79"/>
          <p:cNvSpPr txBox="1"/>
          <p:nvPr/>
        </p:nvSpPr>
        <p:spPr>
          <a:xfrm>
            <a:off x="9555480" y="4126687"/>
            <a:ext cx="1743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PA-RISC 2.0W 아키텍처 지정</a:t>
            </a:r>
            <a:endParaRPr lang="en-US" sz="900" dirty="0"/>
          </a:p>
        </p:txBody>
      </p:sp>
      <p:sp>
        <p:nvSpPr>
          <p:cNvPr id="87" name="Shape 80"/>
          <p:cNvSpPr/>
          <p:nvPr/>
        </p:nvSpPr>
        <p:spPr>
          <a:xfrm>
            <a:off x="6295644" y="6267298"/>
            <a:ext cx="102870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88" name="Shape 81"/>
          <p:cNvSpPr/>
          <p:nvPr/>
        </p:nvSpPr>
        <p:spPr>
          <a:xfrm>
            <a:off x="6486754" y="4604004"/>
            <a:ext cx="629107" cy="267005"/>
          </a:xfrm>
          <a:prstGeom prst="roundRect">
            <a:avLst>
              <a:gd name="adj" fmla="val 48924"/>
            </a:avLst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89" name="Image 5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6572707" y="4680814"/>
            <a:ext cx="105156" cy="114300"/>
          </a:xfrm>
          <a:prstGeom prst="rect">
            <a:avLst/>
          </a:prstGeom>
        </p:spPr>
      </p:pic>
      <p:sp>
        <p:nvSpPr>
          <p:cNvPr id="90" name="Text 82"/>
          <p:cNvSpPr txBox="1"/>
          <p:nvPr/>
        </p:nvSpPr>
        <p:spPr>
          <a:xfrm>
            <a:off x="6715354" y="4604004"/>
            <a:ext cx="3913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Linux</a:t>
            </a:r>
            <a:endParaRPr lang="en-US" sz="900" dirty="0"/>
          </a:p>
        </p:txBody>
      </p:sp>
      <p:sp>
        <p:nvSpPr>
          <p:cNvPr id="91" name="Shape 83"/>
          <p:cNvSpPr/>
          <p:nvPr/>
        </p:nvSpPr>
        <p:spPr>
          <a:xfrm>
            <a:off x="7318858" y="5343754"/>
            <a:ext cx="2048256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92" name="Text 84"/>
          <p:cNvSpPr txBox="1"/>
          <p:nvPr/>
        </p:nvSpPr>
        <p:spPr>
          <a:xfrm>
            <a:off x="7509053" y="4604004"/>
            <a:ext cx="14630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타입 미정의 (Alpine)</a:t>
            </a:r>
            <a:endParaRPr lang="en-US" sz="1000" dirty="0"/>
          </a:p>
        </p:txBody>
      </p:sp>
      <p:sp>
        <p:nvSpPr>
          <p:cNvPr id="93" name="Text 85"/>
          <p:cNvSpPr txBox="1"/>
          <p:nvPr/>
        </p:nvSpPr>
        <p:spPr>
          <a:xfrm>
            <a:off x="7509053" y="4848149"/>
            <a:ext cx="198424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musl libc 환경에서 u_char 등 누락</a:t>
            </a:r>
            <a:endParaRPr lang="en-US" sz="900" dirty="0"/>
          </a:p>
        </p:txBody>
      </p:sp>
      <p:sp>
        <p:nvSpPr>
          <p:cNvPr id="94" name="Shape 86"/>
          <p:cNvSpPr/>
          <p:nvPr/>
        </p:nvSpPr>
        <p:spPr>
          <a:xfrm>
            <a:off x="9365285" y="5343754"/>
            <a:ext cx="2048256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95" name="Shape 87"/>
          <p:cNvSpPr/>
          <p:nvPr/>
        </p:nvSpPr>
        <p:spPr>
          <a:xfrm>
            <a:off x="9555480" y="4642409"/>
            <a:ext cx="1666951" cy="390449"/>
          </a:xfrm>
          <a:prstGeom prst="roundRect">
            <a:avLst>
              <a:gd name="adj" fmla="val 2284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Text 88"/>
          <p:cNvSpPr txBox="1"/>
          <p:nvPr/>
        </p:nvSpPr>
        <p:spPr>
          <a:xfrm>
            <a:off x="9612173" y="4680814"/>
            <a:ext cx="175747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typedef unsigned char u_char;</a:t>
            </a:r>
            <a:endParaRPr lang="en-US" sz="900" dirty="0"/>
          </a:p>
        </p:txBody>
      </p:sp>
      <p:sp>
        <p:nvSpPr>
          <p:cNvPr id="97" name="Text 89"/>
          <p:cNvSpPr txBox="1"/>
          <p:nvPr/>
        </p:nvSpPr>
        <p:spPr>
          <a:xfrm>
            <a:off x="9555480" y="5030114"/>
            <a:ext cx="18004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헤더 가드 내 타입 직접 정의</a:t>
            </a:r>
            <a:endParaRPr lang="en-US" sz="900" dirty="0"/>
          </a:p>
        </p:txBody>
      </p:sp>
      <p:sp>
        <p:nvSpPr>
          <p:cNvPr id="98" name="Text 90"/>
          <p:cNvSpPr txBox="1"/>
          <p:nvPr/>
        </p:nvSpPr>
        <p:spPr>
          <a:xfrm>
            <a:off x="7509053" y="5508346"/>
            <a:ext cx="1100023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crypt 함수 링크 (Embedded)</a:t>
            </a:r>
            <a:endParaRPr lang="en-US" sz="1000" dirty="0"/>
          </a:p>
        </p:txBody>
      </p:sp>
      <p:sp>
        <p:nvSpPr>
          <p:cNvPr id="99" name="Text 91"/>
          <p:cNvSpPr txBox="1"/>
          <p:nvPr/>
        </p:nvSpPr>
        <p:spPr>
          <a:xfrm>
            <a:off x="7509053" y="5957316"/>
            <a:ext cx="1743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uclibc 환경에서 심볼 미발견</a:t>
            </a:r>
            <a:endParaRPr lang="en-US" sz="900" dirty="0"/>
          </a:p>
        </p:txBody>
      </p:sp>
      <p:sp>
        <p:nvSpPr>
          <p:cNvPr id="100" name="Shape 92"/>
          <p:cNvSpPr/>
          <p:nvPr/>
        </p:nvSpPr>
        <p:spPr>
          <a:xfrm>
            <a:off x="9555480" y="5545836"/>
            <a:ext cx="609905" cy="219456"/>
          </a:xfrm>
          <a:prstGeom prst="roundRect">
            <a:avLst>
              <a:gd name="adj" fmla="val 72464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Text 93"/>
          <p:cNvSpPr txBox="1"/>
          <p:nvPr/>
        </p:nvSpPr>
        <p:spPr>
          <a:xfrm>
            <a:off x="9612173" y="5584241"/>
            <a:ext cx="571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-lcrypt</a:t>
            </a:r>
            <a:endParaRPr lang="en-US" sz="900" dirty="0"/>
          </a:p>
        </p:txBody>
      </p:sp>
      <p:sp>
        <p:nvSpPr>
          <p:cNvPr id="102" name="Text 94"/>
          <p:cNvSpPr txBox="1"/>
          <p:nvPr/>
        </p:nvSpPr>
        <p:spPr>
          <a:xfrm>
            <a:off x="9555480" y="5758891"/>
            <a:ext cx="188275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시 crypt 라이브러리 추가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" y="390449"/>
            <a:ext cx="75895" cy="761695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0354" y="485546"/>
            <a:ext cx="106116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Solaris (SunOS) 상세 대처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1000354" y="942746"/>
            <a:ext cx="106116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라이브러리 링크, 파일 시스템 호환성 및 환경 변수 설정 가이드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1754" y="1495044"/>
            <a:ext cx="3619195" cy="2048256"/>
          </a:xfrm>
          <a:prstGeom prst="roundRect">
            <a:avLst>
              <a:gd name="adj" fmla="val 249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241300" dist="1016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0898" y="1505102"/>
            <a:ext cx="3600907" cy="37124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780898" y="1867205"/>
            <a:ext cx="3600907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3602" y="1638605"/>
            <a:ext cx="95098" cy="9509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6307" y="1638605"/>
            <a:ext cx="95098" cy="9509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38098" y="1638605"/>
            <a:ext cx="95098" cy="9509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85900" y="1600200"/>
            <a:ext cx="75986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ld_error.log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33602" y="2029054"/>
            <a:ext cx="34107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$ make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33602" y="2299716"/>
            <a:ext cx="34107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B4F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Linking </a:t>
            </a:r>
            <a:r>
              <a:rPr lang="en-US" sz="1000" dirty="0" err="1">
                <a:solidFill>
                  <a:srgbClr val="A5B4F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eCAMS_svr</a:t>
            </a:r>
            <a:r>
              <a:rPr lang="en-US" sz="1000" dirty="0">
                <a:solidFill>
                  <a:srgbClr val="A5B4F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...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33602" y="2531974"/>
            <a:ext cx="34107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Undefined symbol: .socket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33602" y="2764231"/>
            <a:ext cx="34107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Undefined symbol: .gethostbyname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33602" y="2996489"/>
            <a:ext cx="34107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Undefined symbol: .inet_ntoa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33602" y="3267151"/>
            <a:ext cx="390448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ld: fatal: Symbol referencing errors. No output written to </a:t>
            </a:r>
            <a:r>
              <a:rPr lang="en-US" sz="900" dirty="0" err="1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eCAMS_svr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33602" y="3655771"/>
            <a:ext cx="34107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make: *** [</a:t>
            </a:r>
            <a:r>
              <a:rPr lang="en-US" sz="1000" dirty="0" err="1">
                <a:solidFill>
                  <a:srgbClr val="F87171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eCAMS_svr</a:t>
            </a:r>
            <a:r>
              <a:rPr lang="en-US" sz="1000" dirty="0">
                <a:solidFill>
                  <a:srgbClr val="F87171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] Error 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1754" y="3727094"/>
            <a:ext cx="3619195" cy="91440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241300" dist="1016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80898" y="3736238"/>
            <a:ext cx="3600907" cy="37124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780898" y="4098341"/>
            <a:ext cx="3600907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3602" y="3869741"/>
            <a:ext cx="95098" cy="9509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6307" y="3869741"/>
            <a:ext cx="95098" cy="9509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38098" y="3869741"/>
            <a:ext cx="95098" cy="9509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485900" y="3831336"/>
            <a:ext cx="114482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compile_error.log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933602" y="4260190"/>
            <a:ext cx="390448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error: 'struct statfs' has no member named 'f_bavail'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71754" y="4828946"/>
            <a:ext cx="3619195" cy="1543507"/>
          </a:xfrm>
          <a:prstGeom prst="roundRect">
            <a:avLst>
              <a:gd name="adj" fmla="val 3657"/>
            </a:avLst>
          </a:prstGeom>
          <a:solidFill>
            <a:srgbClr val="EA580C">
              <a:alpha val="10000"/>
            </a:srgbClr>
          </a:solidFill>
          <a:ln w="12700">
            <a:solidFill>
              <a:srgbClr val="EA580C">
                <a:alpha val="2000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162202" y="4990795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Solaris 특성</a:t>
            </a:r>
            <a:endParaRPr lang="en-US" sz="120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3602" y="5038344"/>
            <a:ext cx="152705" cy="152705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1123798" y="5296205"/>
            <a:ext cx="104881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함수가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2019910" y="5296205"/>
            <a:ext cx="12015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socket, nsl, xnet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933602" y="5296205"/>
            <a:ext cx="34674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 별도 라이브러리에 분산되어 있음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123798" y="5753405"/>
            <a:ext cx="324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369771" y="5753405"/>
            <a:ext cx="419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statfs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702613" y="5753405"/>
            <a:ext cx="324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대신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1948586" y="5753405"/>
            <a:ext cx="4882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statvfs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2350922" y="5753405"/>
            <a:ext cx="63550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권장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123798" y="6019495"/>
            <a:ext cx="21954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PATH의 빌드 도구가 오래됨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772254" y="1495044"/>
            <a:ext cx="6648602" cy="2085746"/>
          </a:xfrm>
          <a:prstGeom prst="roundRect">
            <a:avLst>
              <a:gd name="adj" fmla="val 200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42" name="Image 1" descr="preencoded.png"/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4972507" y="1735531"/>
            <a:ext cx="209398" cy="171907"/>
          </a:xfrm>
          <a:prstGeom prst="rect">
            <a:avLst/>
          </a:prstGeom>
        </p:spPr>
      </p:pic>
      <p:sp>
        <p:nvSpPr>
          <p:cNvPr id="43" name="Text 39"/>
          <p:cNvSpPr txBox="1"/>
          <p:nvPr/>
        </p:nvSpPr>
        <p:spPr>
          <a:xfrm>
            <a:off x="5257800" y="1695298"/>
            <a:ext cx="264627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B92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라이브러리 링크 추가</a:t>
            </a:r>
            <a:endParaRPr lang="en-US" sz="1300" dirty="0"/>
          </a:p>
        </p:txBody>
      </p:sp>
      <p:sp>
        <p:nvSpPr>
          <p:cNvPr id="44" name="Text 40"/>
          <p:cNvSpPr txBox="1"/>
          <p:nvPr/>
        </p:nvSpPr>
        <p:spPr>
          <a:xfrm>
            <a:off x="4972507" y="2061058"/>
            <a:ext cx="6439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Solaris에서는 소켓 통신을 위해 명시적으로 라이브러리를 링크해야 합니다.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4972507" y="2366467"/>
            <a:ext cx="3029407" cy="1009498"/>
          </a:xfrm>
          <a:prstGeom prst="roundRect">
            <a:avLst>
              <a:gd name="adj" fmla="val 5127"/>
            </a:avLst>
          </a:prstGeom>
          <a:solidFill>
            <a:srgbClr val="0F172A">
              <a:alpha val="60000"/>
            </a:srgbClr>
          </a:solidFill>
          <a:ln/>
        </p:spPr>
      </p:sp>
      <p:sp>
        <p:nvSpPr>
          <p:cNvPr id="46" name="Shape 42"/>
          <p:cNvSpPr/>
          <p:nvPr/>
        </p:nvSpPr>
        <p:spPr>
          <a:xfrm>
            <a:off x="4972507" y="2366467"/>
            <a:ext cx="28346" cy="100949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>
                <a:alpha val="0"/>
              </a:srgbClr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6714439" y="2366467"/>
            <a:ext cx="1295705" cy="200254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6771132" y="2403958"/>
            <a:ext cx="1406347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Makefile / Makefile.in</a:t>
            </a:r>
            <a:endParaRPr lang="en-US" sz="800" dirty="0"/>
          </a:p>
        </p:txBody>
      </p:sp>
      <p:sp>
        <p:nvSpPr>
          <p:cNvPr id="49" name="Text 45"/>
          <p:cNvSpPr txBox="1"/>
          <p:nvPr/>
        </p:nvSpPr>
        <p:spPr>
          <a:xfrm>
            <a:off x="5115154" y="2480767"/>
            <a:ext cx="29626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필수 라이브러리 추가</a:t>
            </a:r>
            <a:endParaRPr lang="en-US" sz="1000" dirty="0"/>
          </a:p>
        </p:txBody>
      </p:sp>
      <p:sp>
        <p:nvSpPr>
          <p:cNvPr id="50" name="Text 46"/>
          <p:cNvSpPr txBox="1"/>
          <p:nvPr/>
        </p:nvSpPr>
        <p:spPr>
          <a:xfrm>
            <a:off x="5115154" y="2674620"/>
            <a:ext cx="28913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LIBS = -lxnet -lnsl -lsocket -lresolv</a:t>
            </a:r>
            <a:endParaRPr lang="en-US" sz="1000" dirty="0"/>
          </a:p>
        </p:txBody>
      </p:sp>
      <p:sp>
        <p:nvSpPr>
          <p:cNvPr id="51" name="Shape 47"/>
          <p:cNvSpPr/>
          <p:nvPr/>
        </p:nvSpPr>
        <p:spPr>
          <a:xfrm>
            <a:off x="8191195" y="2366467"/>
            <a:ext cx="3029407" cy="1009498"/>
          </a:xfrm>
          <a:prstGeom prst="roundRect">
            <a:avLst>
              <a:gd name="adj" fmla="val 5127"/>
            </a:avLst>
          </a:prstGeom>
          <a:solidFill>
            <a:srgbClr val="0F172A">
              <a:alpha val="60000"/>
            </a:srgbClr>
          </a:solidFill>
          <a:ln/>
        </p:spPr>
      </p:sp>
      <p:sp>
        <p:nvSpPr>
          <p:cNvPr id="52" name="Shape 48"/>
          <p:cNvSpPr/>
          <p:nvPr/>
        </p:nvSpPr>
        <p:spPr>
          <a:xfrm>
            <a:off x="8191195" y="2366467"/>
            <a:ext cx="28346" cy="100949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>
                <a:alpha val="0"/>
              </a:srgbClr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10466222" y="2366467"/>
            <a:ext cx="761695" cy="200254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10523830" y="2403958"/>
            <a:ext cx="76901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configure.ac</a:t>
            </a:r>
            <a:endParaRPr lang="en-US" sz="800" dirty="0"/>
          </a:p>
        </p:txBody>
      </p:sp>
      <p:sp>
        <p:nvSpPr>
          <p:cNvPr id="55" name="Text 51"/>
          <p:cNvSpPr txBox="1"/>
          <p:nvPr/>
        </p:nvSpPr>
        <p:spPr>
          <a:xfrm>
            <a:off x="8334756" y="2480767"/>
            <a:ext cx="29626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자동 감지 매크로</a:t>
            </a:r>
            <a:endParaRPr lang="en-US" sz="1000" dirty="0"/>
          </a:p>
        </p:txBody>
      </p:sp>
      <p:sp>
        <p:nvSpPr>
          <p:cNvPr id="56" name="Text 52"/>
          <p:cNvSpPr txBox="1"/>
          <p:nvPr/>
        </p:nvSpPr>
        <p:spPr>
          <a:xfrm>
            <a:off x="8334756" y="2674620"/>
            <a:ext cx="288310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AC_CHECK_LIB(nsl, main)</a:t>
            </a:r>
            <a:endParaRPr lang="en-US" sz="1000" dirty="0"/>
          </a:p>
        </p:txBody>
      </p:sp>
      <p:sp>
        <p:nvSpPr>
          <p:cNvPr id="57" name="Text 53"/>
          <p:cNvSpPr txBox="1"/>
          <p:nvPr/>
        </p:nvSpPr>
        <p:spPr>
          <a:xfrm>
            <a:off x="8334756" y="2869387"/>
            <a:ext cx="288310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AC_CHECK_LIB(socket, main)</a:t>
            </a:r>
            <a:endParaRPr lang="en-US" sz="1000" dirty="0"/>
          </a:p>
        </p:txBody>
      </p:sp>
      <p:sp>
        <p:nvSpPr>
          <p:cNvPr id="58" name="Text 54"/>
          <p:cNvSpPr txBox="1"/>
          <p:nvPr/>
        </p:nvSpPr>
        <p:spPr>
          <a:xfrm>
            <a:off x="8334756" y="3063240"/>
            <a:ext cx="288310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AC_CHECK_LIB(xnet, main)</a:t>
            </a:r>
            <a:endParaRPr lang="en-US" sz="1000" dirty="0"/>
          </a:p>
        </p:txBody>
      </p:sp>
      <p:sp>
        <p:nvSpPr>
          <p:cNvPr id="59" name="Shape 55"/>
          <p:cNvSpPr/>
          <p:nvPr/>
        </p:nvSpPr>
        <p:spPr>
          <a:xfrm>
            <a:off x="4772254" y="3762756"/>
            <a:ext cx="3228746" cy="3057754"/>
          </a:xfrm>
          <a:prstGeom prst="roundRect">
            <a:avLst>
              <a:gd name="adj" fmla="val 93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60" name="Image 2" descr="preencoded.png"/>
          <p:cNvPicPr>
            <a:picLocks noChangeAspect="1"/>
          </p:cNvPicPr>
          <p:nvPr/>
        </p:nvPicPr>
        <p:blipFill>
          <a:blip r:embed="rId5"/>
          <a:srcRect t="-842" b="-842"/>
          <a:stretch/>
        </p:blipFill>
        <p:spPr>
          <a:xfrm>
            <a:off x="4972507" y="4002329"/>
            <a:ext cx="190195" cy="171907"/>
          </a:xfrm>
          <a:prstGeom prst="rect">
            <a:avLst/>
          </a:prstGeom>
        </p:spPr>
      </p:pic>
      <p:sp>
        <p:nvSpPr>
          <p:cNvPr id="61" name="Text 56"/>
          <p:cNvSpPr txBox="1"/>
          <p:nvPr/>
        </p:nvSpPr>
        <p:spPr>
          <a:xfrm>
            <a:off x="5238598" y="3963010"/>
            <a:ext cx="24487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B92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시스템 호환성 (statvfs)</a:t>
            </a:r>
            <a:endParaRPr lang="en-US" sz="1300" dirty="0"/>
          </a:p>
        </p:txBody>
      </p:sp>
      <p:sp>
        <p:nvSpPr>
          <p:cNvPr id="62" name="Text 57"/>
          <p:cNvSpPr txBox="1"/>
          <p:nvPr/>
        </p:nvSpPr>
        <p:spPr>
          <a:xfrm>
            <a:off x="4972507" y="4328770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디스크 용량 확인 함수 호환성 처리</a:t>
            </a:r>
            <a:endParaRPr lang="en-US" sz="1000" dirty="0"/>
          </a:p>
        </p:txBody>
      </p:sp>
      <p:sp>
        <p:nvSpPr>
          <p:cNvPr id="63" name="Shape 58"/>
          <p:cNvSpPr/>
          <p:nvPr/>
        </p:nvSpPr>
        <p:spPr>
          <a:xfrm>
            <a:off x="4972507" y="4633265"/>
            <a:ext cx="2829154" cy="1981505"/>
          </a:xfrm>
          <a:prstGeom prst="roundRect">
            <a:avLst>
              <a:gd name="adj" fmla="val 1331"/>
            </a:avLst>
          </a:prstGeom>
          <a:solidFill>
            <a:srgbClr val="0F172A">
              <a:alpha val="60000"/>
            </a:srgbClr>
          </a:solidFill>
          <a:ln/>
        </p:spPr>
      </p:sp>
      <p:sp>
        <p:nvSpPr>
          <p:cNvPr id="64" name="Shape 59"/>
          <p:cNvSpPr/>
          <p:nvPr/>
        </p:nvSpPr>
        <p:spPr>
          <a:xfrm>
            <a:off x="4972507" y="4633265"/>
            <a:ext cx="28346" cy="1981505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>
                <a:alpha val="0"/>
              </a:srgbClr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994246" y="4633265"/>
            <a:ext cx="809244" cy="200254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7050938" y="4671670"/>
            <a:ext cx="82753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svrsrc/util.c</a:t>
            </a:r>
            <a:endParaRPr lang="en-US" sz="800" dirty="0"/>
          </a:p>
        </p:txBody>
      </p:sp>
      <p:sp>
        <p:nvSpPr>
          <p:cNvPr id="67" name="Text 62"/>
          <p:cNvSpPr txBox="1"/>
          <p:nvPr/>
        </p:nvSpPr>
        <p:spPr>
          <a:xfrm>
            <a:off x="5115154" y="4747565"/>
            <a:ext cx="26755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8BF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#ifdef</a:t>
            </a:r>
            <a:r>
              <a:rPr lang="en-US" sz="1000" dirty="0">
                <a:solidFill>
                  <a:srgbClr val="FCD34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__sun</a:t>
            </a:r>
            <a:endParaRPr lang="en-US" sz="1000" dirty="0"/>
          </a:p>
        </p:txBody>
      </p:sp>
      <p:sp>
        <p:nvSpPr>
          <p:cNvPr id="68" name="Text 63"/>
          <p:cNvSpPr txBox="1"/>
          <p:nvPr/>
        </p:nvSpPr>
        <p:spPr>
          <a:xfrm>
            <a:off x="5115154" y="4942332"/>
            <a:ext cx="26755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E7B7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#include &lt;sys/statvfs.h&gt;</a:t>
            </a:r>
            <a:endParaRPr lang="en-US" sz="1000" dirty="0"/>
          </a:p>
        </p:txBody>
      </p:sp>
      <p:sp>
        <p:nvSpPr>
          <p:cNvPr id="69" name="Text 64"/>
          <p:cNvSpPr txBox="1"/>
          <p:nvPr/>
        </p:nvSpPr>
        <p:spPr>
          <a:xfrm>
            <a:off x="5115154" y="5136185"/>
            <a:ext cx="26755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struct statvfs st;</a:t>
            </a:r>
            <a:endParaRPr lang="en-US" sz="1000" dirty="0"/>
          </a:p>
        </p:txBody>
      </p:sp>
      <p:sp>
        <p:nvSpPr>
          <p:cNvPr id="70" name="Text 65"/>
          <p:cNvSpPr txBox="1"/>
          <p:nvPr/>
        </p:nvSpPr>
        <p:spPr>
          <a:xfrm>
            <a:off x="5115154" y="5330952"/>
            <a:ext cx="26755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statvfs(path, &amp;st);</a:t>
            </a:r>
            <a:endParaRPr lang="en-US" sz="1000" dirty="0"/>
          </a:p>
        </p:txBody>
      </p:sp>
      <p:sp>
        <p:nvSpPr>
          <p:cNvPr id="71" name="Text 66"/>
          <p:cNvSpPr txBox="1"/>
          <p:nvPr/>
        </p:nvSpPr>
        <p:spPr>
          <a:xfrm>
            <a:off x="5115154" y="5524805"/>
            <a:ext cx="26755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8BF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#else</a:t>
            </a:r>
            <a:endParaRPr lang="en-US" sz="1000" dirty="0"/>
          </a:p>
        </p:txBody>
      </p:sp>
      <p:sp>
        <p:nvSpPr>
          <p:cNvPr id="72" name="Text 67"/>
          <p:cNvSpPr txBox="1"/>
          <p:nvPr/>
        </p:nvSpPr>
        <p:spPr>
          <a:xfrm>
            <a:off x="5115154" y="5719572"/>
            <a:ext cx="26755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E7B7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#include &lt;sys/vfs.h&gt;</a:t>
            </a:r>
            <a:endParaRPr lang="en-US" sz="1000" dirty="0"/>
          </a:p>
        </p:txBody>
      </p:sp>
      <p:sp>
        <p:nvSpPr>
          <p:cNvPr id="73" name="Text 68"/>
          <p:cNvSpPr txBox="1"/>
          <p:nvPr/>
        </p:nvSpPr>
        <p:spPr>
          <a:xfrm>
            <a:off x="5115154" y="5913425"/>
            <a:ext cx="26755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struct statfs st;</a:t>
            </a:r>
            <a:endParaRPr lang="en-US" sz="1000" dirty="0"/>
          </a:p>
        </p:txBody>
      </p:sp>
      <p:sp>
        <p:nvSpPr>
          <p:cNvPr id="74" name="Text 69"/>
          <p:cNvSpPr txBox="1"/>
          <p:nvPr/>
        </p:nvSpPr>
        <p:spPr>
          <a:xfrm>
            <a:off x="5115154" y="6108192"/>
            <a:ext cx="26755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statfs(path, &amp;st);</a:t>
            </a:r>
            <a:endParaRPr lang="en-US" sz="1000" dirty="0"/>
          </a:p>
        </p:txBody>
      </p:sp>
      <p:sp>
        <p:nvSpPr>
          <p:cNvPr id="75" name="Text 70"/>
          <p:cNvSpPr txBox="1"/>
          <p:nvPr/>
        </p:nvSpPr>
        <p:spPr>
          <a:xfrm>
            <a:off x="5115154" y="6302959"/>
            <a:ext cx="26755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8BF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#endif</a:t>
            </a:r>
            <a:endParaRPr lang="en-US" sz="1000" dirty="0"/>
          </a:p>
        </p:txBody>
      </p:sp>
      <p:sp>
        <p:nvSpPr>
          <p:cNvPr id="76" name="Shape 71"/>
          <p:cNvSpPr/>
          <p:nvPr/>
        </p:nvSpPr>
        <p:spPr>
          <a:xfrm>
            <a:off x="8191195" y="3762756"/>
            <a:ext cx="3228746" cy="3057754"/>
          </a:xfrm>
          <a:prstGeom prst="roundRect">
            <a:avLst>
              <a:gd name="adj" fmla="val 93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77" name="Image 3" descr="preencoded.png"/>
          <p:cNvPicPr>
            <a:picLocks noChangeAspect="1"/>
          </p:cNvPicPr>
          <p:nvPr/>
        </p:nvPicPr>
        <p:blipFill>
          <a:blip r:embed="rId6"/>
          <a:srcRect t="-842" b="-842"/>
          <a:stretch/>
        </p:blipFill>
        <p:spPr>
          <a:xfrm>
            <a:off x="8391449" y="4002329"/>
            <a:ext cx="190195" cy="171907"/>
          </a:xfrm>
          <a:prstGeom prst="rect">
            <a:avLst/>
          </a:prstGeom>
        </p:spPr>
      </p:pic>
      <p:sp>
        <p:nvSpPr>
          <p:cNvPr id="78" name="Text 72"/>
          <p:cNvSpPr txBox="1"/>
          <p:nvPr/>
        </p:nvSpPr>
        <p:spPr>
          <a:xfrm>
            <a:off x="8658454" y="3963010"/>
            <a:ext cx="192755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B92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환경 변수 (PATH)</a:t>
            </a:r>
            <a:endParaRPr lang="en-US" sz="1300" dirty="0"/>
          </a:p>
        </p:txBody>
      </p:sp>
      <p:sp>
        <p:nvSpPr>
          <p:cNvPr id="79" name="Text 73"/>
          <p:cNvSpPr txBox="1"/>
          <p:nvPr/>
        </p:nvSpPr>
        <p:spPr>
          <a:xfrm>
            <a:off x="8391449" y="4328770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 준수 도구 우선 순위 설정</a:t>
            </a:r>
            <a:endParaRPr lang="en-US" sz="1000" dirty="0"/>
          </a:p>
        </p:txBody>
      </p:sp>
      <p:sp>
        <p:nvSpPr>
          <p:cNvPr id="80" name="Shape 74"/>
          <p:cNvSpPr/>
          <p:nvPr/>
        </p:nvSpPr>
        <p:spPr>
          <a:xfrm>
            <a:off x="8391449" y="4633265"/>
            <a:ext cx="2829154" cy="1981505"/>
          </a:xfrm>
          <a:prstGeom prst="roundRect">
            <a:avLst>
              <a:gd name="adj" fmla="val 1331"/>
            </a:avLst>
          </a:prstGeom>
          <a:solidFill>
            <a:srgbClr val="0F172A">
              <a:alpha val="60000"/>
            </a:srgbClr>
          </a:solidFill>
          <a:ln/>
        </p:spPr>
      </p:sp>
      <p:sp>
        <p:nvSpPr>
          <p:cNvPr id="81" name="Shape 75"/>
          <p:cNvSpPr/>
          <p:nvPr/>
        </p:nvSpPr>
        <p:spPr>
          <a:xfrm>
            <a:off x="8391449" y="4633265"/>
            <a:ext cx="28346" cy="1981505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>
                <a:alpha val="0"/>
              </a:srgbClr>
            </a:solidFill>
            <a:prstDash val="solid"/>
          </a:ln>
        </p:spPr>
      </p:sp>
      <p:sp>
        <p:nvSpPr>
          <p:cNvPr id="82" name="Shape 76"/>
          <p:cNvSpPr/>
          <p:nvPr/>
        </p:nvSpPr>
        <p:spPr>
          <a:xfrm>
            <a:off x="9720986" y="4633265"/>
            <a:ext cx="1505102" cy="200254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Text 77"/>
          <p:cNvSpPr txBox="1"/>
          <p:nvPr/>
        </p:nvSpPr>
        <p:spPr>
          <a:xfrm>
            <a:off x="9777679" y="4671670"/>
            <a:ext cx="1655064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~/.profile or build script</a:t>
            </a:r>
            <a:endParaRPr lang="en-US" sz="800" dirty="0"/>
          </a:p>
        </p:txBody>
      </p:sp>
      <p:sp>
        <p:nvSpPr>
          <p:cNvPr id="84" name="Text 78"/>
          <p:cNvSpPr txBox="1"/>
          <p:nvPr/>
        </p:nvSpPr>
        <p:spPr>
          <a:xfrm>
            <a:off x="8534095" y="4747565"/>
            <a:ext cx="306049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XPG4(X/Open Portability Guide) 도구 우선</a:t>
            </a:r>
            <a:endParaRPr lang="en-US" sz="1000" dirty="0"/>
          </a:p>
        </p:txBody>
      </p:sp>
      <p:sp>
        <p:nvSpPr>
          <p:cNvPr id="85" name="Text 79"/>
          <p:cNvSpPr txBox="1"/>
          <p:nvPr/>
        </p:nvSpPr>
        <p:spPr>
          <a:xfrm>
            <a:off x="8534095" y="5136185"/>
            <a:ext cx="26755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export PATH=/usr/xpg4/bin:$PATH</a:t>
            </a:r>
            <a:endParaRPr lang="en-US" sz="1000" dirty="0"/>
          </a:p>
        </p:txBody>
      </p:sp>
      <p:sp>
        <p:nvSpPr>
          <p:cNvPr id="86" name="Text 80"/>
          <p:cNvSpPr txBox="1"/>
          <p:nvPr/>
        </p:nvSpPr>
        <p:spPr>
          <a:xfrm>
            <a:off x="8534095" y="5482742"/>
            <a:ext cx="26755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configure 실행 시 컴파일러 지정</a:t>
            </a:r>
            <a:endParaRPr lang="en-US" sz="1000" dirty="0"/>
          </a:p>
        </p:txBody>
      </p:sp>
      <p:sp>
        <p:nvSpPr>
          <p:cNvPr id="87" name="Text 81"/>
          <p:cNvSpPr txBox="1"/>
          <p:nvPr/>
        </p:nvSpPr>
        <p:spPr>
          <a:xfrm>
            <a:off x="8534095" y="5677510"/>
            <a:ext cx="273314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./configure CC=gcc CFLAGS="-g -m64"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" y="390449"/>
            <a:ext cx="75895" cy="761695"/>
          </a:xfrm>
          <a:prstGeom prst="rect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0354" y="580644"/>
            <a:ext cx="106116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AIX · HP-UX 상세 대처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1000354" y="1037844"/>
            <a:ext cx="106116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상용 UNIX 시스템별 컴파일러 옵션 설정 및 라이브러리 링크 가이드입니다.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23544" y="1686154"/>
            <a:ext cx="4943246" cy="4591202"/>
          </a:xfrm>
          <a:prstGeom prst="roundRect">
            <a:avLst>
              <a:gd name="adj" fmla="val 66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14646" y="1314907"/>
            <a:ext cx="1524305" cy="1524305"/>
          </a:xfrm>
          <a:prstGeom prst="rect">
            <a:avLst/>
          </a:prstGeom>
          <a:solidFill>
            <a:srgbClr val="6366F1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8098" y="2000707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312E81">
              <a:alpha val="30000"/>
            </a:srgbClr>
          </a:solidFill>
          <a:ln w="12700">
            <a:solidFill>
              <a:srgbClr val="3730A3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90802" y="2152498"/>
            <a:ext cx="267005" cy="26700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962302" y="2133295"/>
            <a:ext cx="189372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AIX (IBM XL C)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962302" y="2438705"/>
            <a:ext cx="18406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B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 V 계열 호환성 주의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238098" y="3066898"/>
            <a:ext cx="57607" cy="57607"/>
          </a:xfrm>
          <a:prstGeom prst="ellipse">
            <a:avLst/>
          </a:prstGeom>
          <a:solidFill>
            <a:srgbClr val="818C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410005" y="2991002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컴파일러 및 C99 설정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238098" y="3258007"/>
            <a:ext cx="44293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implicit declaration 경고 방지를 위해 확장 옵션 필요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429207" y="3524098"/>
            <a:ext cx="4123944" cy="371246"/>
          </a:xfrm>
          <a:prstGeom prst="roundRect">
            <a:avLst>
              <a:gd name="adj" fmla="val 3789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552651" y="3629254"/>
            <a:ext cx="37819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./configure CC=xlc CFLAGS="-qlanglvl=extc99 -g"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238098" y="4195267"/>
            <a:ext cx="57607" cy="57607"/>
          </a:xfrm>
          <a:prstGeom prst="ellipse">
            <a:avLst/>
          </a:prstGeom>
          <a:solidFill>
            <a:srgbClr val="818C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410005" y="411845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32bit 아키텍처 강제 빌드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238098" y="4385462"/>
            <a:ext cx="44293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64bit 환경에서 32bit 라이브러리 링크 시 오류 해결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429207" y="4652467"/>
            <a:ext cx="4123944" cy="371246"/>
          </a:xfrm>
          <a:prstGeom prst="roundRect">
            <a:avLst>
              <a:gd name="adj" fmla="val 3789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552651" y="4756709"/>
            <a:ext cx="37060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./configure CC="xlc -q32" LDFLAGS="-L/usr/lib"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238098" y="5322722"/>
            <a:ext cx="57607" cy="57607"/>
          </a:xfrm>
          <a:prstGeom prst="ellipse">
            <a:avLst/>
          </a:prstGeom>
          <a:solidFill>
            <a:srgbClr val="818C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410005" y="5246827"/>
            <a:ext cx="28968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링커 오류 (Symbol Not Found)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238098" y="5512918"/>
            <a:ext cx="66010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AIX 링커는 심볼 참조 순서에 민감하므로</a:t>
            </a:r>
            <a:r>
              <a:rPr lang="en-US" sz="1000" dirty="0">
                <a:solidFill>
                  <a:srgbClr val="A5B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라이브러리 순서</a:t>
            </a: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확인하고,</a:t>
            </a:r>
            <a:r>
              <a:rPr lang="en-US" sz="1000" dirty="0">
                <a:solidFill>
                  <a:srgbClr val="A5B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nm</a:t>
            </a: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명령어로 심볼 내보내기 여부를 점검해야 합니다.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324905" y="1686154"/>
            <a:ext cx="4943246" cy="4591202"/>
          </a:xfrm>
          <a:prstGeom prst="roundRect">
            <a:avLst>
              <a:gd name="adj" fmla="val 66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638544" y="2000707"/>
            <a:ext cx="571500" cy="571500"/>
          </a:xfrm>
          <a:prstGeom prst="roundRect">
            <a:avLst>
              <a:gd name="adj" fmla="val 32000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791249" y="2152498"/>
            <a:ext cx="267005" cy="267005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7362749" y="2133295"/>
            <a:ext cx="249448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HP-UX (HP ANSI C)</a:t>
            </a:r>
            <a:endParaRPr lang="en-US" sz="1800" dirty="0"/>
          </a:p>
        </p:txBody>
      </p:sp>
      <p:sp>
        <p:nvSpPr>
          <p:cNvPr id="30" name="Text 26"/>
          <p:cNvSpPr txBox="1"/>
          <p:nvPr/>
        </p:nvSpPr>
        <p:spPr>
          <a:xfrm>
            <a:off x="7362749" y="2438705"/>
            <a:ext cx="21899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PA-RISC / Itanium 아키텍처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6810451" y="2991002"/>
            <a:ext cx="1904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ANSI C 호환 모드 활성화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6638544" y="3258007"/>
            <a:ext cx="44293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'syntax error before inline' 등 문법 오류 해결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6829654" y="3524098"/>
            <a:ext cx="4123944" cy="371246"/>
          </a:xfrm>
          <a:prstGeom prst="roundRect">
            <a:avLst>
              <a:gd name="adj" fmla="val 3789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953098" y="3629254"/>
            <a:ext cx="34674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./configure CC="cc -Ae" CFLAGS="-g +DA2.0W"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6810451" y="4118458"/>
            <a:ext cx="19229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네트워크 라이브러리</a:t>
            </a:r>
            <a:endParaRPr lang="en-US" sz="1200" dirty="0"/>
          </a:p>
        </p:txBody>
      </p:sp>
      <p:sp>
        <p:nvSpPr>
          <p:cNvPr id="36" name="Text 32"/>
          <p:cNvSpPr txBox="1"/>
          <p:nvPr/>
        </p:nvSpPr>
        <p:spPr>
          <a:xfrm>
            <a:off x="6638544" y="4385462"/>
            <a:ext cx="45061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socket 함수 등 네트워크 관련 심볼 링크 실패 시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6829654" y="4652467"/>
            <a:ext cx="4123944" cy="371246"/>
          </a:xfrm>
          <a:prstGeom prst="roundRect">
            <a:avLst>
              <a:gd name="adj" fmla="val 3789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6953098" y="4756709"/>
            <a:ext cx="24368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LIBS="-lxnet" # Makefile에 추가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6810451" y="5246827"/>
            <a:ext cx="17026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헤더 및 경로 주의사항</a:t>
            </a:r>
            <a:endParaRPr lang="en-US" sz="1200" dirty="0"/>
          </a:p>
        </p:txBody>
      </p:sp>
      <p:sp>
        <p:nvSpPr>
          <p:cNvPr id="40" name="Text 36"/>
          <p:cNvSpPr txBox="1"/>
          <p:nvPr/>
        </p:nvSpPr>
        <p:spPr>
          <a:xfrm>
            <a:off x="6638544" y="5512918"/>
            <a:ext cx="50008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 헤더 위치가 다를 수 있으므로/usr/include외의 경로 확인이 필요하며, 64bit 빌드 시+DA2.0W옵션을 반드시 명시해야 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" y="390449"/>
            <a:ext cx="75895" cy="761695"/>
          </a:xfrm>
          <a:prstGeom prst="rect">
            <a:avLst/>
          </a:prstGeom>
          <a:solidFill>
            <a:srgbClr val="F43F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0354" y="580644"/>
            <a:ext cx="106116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Configure 스크립트 오류 해결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1000354" y="1037844"/>
            <a:ext cx="105348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Autoconf 버전 불일치, 매크로 누락 및 Cache 관련 문제 진단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1754" y="1800454"/>
            <a:ext cx="5134356" cy="4638751"/>
          </a:xfrm>
          <a:prstGeom prst="roundRect">
            <a:avLst>
              <a:gd name="adj" fmla="val 64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0898" y="2477110"/>
            <a:ext cx="5115154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9498" y="2048256"/>
            <a:ext cx="190195" cy="1901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14907" y="2000707"/>
            <a:ext cx="231709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구성 및 버전 오류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227271" y="2076602"/>
            <a:ext cx="15243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config.log / autoconf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0898" y="2486254"/>
          <a:ext cx="5114239" cy="3943808"/>
        </p:xfrm>
        <a:graphic>
          <a:graphicData uri="http://schemas.openxmlformats.org/drawingml/2006/table">
            <a:tbl>
              <a:tblPr/>
              <a:tblGrid>
                <a:gridCol w="1278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5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0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859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오류 유형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증상 (Error Message)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해결 방안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59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B718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Version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버전 불일치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69" dirty="0">
                          <a:solidFill>
                            <a:srgbClr val="E2E8F0"/>
                          </a:solidFill>
                          <a:latin typeface="Monaco" pitchFamily="34" charset="0"/>
                          <a:ea typeface="Monaco" pitchFamily="34" charset="-122"/>
                          <a:cs typeface="Monaco" pitchFamily="34" charset="-120"/>
                        </a:rPr>
                        <a:t>error: Autoconf version 2.61 or higher is required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 Autoconf 업그레이드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</a:t>
                      </a:r>
                      <a:r>
                        <a:rPr lang="en-US" sz="893" dirty="0">
                          <a:solidFill>
                            <a:srgbClr val="E2E8F0"/>
                          </a:solidFill>
                          <a:latin typeface="Monaco" pitchFamily="34" charset="0"/>
                          <a:ea typeface="Monaco" pitchFamily="34" charset="-122"/>
                          <a:cs typeface="Monaco" pitchFamily="34" charset="-120"/>
                        </a:rPr>
                        <a:t>AC_PREREQ(2.59)</a:t>
                      </a:r>
                      <a:r>
                        <a:rPr lang="en-US" sz="105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로 하향 조정 (configure.ac)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59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DBA7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Macro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매크로 미정의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69" dirty="0">
                          <a:solidFill>
                            <a:srgbClr val="E2E8F0"/>
                          </a:solidFill>
                          <a:latin typeface="Monaco" pitchFamily="34" charset="0"/>
                          <a:ea typeface="Monaco" pitchFamily="34" charset="-122"/>
                          <a:cs typeface="Monaco" pitchFamily="34" charset="-120"/>
                        </a:rPr>
                        <a:t>possibly undefined macro: PSG_MODULE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</a:t>
                      </a:r>
                      <a:r>
                        <a:rPr lang="en-US" sz="893" dirty="0">
                          <a:solidFill>
                            <a:srgbClr val="E2E8F0"/>
                          </a:solidFill>
                          <a:latin typeface="Monaco" pitchFamily="34" charset="0"/>
                          <a:ea typeface="Monaco" pitchFamily="34" charset="-122"/>
                          <a:cs typeface="Monaco" pitchFamily="34" charset="-120"/>
                        </a:rPr>
                        <a:t>aclocal -I config</a:t>
                      </a:r>
                      <a:r>
                        <a:rPr lang="en-US" sz="105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재실행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 m4 파일 경로 확인 및 추가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59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Install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도구 미설치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69" dirty="0">
                          <a:solidFill>
                            <a:srgbClr val="E2E8F0"/>
                          </a:solidFill>
                          <a:latin typeface="Monaco" pitchFamily="34" charset="0"/>
                          <a:ea typeface="Monaco" pitchFamily="34" charset="-122"/>
                          <a:cs typeface="Monaco" pitchFamily="34" charset="-120"/>
                        </a:rPr>
                        <a:t>autoconf: command not found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패키지 설치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893" dirty="0">
                          <a:solidFill>
                            <a:srgbClr val="E2E8F0"/>
                          </a:solidFill>
                          <a:latin typeface="Monaco" pitchFamily="34" charset="0"/>
                          <a:ea typeface="Monaco" pitchFamily="34" charset="-122"/>
                          <a:cs typeface="Monaco" pitchFamily="34" charset="-120"/>
                        </a:rPr>
                        <a:t>apt-get install autoconf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6286500" y="1800454"/>
            <a:ext cx="5134356" cy="4638751"/>
          </a:xfrm>
          <a:prstGeom prst="roundRect">
            <a:avLst>
              <a:gd name="adj" fmla="val 64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95644" y="2477110"/>
            <a:ext cx="5115154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24244" y="2048256"/>
            <a:ext cx="190195" cy="19019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29654" y="2000707"/>
            <a:ext cx="24030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상태 및 Cache 오류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0153498" y="2076602"/>
            <a:ext cx="111465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runtime / cache</a:t>
            </a:r>
            <a:endParaRPr lang="en-US" sz="9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5644" y="2486254"/>
          <a:ext cx="5114239" cy="3801160"/>
        </p:xfrm>
        <a:graphic>
          <a:graphicData uri="http://schemas.openxmlformats.org/drawingml/2006/table">
            <a:tbl>
              <a:tblPr/>
              <a:tblGrid>
                <a:gridCol w="1278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5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0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02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오류 유형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증상 (Error Message)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해결 방안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2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DE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Cache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캐시 오염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69" dirty="0">
                          <a:solidFill>
                            <a:srgbClr val="E2E8F0"/>
                          </a:solidFill>
                          <a:latin typeface="Monaco" pitchFamily="34" charset="0"/>
                          <a:ea typeface="Monaco" pitchFamily="34" charset="-122"/>
                          <a:cs typeface="Monaco" pitchFamily="34" charset="-120"/>
                        </a:rPr>
                        <a:t>cannot compute suffix of object files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캐시 파일 강제 삭제 후 재시도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893" dirty="0">
                          <a:solidFill>
                            <a:srgbClr val="E2E8F0"/>
                          </a:solidFill>
                          <a:latin typeface="Monaco" pitchFamily="34" charset="0"/>
                          <a:ea typeface="Monaco" pitchFamily="34" charset="-122"/>
                          <a:cs typeface="Monaco" pitchFamily="34" charset="-120"/>
                        </a:rPr>
                        <a:t>rm -f config.cache config.status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02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DE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Detect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플랫폼 감지 실패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69" dirty="0">
                          <a:solidFill>
                            <a:srgbClr val="E2E8F0"/>
                          </a:solidFill>
                          <a:latin typeface="Monaco" pitchFamily="34" charset="0"/>
                          <a:ea typeface="Monaco" pitchFamily="34" charset="-122"/>
                          <a:cs typeface="Monaco" pitchFamily="34" charset="-120"/>
                        </a:rPr>
                        <a:t>configure: error: cannot guess build type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</a:t>
                      </a:r>
                      <a:r>
                        <a:rPr lang="en-US" sz="893" dirty="0">
                          <a:solidFill>
                            <a:srgbClr val="E2E8F0"/>
                          </a:solidFill>
                          <a:latin typeface="Monaco" pitchFamily="34" charset="0"/>
                          <a:ea typeface="Monaco" pitchFamily="34" charset="-122"/>
                          <a:cs typeface="Monaco" pitchFamily="34" charset="-120"/>
                        </a:rPr>
                        <a:t>config.guess</a:t>
                      </a:r>
                      <a:r>
                        <a:rPr lang="en-US" sz="105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최신화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</a:t>
                      </a:r>
                      <a:r>
                        <a:rPr lang="en-US" sz="893" dirty="0">
                          <a:solidFill>
                            <a:srgbClr val="E2E8F0"/>
                          </a:solidFill>
                          <a:latin typeface="Monaco" pitchFamily="34" charset="0"/>
                          <a:ea typeface="Monaco" pitchFamily="34" charset="-122"/>
                          <a:cs typeface="Monaco" pitchFamily="34" charset="-120"/>
                        </a:rPr>
                        <a:t>--build=x86_64-linux</a:t>
                      </a:r>
                      <a:r>
                        <a:rPr lang="en-US" sz="105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명시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02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Perms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권한 오류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69" dirty="0">
                          <a:solidFill>
                            <a:srgbClr val="E2E8F0"/>
                          </a:solidFill>
                          <a:latin typeface="Monaco" pitchFamily="34" charset="0"/>
                          <a:ea typeface="Monaco" pitchFamily="34" charset="-122"/>
                          <a:cs typeface="Monaco" pitchFamily="34" charset="-120"/>
                        </a:rPr>
                        <a:t>./configure: Permission denied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실행 권한 부여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893" dirty="0">
                          <a:solidFill>
                            <a:srgbClr val="E2E8F0"/>
                          </a:solidFill>
                          <a:latin typeface="Monaco" pitchFamily="34" charset="0"/>
                          <a:ea typeface="Monaco" pitchFamily="34" charset="-122"/>
                          <a:cs typeface="Monaco" pitchFamily="34" charset="-120"/>
                        </a:rPr>
                        <a:t>chmod +x configure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" y="390449"/>
            <a:ext cx="75895" cy="761695"/>
          </a:xfrm>
          <a:prstGeom prst="rect">
            <a:avLst/>
          </a:prstGeom>
          <a:solidFill>
            <a:srgbClr val="6366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0354" y="485546"/>
            <a:ext cx="106116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링커 오류 · Warning 해결 요약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1000354" y="942746"/>
            <a:ext cx="106116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라이브러리 순서 조정 및 코드 현대화를 통한 빌드 안정성 확보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1754" y="1628546"/>
            <a:ext cx="5086807" cy="1285646"/>
          </a:xfrm>
          <a:prstGeom prst="roundRect">
            <a:avLst>
              <a:gd name="adj" fmla="val 632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0898" y="1638605"/>
            <a:ext cx="5067605" cy="33375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780898" y="1963217"/>
            <a:ext cx="506760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1911" r="-1911"/>
          <a:stretch/>
        </p:blipFill>
        <p:spPr>
          <a:xfrm>
            <a:off x="933602" y="1742846"/>
            <a:ext cx="133502" cy="1143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43000" y="1714500"/>
            <a:ext cx="189372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Makefile 수정 (라이브러리 순서)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581498" y="1742846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6366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33602" y="2152498"/>
            <a:ext cx="324246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Link Order: Caller(Main) -&gt; Callee(Libs)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33602" y="2152498"/>
            <a:ext cx="5420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eCAMS_svr</a:t>
            </a: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: object/*.o $(CC) -o </a:t>
            </a:r>
            <a:r>
              <a:rPr lang="en-US" sz="1000" dirty="0" err="1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eCAMS_svr</a:t>
            </a: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 \ object/</a:t>
            </a:r>
            <a:r>
              <a:rPr lang="en-US" sz="1000" dirty="0" err="1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eCAMS_svr.o</a:t>
            </a: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 \ object/AES.o \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4785709" y="2421026"/>
            <a:ext cx="139903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사용하는 모듈 먼저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933602" y="2567635"/>
            <a:ext cx="20857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object/md5.o \ object/*.o \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2681021" y="2567635"/>
            <a:ext cx="70043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84F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$(CFLAGS)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3264408" y="2567635"/>
            <a:ext cx="1435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\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3328416" y="2567635"/>
            <a:ext cx="54406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$(LIBS)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3781958" y="2672139"/>
            <a:ext cx="203728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 시스템 라이브러리는 맨 뒤에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771754" y="3098902"/>
            <a:ext cx="5086807" cy="1495044"/>
          </a:xfrm>
          <a:prstGeom prst="roundRect">
            <a:avLst>
              <a:gd name="adj" fmla="val 467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80898" y="3108046"/>
            <a:ext cx="5067605" cy="33375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20"/>
          <p:cNvSpPr/>
          <p:nvPr/>
        </p:nvSpPr>
        <p:spPr>
          <a:xfrm>
            <a:off x="780898" y="3432658"/>
            <a:ext cx="506760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933602" y="3213202"/>
            <a:ext cx="114300" cy="11430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123798" y="3183941"/>
            <a:ext cx="20976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 심볼 해결 (Header vs Source)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5581498" y="3213202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933602" y="3621938"/>
            <a:ext cx="317479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/* internal.h: 헤더에서는 선언만 (extern) */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1062533" y="3829507"/>
            <a:ext cx="54406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472B6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#ifndef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1516075" y="3829507"/>
            <a:ext cx="115671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TH_READ_DEFINED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2487168" y="3829507"/>
            <a:ext cx="54406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472B6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#define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2940710" y="3829507"/>
            <a:ext cx="115671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TH_READ_DEFINED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3911803" y="3829507"/>
            <a:ext cx="4672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84F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extern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4299509" y="3829507"/>
            <a:ext cx="2770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int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4494276" y="3829507"/>
            <a:ext cx="62270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th_read(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5011826" y="3829507"/>
            <a:ext cx="2770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TAR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5206594" y="3829507"/>
            <a:ext cx="3429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*t);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5465369" y="3829507"/>
            <a:ext cx="4672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472B6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#endif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933602" y="3829507"/>
            <a:ext cx="52294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/* internal.c: 소스에서만 실제 구현 */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3199486" y="4037076"/>
            <a:ext cx="2770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int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3393338" y="4037076"/>
            <a:ext cx="62270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th_read(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3911803" y="4037076"/>
            <a:ext cx="2770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TAR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4105656" y="4037076"/>
            <a:ext cx="4005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*t) {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933602" y="4037076"/>
            <a:ext cx="38103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/* implementation... */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2228393" y="4244645"/>
            <a:ext cx="1435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}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771754" y="4774997"/>
            <a:ext cx="5086807" cy="1495044"/>
          </a:xfrm>
          <a:prstGeom prst="roundRect">
            <a:avLst>
              <a:gd name="adj" fmla="val 467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2"/>
          <p:cNvSpPr/>
          <p:nvPr/>
        </p:nvSpPr>
        <p:spPr>
          <a:xfrm>
            <a:off x="780898" y="4785055"/>
            <a:ext cx="5067605" cy="33375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Shape 43"/>
          <p:cNvSpPr/>
          <p:nvPr/>
        </p:nvSpPr>
        <p:spPr>
          <a:xfrm>
            <a:off x="780898" y="5109667"/>
            <a:ext cx="506760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pic>
        <p:nvPicPr>
          <p:cNvPr id="4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33602" y="4889297"/>
            <a:ext cx="114300" cy="114300"/>
          </a:xfrm>
          <a:prstGeom prst="rect">
            <a:avLst/>
          </a:prstGeom>
        </p:spPr>
      </p:pic>
      <p:sp>
        <p:nvSpPr>
          <p:cNvPr id="49" name="Text 44"/>
          <p:cNvSpPr txBox="1"/>
          <p:nvPr/>
        </p:nvSpPr>
        <p:spPr>
          <a:xfrm>
            <a:off x="1123798" y="4860950"/>
            <a:ext cx="205191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Format String &amp; Deprecated Fix</a:t>
            </a:r>
            <a:endParaRPr lang="en-US" sz="900" dirty="0"/>
          </a:p>
        </p:txBody>
      </p:sp>
      <p:sp>
        <p:nvSpPr>
          <p:cNvPr id="50" name="Text 45"/>
          <p:cNvSpPr txBox="1"/>
          <p:nvPr/>
        </p:nvSpPr>
        <p:spPr>
          <a:xfrm>
            <a:off x="933602" y="5298948"/>
            <a:ext cx="242773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// 1. Format String (64bit 호환)</a:t>
            </a:r>
            <a:endParaRPr lang="en-US" sz="1000" dirty="0"/>
          </a:p>
        </p:txBody>
      </p:sp>
      <p:sp>
        <p:nvSpPr>
          <p:cNvPr id="51" name="Text 46"/>
          <p:cNvSpPr txBox="1"/>
          <p:nvPr/>
        </p:nvSpPr>
        <p:spPr>
          <a:xfrm>
            <a:off x="3004718" y="5298948"/>
            <a:ext cx="4672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size_t</a:t>
            </a:r>
            <a:endParaRPr lang="en-US" sz="1000" dirty="0"/>
          </a:p>
        </p:txBody>
      </p:sp>
      <p:sp>
        <p:nvSpPr>
          <p:cNvPr id="52" name="Text 47"/>
          <p:cNvSpPr txBox="1"/>
          <p:nvPr/>
        </p:nvSpPr>
        <p:spPr>
          <a:xfrm>
            <a:off x="3393338" y="5298948"/>
            <a:ext cx="85039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len = 1024;</a:t>
            </a:r>
            <a:endParaRPr lang="en-US" sz="1000" dirty="0"/>
          </a:p>
        </p:txBody>
      </p:sp>
      <p:sp>
        <p:nvSpPr>
          <p:cNvPr id="53" name="Text 48"/>
          <p:cNvSpPr txBox="1"/>
          <p:nvPr/>
        </p:nvSpPr>
        <p:spPr>
          <a:xfrm>
            <a:off x="4105656" y="5298948"/>
            <a:ext cx="4672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printf</a:t>
            </a:r>
            <a:endParaRPr lang="en-US" sz="1000" dirty="0"/>
          </a:p>
        </p:txBody>
      </p:sp>
      <p:sp>
        <p:nvSpPr>
          <p:cNvPr id="54" name="Text 49"/>
          <p:cNvSpPr txBox="1"/>
          <p:nvPr/>
        </p:nvSpPr>
        <p:spPr>
          <a:xfrm>
            <a:off x="4494276" y="5298948"/>
            <a:ext cx="1435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(</a:t>
            </a:r>
            <a:endParaRPr lang="en-US" sz="1000" dirty="0"/>
          </a:p>
        </p:txBody>
      </p:sp>
      <p:sp>
        <p:nvSpPr>
          <p:cNvPr id="55" name="Text 50"/>
          <p:cNvSpPr txBox="1"/>
          <p:nvPr/>
        </p:nvSpPr>
        <p:spPr>
          <a:xfrm>
            <a:off x="4559198" y="5298948"/>
            <a:ext cx="100949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6EFA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"Size: %zu\n"</a:t>
            </a:r>
            <a:endParaRPr lang="en-US" sz="1000" dirty="0"/>
          </a:p>
        </p:txBody>
      </p:sp>
      <p:sp>
        <p:nvSpPr>
          <p:cNvPr id="56" name="Text 51"/>
          <p:cNvSpPr txBox="1"/>
          <p:nvPr/>
        </p:nvSpPr>
        <p:spPr>
          <a:xfrm>
            <a:off x="933602" y="5298948"/>
            <a:ext cx="47155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, len);</a:t>
            </a:r>
            <a:endParaRPr lang="en-US" sz="1000" dirty="0"/>
          </a:p>
        </p:txBody>
      </p:sp>
      <p:sp>
        <p:nvSpPr>
          <p:cNvPr id="57" name="Text 52"/>
          <p:cNvSpPr txBox="1"/>
          <p:nvPr/>
        </p:nvSpPr>
        <p:spPr>
          <a:xfrm>
            <a:off x="1257300" y="5506517"/>
            <a:ext cx="92994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// %d -&gt; %zu</a:t>
            </a:r>
            <a:endParaRPr lang="en-US" sz="1000" dirty="0"/>
          </a:p>
        </p:txBody>
      </p:sp>
      <p:sp>
        <p:nvSpPr>
          <p:cNvPr id="58" name="Text 53"/>
          <p:cNvSpPr txBox="1"/>
          <p:nvPr/>
        </p:nvSpPr>
        <p:spPr>
          <a:xfrm>
            <a:off x="2033626" y="5506517"/>
            <a:ext cx="301569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// 2. Deprecated Function (BSD -&gt; ANSI)</a:t>
            </a:r>
            <a:endParaRPr lang="en-US" sz="1000" dirty="0"/>
          </a:p>
        </p:txBody>
      </p:sp>
      <p:sp>
        <p:nvSpPr>
          <p:cNvPr id="59" name="Text 54"/>
          <p:cNvSpPr txBox="1"/>
          <p:nvPr/>
        </p:nvSpPr>
        <p:spPr>
          <a:xfrm>
            <a:off x="933602" y="5506517"/>
            <a:ext cx="4849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// bzero(buffer, sizeof(buffer)); // Deprecated</a:t>
            </a:r>
            <a:endParaRPr lang="en-US" sz="1000" dirty="0"/>
          </a:p>
        </p:txBody>
      </p:sp>
      <p:sp>
        <p:nvSpPr>
          <p:cNvPr id="60" name="Text 55"/>
          <p:cNvSpPr txBox="1"/>
          <p:nvPr/>
        </p:nvSpPr>
        <p:spPr>
          <a:xfrm>
            <a:off x="2875788" y="5714086"/>
            <a:ext cx="4672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memset</a:t>
            </a:r>
            <a:endParaRPr lang="en-US" sz="1000" dirty="0"/>
          </a:p>
        </p:txBody>
      </p:sp>
      <p:sp>
        <p:nvSpPr>
          <p:cNvPr id="61" name="Text 56"/>
          <p:cNvSpPr txBox="1"/>
          <p:nvPr/>
        </p:nvSpPr>
        <p:spPr>
          <a:xfrm>
            <a:off x="3264408" y="5714086"/>
            <a:ext cx="85039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(buffer, 0,</a:t>
            </a:r>
            <a:endParaRPr lang="en-US" sz="1000" dirty="0"/>
          </a:p>
        </p:txBody>
      </p:sp>
      <p:sp>
        <p:nvSpPr>
          <p:cNvPr id="62" name="Text 57"/>
          <p:cNvSpPr txBox="1"/>
          <p:nvPr/>
        </p:nvSpPr>
        <p:spPr>
          <a:xfrm>
            <a:off x="3975811" y="5714086"/>
            <a:ext cx="4672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84F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sizeof</a:t>
            </a:r>
            <a:endParaRPr lang="en-US" sz="1000" dirty="0"/>
          </a:p>
        </p:txBody>
      </p:sp>
      <p:sp>
        <p:nvSpPr>
          <p:cNvPr id="63" name="Text 58"/>
          <p:cNvSpPr txBox="1"/>
          <p:nvPr/>
        </p:nvSpPr>
        <p:spPr>
          <a:xfrm>
            <a:off x="4364431" y="5714086"/>
            <a:ext cx="77083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(buffer));</a:t>
            </a:r>
            <a:endParaRPr lang="en-US" sz="1000" dirty="0"/>
          </a:p>
        </p:txBody>
      </p:sp>
      <p:sp>
        <p:nvSpPr>
          <p:cNvPr id="64" name="Text 59"/>
          <p:cNvSpPr txBox="1"/>
          <p:nvPr/>
        </p:nvSpPr>
        <p:spPr>
          <a:xfrm>
            <a:off x="933602" y="5714086"/>
            <a:ext cx="43918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// Standard</a:t>
            </a:r>
            <a:endParaRPr lang="en-US" sz="1000" dirty="0"/>
          </a:p>
        </p:txBody>
      </p:sp>
      <p:sp>
        <p:nvSpPr>
          <p:cNvPr id="65" name="Shape 60"/>
          <p:cNvSpPr/>
          <p:nvPr/>
        </p:nvSpPr>
        <p:spPr>
          <a:xfrm>
            <a:off x="6334049" y="1676095"/>
            <a:ext cx="5086807" cy="1438351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6" name="Shape 61"/>
          <p:cNvSpPr/>
          <p:nvPr/>
        </p:nvSpPr>
        <p:spPr>
          <a:xfrm>
            <a:off x="6334049" y="1676095"/>
            <a:ext cx="38405" cy="1438351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6219749" y="1867205"/>
            <a:ext cx="190195" cy="190195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6601054" y="1848002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6366F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9" name="Image 3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6657746" y="1923898"/>
            <a:ext cx="190195" cy="152705"/>
          </a:xfrm>
          <a:prstGeom prst="rect">
            <a:avLst/>
          </a:prstGeom>
        </p:spPr>
      </p:pic>
      <p:sp>
        <p:nvSpPr>
          <p:cNvPr id="70" name="Text 64"/>
          <p:cNvSpPr txBox="1"/>
          <p:nvPr/>
        </p:nvSpPr>
        <p:spPr>
          <a:xfrm>
            <a:off x="7019849" y="1880006"/>
            <a:ext cx="21845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라이브러리 링크 순서 준수</a:t>
            </a:r>
            <a:endParaRPr lang="en-US" sz="1200" dirty="0"/>
          </a:p>
        </p:txBody>
      </p:sp>
      <p:sp>
        <p:nvSpPr>
          <p:cNvPr id="71" name="Shape 65"/>
          <p:cNvSpPr/>
          <p:nvPr/>
        </p:nvSpPr>
        <p:spPr>
          <a:xfrm>
            <a:off x="10651846" y="1881835"/>
            <a:ext cx="543154" cy="237744"/>
          </a:xfrm>
          <a:prstGeom prst="roundRect">
            <a:avLst>
              <a:gd name="adj" fmla="val 61538"/>
            </a:avLst>
          </a:prstGeom>
          <a:solidFill>
            <a:srgbClr val="312E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Text 66"/>
          <p:cNvSpPr txBox="1"/>
          <p:nvPr/>
        </p:nvSpPr>
        <p:spPr>
          <a:xfrm>
            <a:off x="10727741" y="1920240"/>
            <a:ext cx="4672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5B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LINKER</a:t>
            </a:r>
            <a:endParaRPr lang="en-US" sz="800" dirty="0"/>
          </a:p>
        </p:txBody>
      </p:sp>
      <p:sp>
        <p:nvSpPr>
          <p:cNvPr id="73" name="Text 67"/>
          <p:cNvSpPr txBox="1"/>
          <p:nvPr/>
        </p:nvSpPr>
        <p:spPr>
          <a:xfrm>
            <a:off x="6601054" y="2247595"/>
            <a:ext cx="466801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링커는 명령줄에 나열된 순서대로 심볼을 찾습니다.</a:t>
            </a:r>
            <a:r>
              <a:rPr lang="en-US" sz="1000" dirty="0">
                <a:solidFill>
                  <a:srgbClr val="A5B4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undefined reference</a:t>
            </a: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오류는 참조하는 객체(.o)가 라이브러리보다 뒤에 있을 때 발생합니다. 항상</a:t>
            </a:r>
            <a:r>
              <a:rPr lang="en-US" sz="10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호출자(Caller) → 피호출자(Callee)</a:t>
            </a: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순서로 배치하세요.</a:t>
            </a:r>
            <a:endParaRPr lang="en-US" sz="1000" dirty="0"/>
          </a:p>
        </p:txBody>
      </p:sp>
      <p:sp>
        <p:nvSpPr>
          <p:cNvPr id="74" name="Shape 68"/>
          <p:cNvSpPr/>
          <p:nvPr/>
        </p:nvSpPr>
        <p:spPr>
          <a:xfrm>
            <a:off x="6334049" y="3297326"/>
            <a:ext cx="5086807" cy="146669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5" name="Shape 69"/>
          <p:cNvSpPr/>
          <p:nvPr/>
        </p:nvSpPr>
        <p:spPr>
          <a:xfrm>
            <a:off x="6334049" y="3297326"/>
            <a:ext cx="38405" cy="146669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76" name="Shape 70"/>
          <p:cNvSpPr/>
          <p:nvPr/>
        </p:nvSpPr>
        <p:spPr>
          <a:xfrm>
            <a:off x="6219749" y="3487522"/>
            <a:ext cx="190195" cy="190195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1"/>
          <p:cNvSpPr/>
          <p:nvPr/>
        </p:nvSpPr>
        <p:spPr>
          <a:xfrm>
            <a:off x="6601054" y="3468319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A855F7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76949" y="3544214"/>
            <a:ext cx="152705" cy="152705"/>
          </a:xfrm>
          <a:prstGeom prst="rect">
            <a:avLst/>
          </a:prstGeom>
        </p:spPr>
      </p:pic>
      <p:sp>
        <p:nvSpPr>
          <p:cNvPr id="79" name="Text 72"/>
          <p:cNvSpPr txBox="1"/>
          <p:nvPr/>
        </p:nvSpPr>
        <p:spPr>
          <a:xfrm>
            <a:off x="7019849" y="3500323"/>
            <a:ext cx="245973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 심볼(Redefinition) 방지</a:t>
            </a:r>
            <a:endParaRPr lang="en-US" sz="1200" dirty="0"/>
          </a:p>
        </p:txBody>
      </p:sp>
      <p:sp>
        <p:nvSpPr>
          <p:cNvPr id="80" name="Shape 73"/>
          <p:cNvSpPr/>
          <p:nvPr/>
        </p:nvSpPr>
        <p:spPr>
          <a:xfrm>
            <a:off x="10495483" y="3503066"/>
            <a:ext cx="705002" cy="237744"/>
          </a:xfrm>
          <a:prstGeom prst="roundRect">
            <a:avLst>
              <a:gd name="adj" fmla="val 61538"/>
            </a:avLst>
          </a:prstGeom>
          <a:solidFill>
            <a:srgbClr val="4C1D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Text 74"/>
          <p:cNvSpPr txBox="1"/>
          <p:nvPr/>
        </p:nvSpPr>
        <p:spPr>
          <a:xfrm>
            <a:off x="10571378" y="3540557"/>
            <a:ext cx="6291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COMPILER</a:t>
            </a:r>
            <a:endParaRPr lang="en-US" sz="800" dirty="0"/>
          </a:p>
        </p:txBody>
      </p:sp>
      <p:sp>
        <p:nvSpPr>
          <p:cNvPr id="82" name="Text 75"/>
          <p:cNvSpPr txBox="1"/>
          <p:nvPr/>
        </p:nvSpPr>
        <p:spPr>
          <a:xfrm>
            <a:off x="6601054" y="3868826"/>
            <a:ext cx="4668012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multiple definition</a:t>
            </a: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오류는 헤더 파일에 변수나 함수 본체를 정의했을 때 발생합니다. 헤더에는</a:t>
            </a:r>
            <a:r>
              <a:rPr lang="en-US" sz="10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extern</a:t>
            </a: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선언만 포함하고, 실제 정의는 하나의 .c 파일에만 작성해야 합니다.</a:t>
            </a:r>
            <a:endParaRPr lang="en-US" sz="1000" dirty="0"/>
          </a:p>
        </p:txBody>
      </p:sp>
      <p:sp>
        <p:nvSpPr>
          <p:cNvPr id="83" name="Shape 76"/>
          <p:cNvSpPr/>
          <p:nvPr/>
        </p:nvSpPr>
        <p:spPr>
          <a:xfrm>
            <a:off x="6334049" y="4945990"/>
            <a:ext cx="5086807" cy="146669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4" name="Shape 77"/>
          <p:cNvSpPr/>
          <p:nvPr/>
        </p:nvSpPr>
        <p:spPr>
          <a:xfrm>
            <a:off x="6334049" y="4945990"/>
            <a:ext cx="38405" cy="146669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5" name="Shape 78"/>
          <p:cNvSpPr/>
          <p:nvPr/>
        </p:nvSpPr>
        <p:spPr>
          <a:xfrm>
            <a:off x="6219749" y="5137099"/>
            <a:ext cx="190195" cy="190195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79"/>
          <p:cNvSpPr/>
          <p:nvPr/>
        </p:nvSpPr>
        <p:spPr>
          <a:xfrm>
            <a:off x="6601054" y="5117897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7" name="Image 5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6667805" y="5193792"/>
            <a:ext cx="171907" cy="152705"/>
          </a:xfrm>
          <a:prstGeom prst="rect">
            <a:avLst/>
          </a:prstGeom>
        </p:spPr>
      </p:pic>
      <p:sp>
        <p:nvSpPr>
          <p:cNvPr id="88" name="Text 80"/>
          <p:cNvSpPr txBox="1"/>
          <p:nvPr/>
        </p:nvSpPr>
        <p:spPr>
          <a:xfrm>
            <a:off x="7019849" y="5149901"/>
            <a:ext cx="211683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경고 해결 및 코드 현대화</a:t>
            </a:r>
            <a:endParaRPr lang="en-US" sz="1200" dirty="0"/>
          </a:p>
        </p:txBody>
      </p:sp>
      <p:sp>
        <p:nvSpPr>
          <p:cNvPr id="89" name="Text 81"/>
          <p:cNvSpPr txBox="1"/>
          <p:nvPr/>
        </p:nvSpPr>
        <p:spPr>
          <a:xfrm>
            <a:off x="10619842" y="5190134"/>
            <a:ext cx="5815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CLEANUP</a:t>
            </a:r>
            <a:endParaRPr lang="en-US" sz="800" dirty="0"/>
          </a:p>
        </p:txBody>
      </p:sp>
      <p:sp>
        <p:nvSpPr>
          <p:cNvPr id="90" name="Text 82"/>
          <p:cNvSpPr txBox="1"/>
          <p:nvPr/>
        </p:nvSpPr>
        <p:spPr>
          <a:xfrm>
            <a:off x="6601054" y="5517490"/>
            <a:ext cx="4668012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64비트 시스템에서</a:t>
            </a:r>
            <a:r>
              <a:rPr lang="en-US" sz="10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size_t</a:t>
            </a: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</a:t>
            </a:r>
            <a:r>
              <a:rPr lang="en-US" sz="10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%d</a:t>
            </a: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출력하면 크기 불일치 경고가 발생합니다.</a:t>
            </a:r>
            <a:r>
              <a:rPr lang="en-US" sz="10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%zu</a:t>
            </a: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사용하세요. 또한</a:t>
            </a:r>
            <a:r>
              <a:rPr lang="en-US" sz="10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bzero</a:t>
            </a: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en-US" sz="10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bcopy</a:t>
            </a: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비표준 함수는</a:t>
            </a:r>
            <a:r>
              <a:rPr lang="en-US" sz="10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memset</a:t>
            </a: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en-US" sz="10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memcpy</a:t>
            </a: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교체하여 호환성을 높이세요.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" y="390449"/>
            <a:ext cx="75895" cy="761695"/>
          </a:xfrm>
          <a:prstGeom prst="rect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0354" y="476139"/>
            <a:ext cx="10725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스크립트 개요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1000354" y="933339"/>
            <a:ext cx="105348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빌드 스크립트(build_all.sh) 프로세스 및 사용법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1754" y="1374213"/>
            <a:ext cx="3172054" cy="2523744"/>
          </a:xfrm>
          <a:prstGeom prst="roundRect">
            <a:avLst>
              <a:gd name="adj" fmla="val 164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70532" y="1261262"/>
            <a:ext cx="771754" cy="237744"/>
          </a:xfrm>
          <a:prstGeom prst="roundRect">
            <a:avLst>
              <a:gd name="adj" fmla="val 384615"/>
            </a:avLst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46427" y="1280465"/>
            <a:ext cx="619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891894" y="2374567"/>
            <a:ext cx="93543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점검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99693" y="2717467"/>
            <a:ext cx="231800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컴파일러, 필수 헤더,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라이브러리 존재 여부 확인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9498" y="3288967"/>
            <a:ext cx="2695651" cy="371246"/>
          </a:xfrm>
          <a:prstGeom prst="roundRect">
            <a:avLst>
              <a:gd name="adj" fmla="val 3789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732788" y="3394123"/>
            <a:ext cx="12481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5B4FC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check_build_env</a:t>
            </a:r>
            <a:endParaRPr lang="en-US" sz="10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 t="-80" b="-80"/>
          <a:stretch/>
        </p:blipFill>
        <p:spPr>
          <a:xfrm>
            <a:off x="4154119" y="2519956"/>
            <a:ext cx="142646" cy="2286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511650" y="1374213"/>
            <a:ext cx="3172054" cy="2523744"/>
          </a:xfrm>
          <a:prstGeom prst="roundRect">
            <a:avLst>
              <a:gd name="adj" fmla="val 164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10428" y="1261262"/>
            <a:ext cx="771754" cy="237744"/>
          </a:xfrm>
          <a:prstGeom prst="roundRect">
            <a:avLst>
              <a:gd name="adj" fmla="val 384615"/>
            </a:avLst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787238" y="1280465"/>
            <a:ext cx="619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02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461711" y="2374567"/>
            <a:ext cx="127193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 자동 패치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322722" y="2717467"/>
            <a:ext cx="155356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OS별(Solaris/AIX/HP)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컴파일 옵션 자동 적용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49394" y="3288967"/>
            <a:ext cx="2695651" cy="371246"/>
          </a:xfrm>
          <a:prstGeom prst="roundRect">
            <a:avLst>
              <a:gd name="adj" fmla="val 3789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512003" y="3394123"/>
            <a:ext cx="11722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5B4FC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apply_os_patch</a:t>
            </a:r>
            <a:endParaRPr lang="en-US" sz="10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rcRect t="-80" b="-80"/>
          <a:stretch/>
        </p:blipFill>
        <p:spPr>
          <a:xfrm>
            <a:off x="7894930" y="2519956"/>
            <a:ext cx="142646" cy="22860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8251546" y="1374213"/>
            <a:ext cx="3172054" cy="2523744"/>
          </a:xfrm>
          <a:prstGeom prst="roundRect">
            <a:avLst>
              <a:gd name="adj" fmla="val 164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9451238" y="1261262"/>
            <a:ext cx="771754" cy="237744"/>
          </a:xfrm>
          <a:prstGeom prst="roundRect">
            <a:avLst>
              <a:gd name="adj" fmla="val 384615"/>
            </a:avLst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9527134" y="1280465"/>
            <a:ext cx="619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03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9372600" y="2374567"/>
            <a:ext cx="93543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수행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8994038" y="2717467"/>
            <a:ext cx="168889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Clean 정리 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Configure 및 Make 실행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8490204" y="3288967"/>
            <a:ext cx="2695651" cy="371246"/>
          </a:xfrm>
          <a:prstGeom prst="roundRect">
            <a:avLst>
              <a:gd name="adj" fmla="val 3789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9485986" y="3394123"/>
            <a:ext cx="7050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5B4FC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do_build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771754" y="4023707"/>
            <a:ext cx="5171846" cy="2438705"/>
          </a:xfrm>
          <a:prstGeom prst="roundRect">
            <a:avLst>
              <a:gd name="adj" fmla="val 124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1276502" y="4261451"/>
            <a:ext cx="461954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옵션</a:t>
            </a:r>
            <a:endParaRPr lang="en-US" sz="130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4"/>
          <a:srcRect t="-842" b="-842"/>
          <a:stretch/>
        </p:blipFill>
        <p:spPr>
          <a:xfrm>
            <a:off x="1009498" y="4309000"/>
            <a:ext cx="190195" cy="171907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1009498" y="4681161"/>
            <a:ext cx="4695444" cy="362102"/>
          </a:xfrm>
          <a:prstGeom prst="roundRect">
            <a:avLst>
              <a:gd name="adj" fmla="val 26582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1095451" y="4785402"/>
            <a:ext cx="21698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$ ./build_all.sh [OPTIONS]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1009498" y="5157563"/>
            <a:ext cx="1000354" cy="228600"/>
          </a:xfrm>
          <a:prstGeom prst="roundRect">
            <a:avLst>
              <a:gd name="adj" fmla="val 66667"/>
            </a:avLst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1067105" y="5195054"/>
            <a:ext cx="9628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--skip-check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2081174" y="5157563"/>
            <a:ext cx="198699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점검 단계를 건너뜁니다.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1009498" y="5462058"/>
            <a:ext cx="1000354" cy="228600"/>
          </a:xfrm>
          <a:prstGeom prst="roundRect">
            <a:avLst>
              <a:gd name="adj" fmla="val 66667"/>
            </a:avLst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1067105" y="5500463"/>
            <a:ext cx="9628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--skip-patch</a:t>
            </a:r>
            <a:endParaRPr lang="en-US" sz="900" dirty="0"/>
          </a:p>
        </p:txBody>
      </p:sp>
      <p:sp>
        <p:nvSpPr>
          <p:cNvPr id="40" name="Text 35"/>
          <p:cNvSpPr txBox="1"/>
          <p:nvPr/>
        </p:nvSpPr>
        <p:spPr>
          <a:xfrm>
            <a:off x="2081174" y="5462058"/>
            <a:ext cx="188549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 패치 적용을 생략합니다.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1009498" y="5766554"/>
            <a:ext cx="1000354" cy="228600"/>
          </a:xfrm>
          <a:prstGeom prst="roundRect">
            <a:avLst>
              <a:gd name="adj" fmla="val 66667"/>
            </a:avLst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1067105" y="5804958"/>
            <a:ext cx="9628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--clean-only</a:t>
            </a:r>
            <a:endParaRPr lang="en-US" sz="900" dirty="0"/>
          </a:p>
        </p:txBody>
      </p:sp>
      <p:sp>
        <p:nvSpPr>
          <p:cNvPr id="43" name="Text 38"/>
          <p:cNvSpPr txBox="1"/>
          <p:nvPr/>
        </p:nvSpPr>
        <p:spPr>
          <a:xfrm>
            <a:off x="2081174" y="5766554"/>
            <a:ext cx="24972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없이 Clean 작업만 수행합니다.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1009498" y="6071963"/>
            <a:ext cx="562356" cy="228600"/>
          </a:xfrm>
          <a:prstGeom prst="roundRect">
            <a:avLst>
              <a:gd name="adj" fmla="val 66667"/>
            </a:avLst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1067105" y="6109454"/>
            <a:ext cx="523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--help</a:t>
            </a:r>
            <a:endParaRPr lang="en-US" sz="900" dirty="0"/>
          </a:p>
        </p:txBody>
      </p:sp>
      <p:sp>
        <p:nvSpPr>
          <p:cNvPr id="46" name="Text 41"/>
          <p:cNvSpPr txBox="1"/>
          <p:nvPr/>
        </p:nvSpPr>
        <p:spPr>
          <a:xfrm>
            <a:off x="1640434" y="6071963"/>
            <a:ext cx="21250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도움말 및 사용법을 출력합니다.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6248095" y="4006288"/>
            <a:ext cx="5171846" cy="2755915"/>
          </a:xfrm>
          <a:prstGeom prst="roundRect">
            <a:avLst>
              <a:gd name="adj" fmla="val 124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6753758" y="4244032"/>
            <a:ext cx="461954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스크립트 주요 특징</a:t>
            </a:r>
            <a:endParaRPr lang="en-US" sz="1300" dirty="0"/>
          </a:p>
        </p:txBody>
      </p:sp>
      <p:pic>
        <p:nvPicPr>
          <p:cNvPr id="49" name="Image 3" descr="preencoded.png"/>
          <p:cNvPicPr>
            <a:picLocks noChangeAspect="1"/>
          </p:cNvPicPr>
          <p:nvPr/>
        </p:nvPicPr>
        <p:blipFill>
          <a:blip r:embed="rId5"/>
          <a:srcRect t="-842" b="-842"/>
          <a:stretch/>
        </p:blipFill>
        <p:spPr>
          <a:xfrm>
            <a:off x="6486754" y="4291581"/>
            <a:ext cx="190195" cy="171907"/>
          </a:xfrm>
          <a:prstGeom prst="rect">
            <a:avLst/>
          </a:prstGeom>
        </p:spPr>
      </p:pic>
      <p:sp>
        <p:nvSpPr>
          <p:cNvPr id="50" name="Shape 44"/>
          <p:cNvSpPr/>
          <p:nvPr/>
        </p:nvSpPr>
        <p:spPr>
          <a:xfrm>
            <a:off x="6486754" y="4663742"/>
            <a:ext cx="4695444" cy="590702"/>
          </a:xfrm>
          <a:prstGeom prst="roundRect">
            <a:avLst>
              <a:gd name="adj" fmla="val 9987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6"/>
          <a:srcRect l="-21172" r="-21172"/>
          <a:stretch/>
        </p:blipFill>
        <p:spPr>
          <a:xfrm>
            <a:off x="6572707" y="4882283"/>
            <a:ext cx="190195" cy="152705"/>
          </a:xfrm>
          <a:prstGeom prst="rect">
            <a:avLst/>
          </a:prstGeom>
        </p:spPr>
      </p:pic>
      <p:sp>
        <p:nvSpPr>
          <p:cNvPr id="52" name="Text 45"/>
          <p:cNvSpPr txBox="1"/>
          <p:nvPr/>
        </p:nvSpPr>
        <p:spPr>
          <a:xfrm>
            <a:off x="6877202" y="4748781"/>
            <a:ext cx="16285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One-Stop Automation</a:t>
            </a:r>
            <a:endParaRPr lang="en-US" sz="1000" dirty="0"/>
          </a:p>
        </p:txBody>
      </p:sp>
      <p:sp>
        <p:nvSpPr>
          <p:cNvPr id="53" name="Text 46"/>
          <p:cNvSpPr txBox="1"/>
          <p:nvPr/>
        </p:nvSpPr>
        <p:spPr>
          <a:xfrm>
            <a:off x="6877202" y="4987439"/>
            <a:ext cx="278983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점검부터 빌드 검증까지 단일 명령으로 처리</a:t>
            </a:r>
            <a:endParaRPr lang="en-US" sz="900" dirty="0"/>
          </a:p>
        </p:txBody>
      </p:sp>
      <p:sp>
        <p:nvSpPr>
          <p:cNvPr id="54" name="Shape 47"/>
          <p:cNvSpPr/>
          <p:nvPr/>
        </p:nvSpPr>
        <p:spPr>
          <a:xfrm>
            <a:off x="6486754" y="5368744"/>
            <a:ext cx="4695444" cy="590702"/>
          </a:xfrm>
          <a:prstGeom prst="roundRect">
            <a:avLst>
              <a:gd name="adj" fmla="val 9987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55" name="Image 5" descr="preencoded.png"/>
          <p:cNvPicPr>
            <a:picLocks noChangeAspect="1"/>
          </p:cNvPicPr>
          <p:nvPr/>
        </p:nvPicPr>
        <p:blipFill>
          <a:blip r:embed="rId7"/>
          <a:srcRect l="-33034" r="-33034"/>
          <a:stretch/>
        </p:blipFill>
        <p:spPr>
          <a:xfrm>
            <a:off x="6572707" y="5587286"/>
            <a:ext cx="190195" cy="152705"/>
          </a:xfrm>
          <a:prstGeom prst="rect">
            <a:avLst/>
          </a:prstGeom>
        </p:spPr>
      </p:pic>
      <p:sp>
        <p:nvSpPr>
          <p:cNvPr id="56" name="Text 48"/>
          <p:cNvSpPr txBox="1"/>
          <p:nvPr/>
        </p:nvSpPr>
        <p:spPr>
          <a:xfrm>
            <a:off x="6877202" y="5453783"/>
            <a:ext cx="10250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로그 관리</a:t>
            </a:r>
            <a:endParaRPr lang="en-US" sz="1000" dirty="0"/>
          </a:p>
        </p:txBody>
      </p:sp>
      <p:sp>
        <p:nvSpPr>
          <p:cNvPr id="57" name="Text 49"/>
          <p:cNvSpPr txBox="1"/>
          <p:nvPr/>
        </p:nvSpPr>
        <p:spPr>
          <a:xfrm>
            <a:off x="6877202" y="5692442"/>
            <a:ext cx="336682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타임스탬프가 포함된 로그 파일 자동 생성 (build_YMD.log)</a:t>
            </a:r>
            <a:endParaRPr lang="en-US" sz="900" dirty="0"/>
          </a:p>
        </p:txBody>
      </p:sp>
      <p:sp>
        <p:nvSpPr>
          <p:cNvPr id="58" name="Shape 50"/>
          <p:cNvSpPr/>
          <p:nvPr/>
        </p:nvSpPr>
        <p:spPr>
          <a:xfrm>
            <a:off x="6486754" y="6072832"/>
            <a:ext cx="4695444" cy="590702"/>
          </a:xfrm>
          <a:prstGeom prst="roundRect">
            <a:avLst>
              <a:gd name="adj" fmla="val 9987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59" name="Image 6" descr="preencoded.png"/>
          <p:cNvPicPr>
            <a:picLocks noChangeAspect="1"/>
          </p:cNvPicPr>
          <p:nvPr/>
        </p:nvPicPr>
        <p:blipFill>
          <a:blip r:embed="rId8"/>
          <a:srcRect l="-12275" r="-12275"/>
          <a:stretch/>
        </p:blipFill>
        <p:spPr>
          <a:xfrm>
            <a:off x="6572707" y="6292288"/>
            <a:ext cx="190195" cy="152705"/>
          </a:xfrm>
          <a:prstGeom prst="rect">
            <a:avLst/>
          </a:prstGeom>
        </p:spPr>
      </p:pic>
      <p:sp>
        <p:nvSpPr>
          <p:cNvPr id="60" name="Text 51"/>
          <p:cNvSpPr txBox="1"/>
          <p:nvPr/>
        </p:nvSpPr>
        <p:spPr>
          <a:xfrm>
            <a:off x="6877202" y="6158786"/>
            <a:ext cx="11667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안전한 빌드 검증</a:t>
            </a:r>
            <a:endParaRPr lang="en-US" sz="1000" dirty="0"/>
          </a:p>
        </p:txBody>
      </p:sp>
      <p:sp>
        <p:nvSpPr>
          <p:cNvPr id="61" name="Text 52"/>
          <p:cNvSpPr txBox="1"/>
          <p:nvPr/>
        </p:nvSpPr>
        <p:spPr>
          <a:xfrm>
            <a:off x="6877202" y="6397444"/>
            <a:ext cx="287395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완료 후 파일 존재 여부 및 MD5 체크섬 출력</a:t>
            </a:r>
            <a:endParaRPr lang="en-US" sz="900" dirty="0"/>
          </a:p>
        </p:txBody>
      </p:sp>
      <p:sp>
        <p:nvSpPr>
          <p:cNvPr id="62" name="Shape 53"/>
          <p:cNvSpPr/>
          <p:nvPr/>
        </p:nvSpPr>
        <p:spPr>
          <a:xfrm>
            <a:off x="2050999" y="1612871"/>
            <a:ext cx="609905" cy="60990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</p:sp>
      <p:pic>
        <p:nvPicPr>
          <p:cNvPr id="63" name="Image 7" descr="preencoded.png"/>
          <p:cNvPicPr>
            <a:picLocks noChangeAspect="1"/>
          </p:cNvPicPr>
          <p:nvPr/>
        </p:nvPicPr>
        <p:blipFill>
          <a:blip r:embed="rId9"/>
          <a:srcRect l="-133" r="-133"/>
          <a:stretch/>
        </p:blipFill>
        <p:spPr>
          <a:xfrm>
            <a:off x="2270455" y="1803067"/>
            <a:ext cx="171907" cy="228600"/>
          </a:xfrm>
          <a:prstGeom prst="rect">
            <a:avLst/>
          </a:prstGeom>
        </p:spPr>
      </p:pic>
      <p:sp>
        <p:nvSpPr>
          <p:cNvPr id="64" name="Shape 54"/>
          <p:cNvSpPr/>
          <p:nvPr/>
        </p:nvSpPr>
        <p:spPr>
          <a:xfrm>
            <a:off x="5790895" y="1612871"/>
            <a:ext cx="609905" cy="60990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</p:sp>
      <p:pic>
        <p:nvPicPr>
          <p:cNvPr id="65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982005" y="1803067"/>
            <a:ext cx="228600" cy="228600"/>
          </a:xfrm>
          <a:prstGeom prst="rect">
            <a:avLst/>
          </a:prstGeom>
        </p:spPr>
      </p:pic>
      <p:sp>
        <p:nvSpPr>
          <p:cNvPr id="66" name="Shape 55"/>
          <p:cNvSpPr/>
          <p:nvPr/>
        </p:nvSpPr>
        <p:spPr>
          <a:xfrm>
            <a:off x="9531706" y="1612871"/>
            <a:ext cx="609905" cy="60990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</p:sp>
      <p:pic>
        <p:nvPicPr>
          <p:cNvPr id="67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721901" y="1803067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" y="390449"/>
            <a:ext cx="75895" cy="761695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0354" y="485546"/>
            <a:ext cx="10725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트러블슈팅 체크리스트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1000354" y="942746"/>
            <a:ext cx="106116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실패 시 우선적으로 확인해야 할 10가지 핵심 점검 항목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1754" y="1271493"/>
            <a:ext cx="5038344" cy="972007"/>
          </a:xfrm>
          <a:prstGeom prst="roundRect">
            <a:avLst>
              <a:gd name="adj" fmla="val 110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3602" y="1452545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10B981">
              <a:alpha val="10000"/>
            </a:srgbClr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90295" y="1500093"/>
            <a:ext cx="114300" cy="13350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14907" y="1433342"/>
            <a:ext cx="444855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Configure 실행 여부 확인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314907" y="1712234"/>
            <a:ext cx="50200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A5B4F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./configure</a:t>
            </a: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실행하여 Makefile이 현재 환경에 맞게 생성되었는지 확인하십시오.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381598" y="1271493"/>
            <a:ext cx="5038344" cy="972007"/>
          </a:xfrm>
          <a:prstGeom prst="roundRect">
            <a:avLst>
              <a:gd name="adj" fmla="val 110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43446" y="1452545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10B981">
              <a:alpha val="10000"/>
            </a:srgbClr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6601054" y="1500093"/>
            <a:ext cx="114300" cy="1335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924751" y="1433342"/>
            <a:ext cx="444855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Config.log 상세 분석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924751" y="1912534"/>
            <a:ext cx="50200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원인은</a:t>
            </a:r>
            <a:r>
              <a:rPr lang="en-US" sz="700" dirty="0">
                <a:solidFill>
                  <a:srgbClr val="A5B4F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config.log</a:t>
            </a: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내 "failed" 키워드 주변에 기록되어 있습니다.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771754" y="2429124"/>
            <a:ext cx="5038344" cy="790956"/>
          </a:xfrm>
          <a:prstGeom prst="roundRect">
            <a:avLst>
              <a:gd name="adj" fmla="val 16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33602" y="2610175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10B981">
              <a:alpha val="10000"/>
            </a:srgbClr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90295" y="2657724"/>
            <a:ext cx="114300" cy="1335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314907" y="2590973"/>
            <a:ext cx="45244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헤더 파일 설치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314907" y="2868950"/>
            <a:ext cx="50200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A5B4F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sys/socket.h</a:t>
            </a: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en-US" sz="700" dirty="0">
                <a:solidFill>
                  <a:srgbClr val="A5B4F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netinet/in.h</a:t>
            </a: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 네트워크 개발 헤더 존재 여부를 점검하십시오.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6381598" y="2429124"/>
            <a:ext cx="5038344" cy="790956"/>
          </a:xfrm>
          <a:prstGeom prst="roundRect">
            <a:avLst>
              <a:gd name="adj" fmla="val 16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543446" y="2610175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10B981">
              <a:alpha val="10000"/>
            </a:srgbClr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6601054" y="2657724"/>
            <a:ext cx="114300" cy="13350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924751" y="2590973"/>
            <a:ext cx="45244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컴파일러 버전 및 옵션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6924751" y="3069250"/>
            <a:ext cx="50200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CC 환경변수 설정과 아키텍처 옵션(</a:t>
            </a:r>
            <a:r>
              <a:rPr lang="en-US" sz="700" dirty="0">
                <a:solidFill>
                  <a:srgbClr val="A5B4F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-q32</a:t>
            </a: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en-US" sz="700" dirty="0">
                <a:solidFill>
                  <a:srgbClr val="A5B4F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+DA2.0W</a:t>
            </a: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)이 올바른지 확인하십시오.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771754" y="3404789"/>
            <a:ext cx="5038344" cy="972007"/>
          </a:xfrm>
          <a:prstGeom prst="roundRect">
            <a:avLst>
              <a:gd name="adj" fmla="val 110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933602" y="3585840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10B981">
              <a:alpha val="10000"/>
            </a:srgbClr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90295" y="3633389"/>
            <a:ext cx="114300" cy="13350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14907" y="3566637"/>
            <a:ext cx="45244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OS별 특수 라이브러리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314907" y="3844615"/>
            <a:ext cx="50200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Solaris(</a:t>
            </a:r>
            <a:r>
              <a:rPr lang="en-US" sz="700" dirty="0">
                <a:solidFill>
                  <a:srgbClr val="A5B4F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-lxnet -lnsl</a:t>
            </a: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등 OS별 필수 링크 라이브러리가 누락되지 않았는지 확인하십시오.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6381598" y="3404789"/>
            <a:ext cx="5038344" cy="972007"/>
          </a:xfrm>
          <a:prstGeom prst="roundRect">
            <a:avLst>
              <a:gd name="adj" fmla="val 110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543446" y="3585840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10B981">
              <a:alpha val="10000"/>
            </a:srgbClr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6601054" y="3633389"/>
            <a:ext cx="114300" cy="13350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6924751" y="3566637"/>
            <a:ext cx="444855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Makefile LIBS 변수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6924751" y="4044915"/>
            <a:ext cx="588050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생성된 Makefile의</a:t>
            </a:r>
            <a:r>
              <a:rPr lang="en-US" sz="700" dirty="0">
                <a:solidFill>
                  <a:srgbClr val="A5B4F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LIBS</a:t>
            </a: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변수에 필요한 라이브러리들이 모두 포함되어 있는지 점검하십시오.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771754" y="4561505"/>
            <a:ext cx="5038344" cy="972007"/>
          </a:xfrm>
          <a:prstGeom prst="roundRect">
            <a:avLst>
              <a:gd name="adj" fmla="val 110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933602" y="4742556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10B981">
              <a:alpha val="10000"/>
            </a:srgbClr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90295" y="4790105"/>
            <a:ext cx="114300" cy="133502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1314907" y="4723353"/>
            <a:ext cx="444855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Object 파일 생성 확인</a:t>
            </a:r>
            <a:endParaRPr lang="en-US" sz="1200" dirty="0"/>
          </a:p>
        </p:txBody>
      </p:sp>
      <p:sp>
        <p:nvSpPr>
          <p:cNvPr id="41" name="Text 32"/>
          <p:cNvSpPr txBox="1"/>
          <p:nvPr/>
        </p:nvSpPr>
        <p:spPr>
          <a:xfrm>
            <a:off x="1314907" y="5002245"/>
            <a:ext cx="536752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A5B4F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object/</a:t>
            </a: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디렉토리에 .o 파일들이 정상적으로 컴파일되어 생성되었는지 확인하십시오.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6381598" y="4561505"/>
            <a:ext cx="5038344" cy="972007"/>
          </a:xfrm>
          <a:prstGeom prst="roundRect">
            <a:avLst>
              <a:gd name="adj" fmla="val 110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6543446" y="4742556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10B981">
              <a:alpha val="10000"/>
            </a:srgbClr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6601054" y="4790105"/>
            <a:ext cx="114300" cy="133502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6924751" y="4723353"/>
            <a:ext cx="444855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Clean Build 수행</a:t>
            </a:r>
            <a:endParaRPr lang="en-US" sz="1200" dirty="0"/>
          </a:p>
        </p:txBody>
      </p:sp>
      <p:sp>
        <p:nvSpPr>
          <p:cNvPr id="46" name="Text 36"/>
          <p:cNvSpPr txBox="1"/>
          <p:nvPr/>
        </p:nvSpPr>
        <p:spPr>
          <a:xfrm>
            <a:off x="6924751" y="5202545"/>
            <a:ext cx="530534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이전 빌드 잔여물로 인한 오류 방지를 위해</a:t>
            </a:r>
            <a:r>
              <a:rPr lang="en-US" sz="700" dirty="0">
                <a:solidFill>
                  <a:srgbClr val="A5B4F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make clean</a:t>
            </a: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 재빌드를 시도하십시오.</a:t>
            </a:r>
            <a:endParaRPr lang="en-US" sz="900" dirty="0"/>
          </a:p>
        </p:txBody>
      </p:sp>
      <p:sp>
        <p:nvSpPr>
          <p:cNvPr id="47" name="Shape 37"/>
          <p:cNvSpPr/>
          <p:nvPr/>
        </p:nvSpPr>
        <p:spPr>
          <a:xfrm>
            <a:off x="771754" y="5719135"/>
            <a:ext cx="5038344" cy="972007"/>
          </a:xfrm>
          <a:prstGeom prst="roundRect">
            <a:avLst>
              <a:gd name="adj" fmla="val 110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8" name="Shape 38"/>
          <p:cNvSpPr/>
          <p:nvPr/>
        </p:nvSpPr>
        <p:spPr>
          <a:xfrm>
            <a:off x="933602" y="5900186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10B981">
              <a:alpha val="10000"/>
            </a:srgbClr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90295" y="5947735"/>
            <a:ext cx="114300" cy="133502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1314907" y="5880984"/>
            <a:ext cx="444855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Autotools 호환성</a:t>
            </a:r>
            <a:endParaRPr lang="en-US" sz="1200" dirty="0"/>
          </a:p>
        </p:txBody>
      </p:sp>
      <p:sp>
        <p:nvSpPr>
          <p:cNvPr id="51" name="Text 40"/>
          <p:cNvSpPr txBox="1"/>
          <p:nvPr/>
        </p:nvSpPr>
        <p:spPr>
          <a:xfrm>
            <a:off x="1314907" y="6158961"/>
            <a:ext cx="50200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Autoconf/Automake 버전이 스크립트 요구사항(</a:t>
            </a:r>
            <a:r>
              <a:rPr lang="en-US" sz="700" dirty="0">
                <a:solidFill>
                  <a:srgbClr val="A5B4F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AC_PREREQ</a:t>
            </a: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)을 충족하는지 확인하십시오.</a:t>
            </a:r>
            <a:endParaRPr lang="en-US" sz="900" dirty="0"/>
          </a:p>
        </p:txBody>
      </p:sp>
      <p:sp>
        <p:nvSpPr>
          <p:cNvPr id="52" name="Shape 41"/>
          <p:cNvSpPr/>
          <p:nvPr/>
        </p:nvSpPr>
        <p:spPr>
          <a:xfrm>
            <a:off x="6381598" y="5719135"/>
            <a:ext cx="5038344" cy="972007"/>
          </a:xfrm>
          <a:prstGeom prst="roundRect">
            <a:avLst>
              <a:gd name="adj" fmla="val 110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3" name="Shape 42"/>
          <p:cNvSpPr/>
          <p:nvPr/>
        </p:nvSpPr>
        <p:spPr>
          <a:xfrm>
            <a:off x="6543446" y="5900186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10B981">
              <a:alpha val="10000"/>
            </a:srgbClr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54" name="Image 9" descr="preencoded.png"/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6601054" y="5947735"/>
            <a:ext cx="114300" cy="133502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6924751" y="5880984"/>
            <a:ext cx="45244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디스크 공간 확보</a:t>
            </a:r>
            <a:endParaRPr lang="en-US" sz="1200" dirty="0"/>
          </a:p>
        </p:txBody>
      </p:sp>
      <p:sp>
        <p:nvSpPr>
          <p:cNvPr id="56" name="Text 44"/>
          <p:cNvSpPr txBox="1"/>
          <p:nvPr/>
        </p:nvSpPr>
        <p:spPr>
          <a:xfrm>
            <a:off x="6924751" y="6158963"/>
            <a:ext cx="420349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컴파일 중 임시 파일 생성을 위한</a:t>
            </a:r>
            <a:r>
              <a:rPr lang="en-US" sz="700" dirty="0">
                <a:solidFill>
                  <a:srgbClr val="A5B4F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/tmp</a:t>
            </a: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또는</a:t>
            </a:r>
            <a:r>
              <a:rPr lang="en-US" sz="700" dirty="0">
                <a:solidFill>
                  <a:srgbClr val="A5B4F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/var/tmp</a:t>
            </a: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공간이 충분한지 확인하십시오.</a:t>
            </a:r>
            <a:endParaRPr lang="en-US" sz="900" dirty="0"/>
          </a:p>
        </p:txBody>
      </p:sp>
      <p:sp>
        <p:nvSpPr>
          <p:cNvPr id="57" name="Shape 45"/>
          <p:cNvSpPr/>
          <p:nvPr/>
        </p:nvSpPr>
        <p:spPr>
          <a:xfrm>
            <a:off x="771754" y="7328002"/>
            <a:ext cx="10649102" cy="895198"/>
          </a:xfrm>
          <a:prstGeom prst="roundRect">
            <a:avLst>
              <a:gd name="adj" fmla="val 13040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pic>
        <p:nvPicPr>
          <p:cNvPr id="58" name="Image 10" descr="preencoded.png"/>
          <p:cNvPicPr>
            <a:picLocks noChangeAspect="1"/>
          </p:cNvPicPr>
          <p:nvPr/>
        </p:nvPicPr>
        <p:blipFill>
          <a:blip r:embed="rId4"/>
          <a:srcRect l="-50" r="-50"/>
          <a:stretch/>
        </p:blipFill>
        <p:spPr>
          <a:xfrm>
            <a:off x="1067105" y="7623353"/>
            <a:ext cx="228600" cy="304495"/>
          </a:xfrm>
          <a:prstGeom prst="rect">
            <a:avLst/>
          </a:prstGeom>
        </p:spPr>
      </p:pic>
      <p:sp>
        <p:nvSpPr>
          <p:cNvPr id="59" name="Text 46"/>
          <p:cNvSpPr txBox="1"/>
          <p:nvPr/>
        </p:nvSpPr>
        <p:spPr>
          <a:xfrm>
            <a:off x="1485900" y="7528255"/>
            <a:ext cx="50109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목표: 재현 가능한 빌드와 신속한 복구</a:t>
            </a:r>
            <a:endParaRPr lang="en-US" sz="1500" dirty="0"/>
          </a:p>
        </p:txBody>
      </p:sp>
      <p:sp>
        <p:nvSpPr>
          <p:cNvPr id="60" name="Text 47"/>
          <p:cNvSpPr txBox="1"/>
          <p:nvPr/>
        </p:nvSpPr>
        <p:spPr>
          <a:xfrm>
            <a:off x="1485900" y="7832750"/>
            <a:ext cx="57113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체크리스트를 통해 대부분의 컴파일 오류를 5분 이내에 진단하고 해결할 수 있습니다.</a:t>
            </a:r>
            <a:endParaRPr lang="en-US" sz="1000" dirty="0"/>
          </a:p>
        </p:txBody>
      </p:sp>
      <p:sp>
        <p:nvSpPr>
          <p:cNvPr id="61" name="Shape 48"/>
          <p:cNvSpPr/>
          <p:nvPr/>
        </p:nvSpPr>
        <p:spPr>
          <a:xfrm>
            <a:off x="9452153" y="7595006"/>
            <a:ext cx="1676095" cy="362102"/>
          </a:xfrm>
          <a:prstGeom prst="roundRect">
            <a:avLst>
              <a:gd name="adj" fmla="val 26582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62" name="Image 11" descr="preencoded.png"/>
          <p:cNvPicPr>
            <a:picLocks noChangeAspect="1"/>
          </p:cNvPicPr>
          <p:nvPr/>
        </p:nvPicPr>
        <p:blipFill>
          <a:blip r:embed="rId5"/>
          <a:srcRect l="-837" r="-837"/>
          <a:stretch/>
        </p:blipFill>
        <p:spPr>
          <a:xfrm>
            <a:off x="9614002" y="7697419"/>
            <a:ext cx="152705" cy="133502"/>
          </a:xfrm>
          <a:prstGeom prst="rect">
            <a:avLst/>
          </a:prstGeom>
        </p:spPr>
      </p:pic>
      <p:sp>
        <p:nvSpPr>
          <p:cNvPr id="63" name="Text 49"/>
          <p:cNvSpPr txBox="1"/>
          <p:nvPr/>
        </p:nvSpPr>
        <p:spPr>
          <a:xfrm>
            <a:off x="9842602" y="7700162"/>
            <a:ext cx="12006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./build_all.sh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</TotalTime>
  <Words>3216</Words>
  <Application>Microsoft Office PowerPoint</Application>
  <PresentationFormat>와이드스크린</PresentationFormat>
  <Paragraphs>618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3" baseType="lpstr">
      <vt:lpstr>Monaco</vt:lpstr>
      <vt:lpstr>Nanum Gothic Coding</vt:lpstr>
      <vt:lpstr>Noto Sans KR</vt:lpstr>
      <vt:lpstr>ui-monospace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Changseok Kang</cp:lastModifiedBy>
  <cp:revision>4</cp:revision>
  <dcterms:created xsi:type="dcterms:W3CDTF">2026-01-26T07:55:16Z</dcterms:created>
  <dcterms:modified xsi:type="dcterms:W3CDTF">2026-01-26T23:02:40Z</dcterms:modified>
</cp:coreProperties>
</file>