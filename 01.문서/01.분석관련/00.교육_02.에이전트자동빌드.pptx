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06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2DF7-40CA-1208-BF9B-CD4843CC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8D8D1-4DE4-B70A-C85F-91A51E248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9BDB1-7B9E-2AFE-13C5-67AF3F42F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74F4C-5425-0E3D-5BCC-50C6EA972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1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1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62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3.png"/><Relationship Id="rId9" Type="http://schemas.openxmlformats.org/officeDocument/2006/relationships/image" Target="../media/image80.png"/><Relationship Id="rId14" Type="http://schemas.openxmlformats.org/officeDocument/2006/relationships/image" Target="../media/image10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2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66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5" Type="http://schemas.openxmlformats.org/officeDocument/2006/relationships/image" Target="../media/image169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70.png"/><Relationship Id="rId7" Type="http://schemas.openxmlformats.org/officeDocument/2006/relationships/image" Target="../media/image1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18" Type="http://schemas.openxmlformats.org/officeDocument/2006/relationships/image" Target="../media/image19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17" Type="http://schemas.openxmlformats.org/officeDocument/2006/relationships/image" Target="../media/image19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0.png"/><Relationship Id="rId20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19" Type="http://schemas.openxmlformats.org/officeDocument/2006/relationships/image" Target="../media/image193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" y="75895"/>
            <a:ext cx="12039905" cy="6705295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13" r="-13"/>
          <a:stretch/>
        </p:blipFill>
        <p:spPr>
          <a:xfrm>
            <a:off x="10287000" y="533095"/>
            <a:ext cx="1371600" cy="1218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4810658" y="1067105"/>
            <a:ext cx="2572207" cy="36210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5010912" y="1181405"/>
            <a:ext cx="114300" cy="1335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77340" y="1657807"/>
            <a:ext cx="9046159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대처 스크립트</a:t>
            </a:r>
            <a:endParaRPr lang="en-US" sz="5400" dirty="0"/>
          </a:p>
        </p:txBody>
      </p:sp>
      <p:sp>
        <p:nvSpPr>
          <p:cNvPr id="9" name="Text 4"/>
          <p:cNvSpPr txBox="1"/>
          <p:nvPr/>
        </p:nvSpPr>
        <p:spPr>
          <a:xfrm>
            <a:off x="2795321" y="2590495"/>
            <a:ext cx="66111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</a:t>
            </a:r>
            <a:r>
              <a:rPr lang="en-US" sz="2200" kern="0" spc="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Agent Build Automation Suite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5201107" y="1152144"/>
            <a:ext cx="206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DEVOPS AUTOMATION GUIDE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1" b="-11"/>
          <a:stretch/>
        </p:blipFill>
        <p:spPr>
          <a:xfrm>
            <a:off x="990295" y="3467405"/>
            <a:ext cx="3200400" cy="200070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324405" y="3705149"/>
            <a:ext cx="533095" cy="5330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76195" y="3857854"/>
            <a:ext cx="228600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493215" y="4390949"/>
            <a:ext cx="220187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Environment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768450" y="4772254"/>
            <a:ext cx="16450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Solaris, AIX, HP-UX, Linux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Multi-OS Build Support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-11" b="-11"/>
          <a:stretch/>
        </p:blipFill>
        <p:spPr>
          <a:xfrm>
            <a:off x="4496105" y="3467405"/>
            <a:ext cx="3200400" cy="2000707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829300" y="3705149"/>
            <a:ext cx="533095" cy="5330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5995721" y="3857854"/>
            <a:ext cx="200254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377586" y="4390949"/>
            <a:ext cx="14401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Process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5326380" y="4772254"/>
            <a:ext cx="15462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 점검 → OS 자동 패치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One-Click Build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 t="-11" b="-11"/>
          <a:stretch/>
        </p:blipFill>
        <p:spPr>
          <a:xfrm>
            <a:off x="8001000" y="3467405"/>
            <a:ext cx="3200400" cy="2000707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9334195" y="3705149"/>
            <a:ext cx="533095" cy="5330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9458554" y="3857854"/>
            <a:ext cx="286207" cy="2286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910828" y="4390949"/>
            <a:ext cx="138348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8934602" y="4772254"/>
            <a:ext cx="1343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Binary: </a:t>
            </a:r>
            <a:r>
              <a:rPr lang="en-US" sz="1000" b="1" dirty="0" err="1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Detailed Build Logs 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685800" y="5462626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Text 16"/>
          <p:cNvSpPr txBox="1"/>
          <p:nvPr/>
        </p:nvSpPr>
        <p:spPr>
          <a:xfrm>
            <a:off x="685800" y="5777179"/>
            <a:ext cx="13560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Included Scripts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685800" y="6081674"/>
            <a:ext cx="2590495" cy="437998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1285646" y="6224321"/>
            <a:ext cx="114300" cy="152705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3429000" y="6081674"/>
            <a:ext cx="2590495" cy="437998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4229100" y="6224321"/>
            <a:ext cx="114300" cy="152705"/>
          </a:xfrm>
          <a:prstGeom prst="rect">
            <a:avLst/>
          </a:prstGeom>
        </p:spPr>
      </p:pic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6172200" y="6081674"/>
            <a:ext cx="2590495" cy="437998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7105802" y="6224321"/>
            <a:ext cx="114300" cy="152705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12"/>
          <a:srcRect l="-11" r="-11"/>
          <a:stretch/>
        </p:blipFill>
        <p:spPr>
          <a:xfrm>
            <a:off x="8915400" y="6081674"/>
            <a:ext cx="2590495" cy="437998"/>
          </a:xfrm>
          <a:prstGeom prst="rect">
            <a:avLst/>
          </a:prstGeom>
        </p:spPr>
      </p:pic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9483242" y="6224321"/>
            <a:ext cx="114300" cy="152705"/>
          </a:xfrm>
          <a:prstGeom prst="rect">
            <a:avLst/>
          </a:prstGeom>
        </p:spPr>
      </p:pic>
      <p:sp>
        <p:nvSpPr>
          <p:cNvPr id="36" name="Shape 17"/>
          <p:cNvSpPr/>
          <p:nvPr/>
        </p:nvSpPr>
        <p:spPr>
          <a:xfrm>
            <a:off x="10550347" y="6205118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18"/>
          <p:cNvSpPr txBox="1"/>
          <p:nvPr/>
        </p:nvSpPr>
        <p:spPr>
          <a:xfrm>
            <a:off x="10092233" y="5767121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</a:t>
            </a:r>
            <a:endParaRPr lang="en-US" sz="900" dirty="0"/>
          </a:p>
        </p:txBody>
      </p:sp>
      <p:sp>
        <p:nvSpPr>
          <p:cNvPr id="38" name="Text 19"/>
          <p:cNvSpPr txBox="1"/>
          <p:nvPr/>
        </p:nvSpPr>
        <p:spPr>
          <a:xfrm>
            <a:off x="10348265" y="5767121"/>
            <a:ext cx="124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900" dirty="0"/>
          </a:p>
        </p:txBody>
      </p:sp>
      <p:sp>
        <p:nvSpPr>
          <p:cNvPr id="39" name="Text 20"/>
          <p:cNvSpPr txBox="1"/>
          <p:nvPr/>
        </p:nvSpPr>
        <p:spPr>
          <a:xfrm>
            <a:off x="10425074" y="5767121"/>
            <a:ext cx="12783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Updated 2026-01-26</a:t>
            </a:r>
            <a:endParaRPr lang="en-US" sz="900" dirty="0"/>
          </a:p>
        </p:txBody>
      </p:sp>
      <p:sp>
        <p:nvSpPr>
          <p:cNvPr id="40" name="Text 21"/>
          <p:cNvSpPr txBox="1"/>
          <p:nvPr/>
        </p:nvSpPr>
        <p:spPr>
          <a:xfrm>
            <a:off x="1476756" y="6234379"/>
            <a:ext cx="14282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check_build_env.sh</a:t>
            </a:r>
            <a:endParaRPr lang="en-US" sz="1000" dirty="0"/>
          </a:p>
        </p:txBody>
      </p:sp>
      <p:sp>
        <p:nvSpPr>
          <p:cNvPr id="41" name="Text 22"/>
          <p:cNvSpPr txBox="1"/>
          <p:nvPr/>
        </p:nvSpPr>
        <p:spPr>
          <a:xfrm>
            <a:off x="4419295" y="6234379"/>
            <a:ext cx="952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autopatch.sh</a:t>
            </a:r>
            <a:endParaRPr lang="en-US" sz="1000" dirty="0"/>
          </a:p>
        </p:txBody>
      </p:sp>
      <p:sp>
        <p:nvSpPr>
          <p:cNvPr id="42" name="Text 23"/>
          <p:cNvSpPr txBox="1"/>
          <p:nvPr/>
        </p:nvSpPr>
        <p:spPr>
          <a:xfrm>
            <a:off x="7295998" y="6234379"/>
            <a:ext cx="6355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build.sh</a:t>
            </a:r>
            <a:endParaRPr lang="en-US" sz="1000" dirty="0"/>
          </a:p>
        </p:txBody>
      </p:sp>
      <p:sp>
        <p:nvSpPr>
          <p:cNvPr id="43" name="Text 24"/>
          <p:cNvSpPr txBox="1"/>
          <p:nvPr/>
        </p:nvSpPr>
        <p:spPr>
          <a:xfrm>
            <a:off x="9674352" y="6234379"/>
            <a:ext cx="952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build_all.sh</a:t>
            </a:r>
            <a:endParaRPr lang="en-US" sz="1000" dirty="0"/>
          </a:p>
        </p:txBody>
      </p:sp>
      <p:sp>
        <p:nvSpPr>
          <p:cNvPr id="44" name="Text 25"/>
          <p:cNvSpPr txBox="1"/>
          <p:nvPr/>
        </p:nvSpPr>
        <p:spPr>
          <a:xfrm>
            <a:off x="10607954" y="6215177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90295"/>
            <a:ext cx="12191695" cy="58677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457200" y="1447495"/>
            <a:ext cx="3610051" cy="4953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2530145" y="1762049"/>
            <a:ext cx="1218895" cy="1218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20794" y="1447495"/>
            <a:ext cx="7220102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4520794" y="1447495"/>
            <a:ext cx="57607" cy="1181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69357" y="1752905"/>
            <a:ext cx="9144" cy="571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99686" y="17145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2098" y="2133295"/>
            <a:ext cx="142646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07101" y="1638605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 스크립트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607101" y="1943100"/>
            <a:ext cx="613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요소 사전 검증으로 빌드 중단 예방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607101" y="2210105"/>
            <a:ext cx="5907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682996" y="2257654"/>
            <a:ext cx="5148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OS 확인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270041" y="2210105"/>
            <a:ext cx="571500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45936" y="2257654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GCC/CC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910121" y="2210105"/>
            <a:ext cx="638251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86016" y="2257654"/>
            <a:ext cx="5623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Headers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618781" y="2210105"/>
            <a:ext cx="4288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695590" y="2257654"/>
            <a:ext cx="3529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Libs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20794" y="2781605"/>
            <a:ext cx="7220102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4520794" y="2781605"/>
            <a:ext cx="57607" cy="1181405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69357" y="3086100"/>
            <a:ext cx="9144" cy="571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99686" y="3047695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78324" y="3467405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07101" y="2971800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패치 스크립트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607101" y="3276295"/>
            <a:ext cx="6057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상이한 설정 및 Makefile 자동 수정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607101" y="3543300"/>
            <a:ext cx="543154" cy="228600"/>
          </a:xfrm>
          <a:prstGeom prst="roundRect">
            <a:avLst>
              <a:gd name="adj" fmla="val 66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682996" y="3571646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23406" y="3543300"/>
            <a:ext cx="342900" cy="228600"/>
          </a:xfrm>
          <a:prstGeom prst="roundRect">
            <a:avLst>
              <a:gd name="adj" fmla="val 66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299302" y="3571646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634886" y="3543300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710782" y="3571646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20794" y="4114800"/>
            <a:ext cx="722010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6" name="Shape 30"/>
          <p:cNvSpPr/>
          <p:nvPr/>
        </p:nvSpPr>
        <p:spPr>
          <a:xfrm>
            <a:off x="4520794" y="4114800"/>
            <a:ext cx="57607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369357" y="4401007"/>
            <a:ext cx="9144" cy="571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799686" y="4362602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54550" y="4781398"/>
            <a:ext cx="237744" cy="19019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607101" y="4304995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일괄 빌드 스크립트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5607101" y="4610405"/>
            <a:ext cx="613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빌드 프로세스 자동 실행 및 검증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607101" y="4886554"/>
            <a:ext cx="4288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Clean</a:t>
            </a:r>
            <a:endParaRPr lang="en-US" sz="9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t="-29131" b="-29131"/>
          <a:stretch/>
        </p:blipFill>
        <p:spPr>
          <a:xfrm>
            <a:off x="6025896" y="4876495"/>
            <a:ext cx="105156" cy="19019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206947" y="4886554"/>
            <a:ext cx="695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Configure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rcRect t="-29131" b="-29131"/>
          <a:stretch/>
        </p:blipFill>
        <p:spPr>
          <a:xfrm>
            <a:off x="6900977" y="4876495"/>
            <a:ext cx="105156" cy="19019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082028" y="4886554"/>
            <a:ext cx="3529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Make</a:t>
            </a:r>
            <a:endParaRPr lang="en-US" sz="9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rcRect t="-29131" b="-29131"/>
          <a:stretch/>
        </p:blipFill>
        <p:spPr>
          <a:xfrm>
            <a:off x="7432243" y="4876495"/>
            <a:ext cx="105156" cy="19019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613294" y="4886554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Verify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4520794" y="5410505"/>
            <a:ext cx="7220102" cy="990295"/>
          </a:xfrm>
          <a:prstGeom prst="roundRect">
            <a:avLst>
              <a:gd name="adj" fmla="val 10654"/>
            </a:avLst>
          </a:prstGeom>
          <a:solidFill>
            <a:srgbClr val="1F2937"/>
          </a:solidFill>
          <a:ln/>
        </p:spPr>
      </p:sp>
      <p:sp>
        <p:nvSpPr>
          <p:cNvPr id="50" name="Shape 40"/>
          <p:cNvSpPr/>
          <p:nvPr/>
        </p:nvSpPr>
        <p:spPr>
          <a:xfrm>
            <a:off x="4520794" y="5410505"/>
            <a:ext cx="57607" cy="990295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 t="-186" b="-186"/>
          <a:stretch/>
        </p:blipFill>
        <p:spPr>
          <a:xfrm>
            <a:off x="11658600" y="5410505"/>
            <a:ext cx="75895" cy="990295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5369357" y="5619902"/>
            <a:ext cx="9144" cy="5715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4799686" y="5581498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4863694" y="6001207"/>
            <a:ext cx="219456" cy="19019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607101" y="5486400"/>
            <a:ext cx="18699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빌드 스크립트</a:t>
            </a:r>
            <a:endParaRPr lang="en-US" sz="1500" dirty="0"/>
          </a:p>
        </p:txBody>
      </p:sp>
      <p:sp>
        <p:nvSpPr>
          <p:cNvPr id="56" name="Shape 44"/>
          <p:cNvSpPr/>
          <p:nvPr/>
        </p:nvSpPr>
        <p:spPr>
          <a:xfrm>
            <a:off x="10677449" y="5544007"/>
            <a:ext cx="875995" cy="190195"/>
          </a:xfrm>
          <a:prstGeom prst="roundRect">
            <a:avLst>
              <a:gd name="adj" fmla="val 96154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10753344" y="5553151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5607101" y="5790895"/>
            <a:ext cx="613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모든 단계를 단일 명령어로 수행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5607101" y="6057900"/>
            <a:ext cx="1580998" cy="267005"/>
          </a:xfrm>
          <a:prstGeom prst="roundRect">
            <a:avLst>
              <a:gd name="adj" fmla="val 4892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5721401" y="6124651"/>
            <a:ext cx="152705" cy="133502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5950001" y="6057900"/>
            <a:ext cx="1181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./build_all.sh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1803197" y="1914754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089404" y="2200046"/>
            <a:ext cx="342900" cy="342900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1255471" y="3133649"/>
            <a:ext cx="20107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자동화의 목적</a:t>
            </a:r>
            <a:endParaRPr lang="en-US" sz="2200" dirty="0"/>
          </a:p>
        </p:txBody>
      </p:sp>
      <p:sp>
        <p:nvSpPr>
          <p:cNvPr id="65" name="Text 51"/>
          <p:cNvSpPr txBox="1"/>
          <p:nvPr/>
        </p:nvSpPr>
        <p:spPr>
          <a:xfrm>
            <a:off x="1207008" y="3705149"/>
            <a:ext cx="2115007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빌드 실패 요인을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차단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과정을 단축하여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빌드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실현합니다. </a:t>
            </a:r>
            <a:endParaRPr lang="en-US" sz="1300" dirty="0"/>
          </a:p>
        </p:txBody>
      </p:sp>
      <p:sp>
        <p:nvSpPr>
          <p:cNvPr id="66" name="Shape 52"/>
          <p:cNvSpPr/>
          <p:nvPr/>
        </p:nvSpPr>
        <p:spPr>
          <a:xfrm>
            <a:off x="771754" y="5277002"/>
            <a:ext cx="29809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37514" y="5514746"/>
            <a:ext cx="190195" cy="190195"/>
          </a:xfrm>
          <a:prstGeom prst="rect">
            <a:avLst/>
          </a:prstGeom>
        </p:spPr>
      </p:pic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112264" y="5514746"/>
            <a:ext cx="190195" cy="190195"/>
          </a:xfrm>
          <a:prstGeom prst="rect">
            <a:avLst/>
          </a:prstGeom>
        </p:spPr>
      </p:pic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140050" y="5514746"/>
            <a:ext cx="190195" cy="190195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954634" y="5772607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1868119" y="5772607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확보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2895905" y="5772607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 유지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457200" y="30449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685800" y="304495"/>
            <a:ext cx="36804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개요: 목적과 구성</a:t>
            </a:r>
            <a:endParaRPr lang="en-US" sz="2700" dirty="0"/>
          </a:p>
        </p:txBody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666476" y="405079"/>
            <a:ext cx="190195" cy="190195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10933481" y="352044"/>
            <a:ext cx="9473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Overview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9049"/>
            <a:ext cx="12191695" cy="6238951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228600" y="847649"/>
            <a:ext cx="3810305" cy="1028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2044" y="972007"/>
            <a:ext cx="304495" cy="3044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437998" y="1047902"/>
            <a:ext cx="133502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1754" y="972007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OS 및 환경 확인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71754" y="1181405"/>
            <a:ext cx="3258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OS 종류 식별 (uname -s)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771754" y="1390802"/>
            <a:ext cx="3143707" cy="3621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8505" y="1543507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28D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OS=$(uname -s)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4190695" y="847649"/>
            <a:ext cx="3810305" cy="10287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15054" y="972007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371746" y="1047902"/>
            <a:ext cx="19019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733849" y="972007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컴파일러 감지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4733849" y="1181405"/>
            <a:ext cx="3333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GCC 또는 CC 존재 여부 및 우선순위 확인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73" b="-73"/>
          <a:stretch/>
        </p:blipFill>
        <p:spPr>
          <a:xfrm>
            <a:off x="4733849" y="1390802"/>
            <a:ext cx="3143707" cy="2862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800600" y="1476756"/>
            <a:ext cx="257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5048402" y="1447495"/>
            <a:ext cx="143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5188306" y="1476756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cc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8153705" y="847649"/>
            <a:ext cx="3810305" cy="1028700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8343900" y="1047902"/>
            <a:ext cx="171907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695944" y="972007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필수 의존성 검증</a:t>
            </a:r>
            <a:endParaRPr lang="en-US" sz="1000" dirty="0"/>
          </a:p>
        </p:txBody>
      </p:sp>
      <p:sp>
        <p:nvSpPr>
          <p:cNvPr id="24" name="Text 14"/>
          <p:cNvSpPr txBox="1"/>
          <p:nvPr/>
        </p:nvSpPr>
        <p:spPr>
          <a:xfrm>
            <a:off x="8695944" y="1181405"/>
            <a:ext cx="3333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헤더 및 라이브러리 검사</a:t>
            </a:r>
            <a:endParaRPr lang="en-US" sz="9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8695944" y="1390802"/>
            <a:ext cx="599846" cy="20939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762695" y="1438351"/>
            <a:ext cx="54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socket.h</a:t>
            </a:r>
            <a:endParaRPr lang="en-US" sz="9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l="-63" r="-63"/>
          <a:stretch/>
        </p:blipFill>
        <p:spPr>
          <a:xfrm>
            <a:off x="9344254" y="1390802"/>
            <a:ext cx="428854" cy="20939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9411005" y="1438351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-lnsl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514807" y="2029054"/>
            <a:ext cx="1027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결과 예시 </a:t>
            </a:r>
            <a:endParaRPr lang="en-US" sz="12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267005" y="2066544"/>
            <a:ext cx="171907" cy="1527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0827410" y="2115007"/>
            <a:ext cx="1181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Simulated Output</a:t>
            </a:r>
            <a:endParaRPr lang="en-US" sz="9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t="-4" b="-4"/>
          <a:stretch/>
        </p:blipFill>
        <p:spPr>
          <a:xfrm>
            <a:off x="228600" y="2314346"/>
            <a:ext cx="11734495" cy="4086454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rcRect t="-34" b="-34"/>
          <a:stretch/>
        </p:blipFill>
        <p:spPr>
          <a:xfrm>
            <a:off x="237744" y="2324405"/>
            <a:ext cx="11716207" cy="314554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352044" y="2428646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0"/>
          <p:cNvSpPr/>
          <p:nvPr/>
        </p:nvSpPr>
        <p:spPr>
          <a:xfrm>
            <a:off x="523951" y="2428646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694944" y="2428646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2"/>
          <p:cNvSpPr txBox="1"/>
          <p:nvPr/>
        </p:nvSpPr>
        <p:spPr>
          <a:xfrm>
            <a:off x="5176418" y="2409444"/>
            <a:ext cx="23582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user@solaris-server</a:t>
            </a:r>
            <a:r>
              <a:rPr lang="en-US" sz="900" dirty="0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:~/</a:t>
            </a:r>
            <a:r>
              <a:rPr lang="en-US" sz="900" dirty="0" err="1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eCAMS_agent</a:t>
            </a:r>
            <a:endParaRPr lang="en-US" sz="900" dirty="0"/>
          </a:p>
        </p:txBody>
      </p:sp>
      <p:sp>
        <p:nvSpPr>
          <p:cNvPr id="38" name="Text 23"/>
          <p:cNvSpPr txBox="1"/>
          <p:nvPr/>
        </p:nvSpPr>
        <p:spPr>
          <a:xfrm>
            <a:off x="390449" y="2819095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sp>
        <p:nvSpPr>
          <p:cNvPr id="39" name="Text 24"/>
          <p:cNvSpPr txBox="1"/>
          <p:nvPr/>
        </p:nvSpPr>
        <p:spPr>
          <a:xfrm>
            <a:off x="523951" y="2819095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./check_build_env.sh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390449" y="3243377"/>
            <a:ext cx="2467051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1" name="Text 26"/>
          <p:cNvSpPr txBox="1"/>
          <p:nvPr/>
        </p:nvSpPr>
        <p:spPr>
          <a:xfrm>
            <a:off x="390449" y="3043123"/>
            <a:ext cx="2936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 </a:t>
            </a:r>
            <a:r>
              <a:rPr lang="en-US" sz="900" b="1" dirty="0" err="1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</a:t>
            </a: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Agent Build Environment Check ===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390449" y="3353105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1. OS 확인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390449" y="3538728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OS: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619049" y="3538728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SunOS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390449" y="3800246"/>
            <a:ext cx="1114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2. 컴파일러 확인</a:t>
            </a:r>
            <a:endParaRPr lang="en-US" sz="900" dirty="0"/>
          </a:p>
        </p:txBody>
      </p:sp>
      <p:sp>
        <p:nvSpPr>
          <p:cNvPr id="46" name="Text 31"/>
          <p:cNvSpPr txBox="1"/>
          <p:nvPr/>
        </p:nvSpPr>
        <p:spPr>
          <a:xfrm>
            <a:off x="390449" y="3985870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GCC: gcc (GCC) 7.3.0</a:t>
            </a:r>
            <a:endParaRPr lang="en-US" sz="900" dirty="0"/>
          </a:p>
        </p:txBody>
      </p:sp>
      <p:sp>
        <p:nvSpPr>
          <p:cNvPr id="47" name="Text 32"/>
          <p:cNvSpPr txBox="1"/>
          <p:nvPr/>
        </p:nvSpPr>
        <p:spPr>
          <a:xfrm>
            <a:off x="390449" y="4248302"/>
            <a:ext cx="1172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3. 필수 헤더 확인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390449" y="4433926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459029" y="4433926"/>
            <a:ext cx="1237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sys/socket.h found</a:t>
            </a:r>
            <a:endParaRPr lang="en-US" sz="900" dirty="0"/>
          </a:p>
        </p:txBody>
      </p:sp>
      <p:sp>
        <p:nvSpPr>
          <p:cNvPr id="50" name="Text 35"/>
          <p:cNvSpPr txBox="1"/>
          <p:nvPr/>
        </p:nvSpPr>
        <p:spPr>
          <a:xfrm>
            <a:off x="390449" y="4619549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36"/>
          <p:cNvSpPr txBox="1"/>
          <p:nvPr/>
        </p:nvSpPr>
        <p:spPr>
          <a:xfrm>
            <a:off x="459029" y="4619549"/>
            <a:ext cx="1237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netinet/in.h found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390449" y="4805172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459029" y="4805172"/>
            <a:ext cx="894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netdb.h found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390449" y="4990795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459029" y="4990795"/>
            <a:ext cx="11000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sys/time.h found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6172200" y="4248302"/>
            <a:ext cx="15535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4. 필수 라이브러리 확인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6172200" y="4433926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6240780" y="4433926"/>
            <a:ext cx="20601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libnsl found (or not required)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6172200" y="4619549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✗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6240780" y="4619549"/>
            <a:ext cx="24716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libsocket NOT found (install needed)</a:t>
            </a:r>
            <a:endParaRPr lang="en-US" sz="900" dirty="0"/>
          </a:p>
        </p:txBody>
      </p:sp>
      <p:sp>
        <p:nvSpPr>
          <p:cNvPr id="61" name="Text 46"/>
          <p:cNvSpPr txBox="1"/>
          <p:nvPr/>
        </p:nvSpPr>
        <p:spPr>
          <a:xfrm>
            <a:off x="6172200" y="4805172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47"/>
          <p:cNvSpPr txBox="1"/>
          <p:nvPr/>
        </p:nvSpPr>
        <p:spPr>
          <a:xfrm>
            <a:off x="6240780" y="4805172"/>
            <a:ext cx="894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libxnet found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390449" y="5253228"/>
            <a:ext cx="11823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5. autoconf 버전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390449" y="5438851"/>
            <a:ext cx="2595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Autoconf: autoconf (GNU Autoconf) 2.69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390449" y="5672023"/>
            <a:ext cx="126644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390449" y="5747918"/>
            <a:ext cx="15078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 Check Complete ===</a:t>
            </a:r>
            <a:endParaRPr lang="en-US" sz="900" dirty="0"/>
          </a:p>
        </p:txBody>
      </p:sp>
      <p:sp>
        <p:nvSpPr>
          <p:cNvPr id="67" name="Text 52"/>
          <p:cNvSpPr txBox="1"/>
          <p:nvPr/>
        </p:nvSpPr>
        <p:spPr>
          <a:xfrm>
            <a:off x="390449" y="5971946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4"/>
          <a:srcRect l="-400" r="-400"/>
          <a:stretch/>
        </p:blipFill>
        <p:spPr>
          <a:xfrm>
            <a:off x="523951" y="5982005"/>
            <a:ext cx="57607" cy="114300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10446106" y="6515100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4"/>
          <p:cNvSpPr txBox="1"/>
          <p:nvPr/>
        </p:nvSpPr>
        <p:spPr>
          <a:xfrm>
            <a:off x="10560406" y="6476695"/>
            <a:ext cx="419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</a:t>
            </a:r>
            <a:endParaRPr lang="en-US" sz="900" dirty="0"/>
          </a:p>
        </p:txBody>
      </p:sp>
      <p:sp>
        <p:nvSpPr>
          <p:cNvPr id="71" name="Shape 55"/>
          <p:cNvSpPr/>
          <p:nvPr/>
        </p:nvSpPr>
        <p:spPr>
          <a:xfrm>
            <a:off x="11015777" y="6515100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6"/>
          <p:cNvSpPr txBox="1"/>
          <p:nvPr/>
        </p:nvSpPr>
        <p:spPr>
          <a:xfrm>
            <a:off x="11130077" y="6476695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11641226" y="6515100"/>
            <a:ext cx="75895" cy="758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11755526" y="6476695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</a:t>
            </a:r>
            <a:endParaRPr lang="en-US" sz="900" dirty="0"/>
          </a:p>
        </p:txBody>
      </p:sp>
      <p:sp>
        <p:nvSpPr>
          <p:cNvPr id="75" name="Shape 59"/>
          <p:cNvSpPr/>
          <p:nvPr/>
        </p:nvSpPr>
        <p:spPr>
          <a:xfrm>
            <a:off x="0" y="0"/>
            <a:ext cx="12191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60"/>
          <p:cNvSpPr/>
          <p:nvPr/>
        </p:nvSpPr>
        <p:spPr>
          <a:xfrm>
            <a:off x="0" y="609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7" name="Shape 61"/>
          <p:cNvSpPr/>
          <p:nvPr/>
        </p:nvSpPr>
        <p:spPr>
          <a:xfrm>
            <a:off x="304495" y="190195"/>
            <a:ext cx="57607" cy="228600"/>
          </a:xfrm>
          <a:prstGeom prst="roundRect">
            <a:avLst>
              <a:gd name="adj" fmla="val 1587307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2"/>
          <p:cNvSpPr txBox="1"/>
          <p:nvPr/>
        </p:nvSpPr>
        <p:spPr>
          <a:xfrm>
            <a:off x="476402" y="152705"/>
            <a:ext cx="218724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 스크립트</a:t>
            </a:r>
            <a:endParaRPr lang="en-US" sz="1800" dirty="0"/>
          </a:p>
        </p:txBody>
      </p:sp>
      <p:pic>
        <p:nvPicPr>
          <p:cNvPr id="79" name="Image 14" descr="preencoded.png"/>
          <p:cNvPicPr>
            <a:picLocks noChangeAspect="1"/>
          </p:cNvPicPr>
          <p:nvPr/>
        </p:nvPicPr>
        <p:blipFill>
          <a:blip r:embed="rId15"/>
          <a:srcRect l="-47" r="-47"/>
          <a:stretch/>
        </p:blipFill>
        <p:spPr>
          <a:xfrm>
            <a:off x="2343607" y="200254"/>
            <a:ext cx="1410005" cy="209398"/>
          </a:xfrm>
          <a:prstGeom prst="rect">
            <a:avLst/>
          </a:prstGeom>
        </p:spPr>
      </p:pic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785348" y="228600"/>
            <a:ext cx="152705" cy="152705"/>
          </a:xfrm>
          <a:prstGeom prst="rect">
            <a:avLst/>
          </a:prstGeom>
        </p:spPr>
      </p:pic>
      <p:sp>
        <p:nvSpPr>
          <p:cNvPr id="81" name="Text 63"/>
          <p:cNvSpPr txBox="1"/>
          <p:nvPr/>
        </p:nvSpPr>
        <p:spPr>
          <a:xfrm>
            <a:off x="2429561" y="237744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check_build_env.sh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11013948" y="219456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Pre-build Check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9049"/>
            <a:ext cx="12191695" cy="6238951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75995"/>
            <a:ext cx="133502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7998" y="847649"/>
            <a:ext cx="1432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자동 조치 항목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228600" y="1152144"/>
            <a:ext cx="3838651" cy="1181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2044" y="1276502"/>
            <a:ext cx="228600" cy="22860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9651" y="1333195"/>
            <a:ext cx="114300" cy="1143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7454" y="1314907"/>
            <a:ext cx="10543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SunOS (Solaris)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37" b="-37"/>
          <a:stretch/>
        </p:blipFill>
        <p:spPr>
          <a:xfrm>
            <a:off x="352044" y="1580998"/>
            <a:ext cx="3590849" cy="62910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18795" y="1686154"/>
            <a:ext cx="2641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 += -lxnet -lnsl -lsocket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418795" y="1952244"/>
            <a:ext cx="21881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PATH=/usr/xpg4/bin:$PATH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177894" y="1152144"/>
            <a:ext cx="3838651" cy="11814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302252" y="1276502"/>
            <a:ext cx="228600" cy="2286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58945" y="1333195"/>
            <a:ext cx="114300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606747" y="1314907"/>
            <a:ext cx="6126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 (IBM)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 t="-37" b="-37"/>
          <a:stretch/>
        </p:blipFill>
        <p:spPr>
          <a:xfrm>
            <a:off x="4302252" y="1580998"/>
            <a:ext cx="3590849" cy="6291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4369003" y="1686154"/>
            <a:ext cx="11896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CC="xlc -q32"</a:t>
            </a:r>
            <a:endParaRPr lang="en-US" sz="1200" dirty="0"/>
          </a:p>
        </p:txBody>
      </p:sp>
      <p:sp>
        <p:nvSpPr>
          <p:cNvPr id="20" name="Text 11"/>
          <p:cNvSpPr txBox="1"/>
          <p:nvPr/>
        </p:nvSpPr>
        <p:spPr>
          <a:xfrm>
            <a:off x="4369003" y="1952244"/>
            <a:ext cx="2551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CFLAGS="-qlanglvl=extc99 -g"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8128102" y="1152144"/>
            <a:ext cx="3838651" cy="118140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251546" y="1276502"/>
            <a:ext cx="228600" cy="2286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09153" y="1333195"/>
            <a:ext cx="114300" cy="1143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556955" y="1314907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</a:t>
            </a:r>
            <a:endParaRPr lang="en-US" sz="9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6"/>
          <a:srcRect t="-37" b="-37"/>
          <a:stretch/>
        </p:blipFill>
        <p:spPr>
          <a:xfrm>
            <a:off x="8251546" y="1580998"/>
            <a:ext cx="3590849" cy="629107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318297" y="1686154"/>
            <a:ext cx="1006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CC="cc -Ae"</a:t>
            </a:r>
            <a:endParaRPr lang="en-US" sz="1200" dirty="0"/>
          </a:p>
        </p:txBody>
      </p:sp>
      <p:sp>
        <p:nvSpPr>
          <p:cNvPr id="27" name="Text 15"/>
          <p:cNvSpPr txBox="1"/>
          <p:nvPr/>
        </p:nvSpPr>
        <p:spPr>
          <a:xfrm>
            <a:off x="8318297" y="1952244"/>
            <a:ext cx="30038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CFLAGS="-g +DA2.0W" LIBS="-lxnet"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267005" y="2467051"/>
            <a:ext cx="105156" cy="1143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48056" y="2438705"/>
            <a:ext cx="20519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Linux: 별도 패치 불필요 (표준 호환)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514807" y="2790749"/>
            <a:ext cx="13523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패치 로직 (Bash) 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267005" y="2819095"/>
            <a:ext cx="171907" cy="13350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0827410" y="2781605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autopatch.sh</a:t>
            </a:r>
            <a:endParaRPr lang="en-US" sz="12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rcRect t="-5" b="-5"/>
          <a:stretch/>
        </p:blipFill>
        <p:spPr>
          <a:xfrm>
            <a:off x="228600" y="3038551"/>
            <a:ext cx="11734495" cy="3286354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4"/>
          <a:srcRect l="-12" r="-12"/>
          <a:stretch/>
        </p:blipFill>
        <p:spPr>
          <a:xfrm>
            <a:off x="237744" y="3047695"/>
            <a:ext cx="11716207" cy="390449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352044" y="3191256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0"/>
          <p:cNvSpPr/>
          <p:nvPr/>
        </p:nvSpPr>
        <p:spPr>
          <a:xfrm>
            <a:off x="523951" y="3191256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1"/>
          <p:cNvSpPr/>
          <p:nvPr/>
        </p:nvSpPr>
        <p:spPr>
          <a:xfrm>
            <a:off x="694944" y="3191256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2"/>
          <p:cNvSpPr txBox="1"/>
          <p:nvPr/>
        </p:nvSpPr>
        <p:spPr>
          <a:xfrm>
            <a:off x="5583326" y="3152851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vim autopatch.sh</a:t>
            </a:r>
            <a:endParaRPr lang="en-US" sz="1200" dirty="0"/>
          </a:p>
        </p:txBody>
      </p:sp>
      <p:sp>
        <p:nvSpPr>
          <p:cNvPr id="39" name="Text 23"/>
          <p:cNvSpPr txBox="1"/>
          <p:nvPr/>
        </p:nvSpPr>
        <p:spPr>
          <a:xfrm>
            <a:off x="390449" y="3619195"/>
            <a:ext cx="755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#!/bin/bash</a:t>
            </a:r>
            <a:endParaRPr lang="en-US" sz="900" dirty="0"/>
          </a:p>
        </p:txBody>
      </p:sp>
      <p:sp>
        <p:nvSpPr>
          <p:cNvPr id="40" name="Text 24"/>
          <p:cNvSpPr txBox="1"/>
          <p:nvPr/>
        </p:nvSpPr>
        <p:spPr>
          <a:xfrm>
            <a:off x="390449" y="3804818"/>
            <a:ext cx="1286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OS별 자동 패치 로직</a:t>
            </a:r>
            <a:endParaRPr lang="en-US" sz="900" dirty="0"/>
          </a:p>
        </p:txBody>
      </p:sp>
      <p:sp>
        <p:nvSpPr>
          <p:cNvPr id="41" name="Text 25"/>
          <p:cNvSpPr txBox="1"/>
          <p:nvPr/>
        </p:nvSpPr>
        <p:spPr>
          <a:xfrm>
            <a:off x="390449" y="4176979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OS</a:t>
            </a:r>
            <a:endParaRPr lang="en-US" sz="900" dirty="0"/>
          </a:p>
        </p:txBody>
      </p:sp>
      <p:sp>
        <p:nvSpPr>
          <p:cNvPr id="42" name="Text 26"/>
          <p:cNvSpPr txBox="1"/>
          <p:nvPr/>
        </p:nvSpPr>
        <p:spPr>
          <a:xfrm>
            <a:off x="504749" y="4176979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=$(uname -s)</a:t>
            </a:r>
            <a:endParaRPr lang="en-US" sz="900" dirty="0"/>
          </a:p>
        </p:txBody>
      </p:sp>
      <p:sp>
        <p:nvSpPr>
          <p:cNvPr id="43" name="Text 27"/>
          <p:cNvSpPr txBox="1"/>
          <p:nvPr/>
        </p:nvSpPr>
        <p:spPr>
          <a:xfrm>
            <a:off x="390449" y="4548226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case</a:t>
            </a:r>
            <a:endParaRPr lang="en-US" sz="900" dirty="0"/>
          </a:p>
        </p:txBody>
      </p:sp>
      <p:sp>
        <p:nvSpPr>
          <p:cNvPr id="44" name="Text 28"/>
          <p:cNvSpPr txBox="1"/>
          <p:nvPr/>
        </p:nvSpPr>
        <p:spPr>
          <a:xfrm>
            <a:off x="619049" y="4548226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"$OS"</a:t>
            </a:r>
            <a:endParaRPr lang="en-US" sz="900" dirty="0"/>
          </a:p>
        </p:txBody>
      </p:sp>
      <p:sp>
        <p:nvSpPr>
          <p:cNvPr id="45" name="Text 29"/>
          <p:cNvSpPr txBox="1"/>
          <p:nvPr/>
        </p:nvSpPr>
        <p:spPr>
          <a:xfrm>
            <a:off x="905256" y="4548226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390449" y="4733849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SunOS)</a:t>
            </a:r>
            <a:endParaRPr lang="en-US" sz="900" dirty="0"/>
          </a:p>
        </p:txBody>
      </p:sp>
      <p:sp>
        <p:nvSpPr>
          <p:cNvPr id="47" name="Text 31"/>
          <p:cNvSpPr txBox="1"/>
          <p:nvPr/>
        </p:nvSpPr>
        <p:spPr>
          <a:xfrm>
            <a:off x="390449" y="4919472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echo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676656" y="4919472"/>
            <a:ext cx="198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"Applying Solaris patches..."</a:t>
            </a:r>
            <a:endParaRPr lang="en-US" sz="900" dirty="0"/>
          </a:p>
        </p:txBody>
      </p:sp>
      <p:sp>
        <p:nvSpPr>
          <p:cNvPr id="49" name="Text 33"/>
          <p:cNvSpPr txBox="1"/>
          <p:nvPr/>
        </p:nvSpPr>
        <p:spPr>
          <a:xfrm>
            <a:off x="390449" y="5105095"/>
            <a:ext cx="31638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Makefile.in의 LIBS 변수에 네트워크 라이브러리 추가</a:t>
            </a:r>
            <a:endParaRPr lang="en-US" sz="900" dirty="0"/>
          </a:p>
        </p:txBody>
      </p:sp>
      <p:sp>
        <p:nvSpPr>
          <p:cNvPr id="50" name="Text 34"/>
          <p:cNvSpPr txBox="1"/>
          <p:nvPr/>
        </p:nvSpPr>
        <p:spPr>
          <a:xfrm>
            <a:off x="390449" y="5290718"/>
            <a:ext cx="486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sed -i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790956" y="5290718"/>
            <a:ext cx="3003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's/LIBS\s*=.*/LIBS = -lxnet -lnsl -lsocket/'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3305556" y="5290718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Makefile.in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390449" y="5477256"/>
            <a:ext cx="2120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PATH=/usr/xpg4/bin:$PATH</a:t>
            </a:r>
            <a:endParaRPr lang="en-US" sz="900" dirty="0"/>
          </a:p>
        </p:txBody>
      </p:sp>
      <p:sp>
        <p:nvSpPr>
          <p:cNvPr id="54" name="Text 38"/>
          <p:cNvSpPr txBox="1"/>
          <p:nvPr/>
        </p:nvSpPr>
        <p:spPr>
          <a:xfrm>
            <a:off x="390449" y="5662879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;;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390449" y="6034126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AIX)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390449" y="6219749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echo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676656" y="6219749"/>
            <a:ext cx="1711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"Applying AIX patches..."</a:t>
            </a:r>
            <a:endParaRPr lang="en-US" sz="900" dirty="0"/>
          </a:p>
        </p:txBody>
      </p:sp>
      <p:sp>
        <p:nvSpPr>
          <p:cNvPr id="58" name="Text 42"/>
          <p:cNvSpPr txBox="1"/>
          <p:nvPr/>
        </p:nvSpPr>
        <p:spPr>
          <a:xfrm>
            <a:off x="390449" y="6405372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CC=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961949" y="6405372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"xlc -q32"</a:t>
            </a:r>
            <a:endParaRPr lang="en-US" sz="900" dirty="0"/>
          </a:p>
        </p:txBody>
      </p:sp>
      <p:sp>
        <p:nvSpPr>
          <p:cNvPr id="60" name="Text 44"/>
          <p:cNvSpPr txBox="1"/>
          <p:nvPr/>
        </p:nvSpPr>
        <p:spPr>
          <a:xfrm>
            <a:off x="390449" y="6590995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CFLAGS=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1190549" y="6590995"/>
            <a:ext cx="14401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"-qlanglvl=extc99 -g"</a:t>
            </a:r>
            <a:endParaRPr lang="en-US" sz="900" dirty="0"/>
          </a:p>
        </p:txBody>
      </p:sp>
      <p:sp>
        <p:nvSpPr>
          <p:cNvPr id="62" name="Text 46"/>
          <p:cNvSpPr txBox="1"/>
          <p:nvPr/>
        </p:nvSpPr>
        <p:spPr>
          <a:xfrm>
            <a:off x="390449" y="6776618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;;</a:t>
            </a:r>
            <a:endParaRPr lang="en-US" sz="900" dirty="0"/>
          </a:p>
        </p:txBody>
      </p:sp>
      <p:sp>
        <p:nvSpPr>
          <p:cNvPr id="63" name="Text 47"/>
          <p:cNvSpPr txBox="1"/>
          <p:nvPr/>
        </p:nvSpPr>
        <p:spPr>
          <a:xfrm>
            <a:off x="390449" y="7148779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HP-UX)</a:t>
            </a:r>
            <a:endParaRPr lang="en-US" sz="900" dirty="0"/>
          </a:p>
        </p:txBody>
      </p:sp>
      <p:sp>
        <p:nvSpPr>
          <p:cNvPr id="64" name="Text 48"/>
          <p:cNvSpPr txBox="1"/>
          <p:nvPr/>
        </p:nvSpPr>
        <p:spPr>
          <a:xfrm>
            <a:off x="390449" y="7334402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echo</a:t>
            </a:r>
            <a:endParaRPr lang="en-US" sz="900" dirty="0"/>
          </a:p>
        </p:txBody>
      </p:sp>
      <p:sp>
        <p:nvSpPr>
          <p:cNvPr id="65" name="Text 49"/>
          <p:cNvSpPr txBox="1"/>
          <p:nvPr/>
        </p:nvSpPr>
        <p:spPr>
          <a:xfrm>
            <a:off x="676656" y="7334402"/>
            <a:ext cx="18480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"Applying HP-UX patches..."</a:t>
            </a:r>
            <a:endParaRPr lang="en-US" sz="900" dirty="0"/>
          </a:p>
        </p:txBody>
      </p:sp>
      <p:sp>
        <p:nvSpPr>
          <p:cNvPr id="66" name="Text 50"/>
          <p:cNvSpPr txBox="1"/>
          <p:nvPr/>
        </p:nvSpPr>
        <p:spPr>
          <a:xfrm>
            <a:off x="390449" y="7520026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CC=</a:t>
            </a:r>
            <a:endParaRPr lang="en-US" sz="900" dirty="0"/>
          </a:p>
        </p:txBody>
      </p:sp>
      <p:sp>
        <p:nvSpPr>
          <p:cNvPr id="67" name="Text 51"/>
          <p:cNvSpPr txBox="1"/>
          <p:nvPr/>
        </p:nvSpPr>
        <p:spPr>
          <a:xfrm>
            <a:off x="961949" y="7520026"/>
            <a:ext cx="54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"cc -Ae"</a:t>
            </a:r>
            <a:endParaRPr lang="en-US" sz="900" dirty="0"/>
          </a:p>
        </p:txBody>
      </p:sp>
      <p:sp>
        <p:nvSpPr>
          <p:cNvPr id="68" name="Text 52"/>
          <p:cNvSpPr txBox="1"/>
          <p:nvPr/>
        </p:nvSpPr>
        <p:spPr>
          <a:xfrm>
            <a:off x="390449" y="7705649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CFLAGS=</a:t>
            </a:r>
            <a:endParaRPr lang="en-US" sz="900" dirty="0"/>
          </a:p>
        </p:txBody>
      </p:sp>
      <p:sp>
        <p:nvSpPr>
          <p:cNvPr id="69" name="Text 53"/>
          <p:cNvSpPr txBox="1"/>
          <p:nvPr/>
        </p:nvSpPr>
        <p:spPr>
          <a:xfrm>
            <a:off x="1190549" y="7705649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"-g +DA2.0W"</a:t>
            </a:r>
            <a:endParaRPr lang="en-US" sz="900" dirty="0"/>
          </a:p>
        </p:txBody>
      </p:sp>
      <p:sp>
        <p:nvSpPr>
          <p:cNvPr id="70" name="Text 54"/>
          <p:cNvSpPr txBox="1"/>
          <p:nvPr/>
        </p:nvSpPr>
        <p:spPr>
          <a:xfrm>
            <a:off x="390449" y="7891272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LIBS=</a:t>
            </a:r>
            <a:endParaRPr lang="en-US" sz="900" dirty="0"/>
          </a:p>
        </p:txBody>
      </p:sp>
      <p:sp>
        <p:nvSpPr>
          <p:cNvPr id="71" name="Text 55"/>
          <p:cNvSpPr txBox="1"/>
          <p:nvPr/>
        </p:nvSpPr>
        <p:spPr>
          <a:xfrm>
            <a:off x="1076249" y="7891272"/>
            <a:ext cx="54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"-lxnet"</a:t>
            </a:r>
            <a:endParaRPr lang="en-US" sz="900" dirty="0"/>
          </a:p>
        </p:txBody>
      </p:sp>
      <p:sp>
        <p:nvSpPr>
          <p:cNvPr id="72" name="Text 56"/>
          <p:cNvSpPr txBox="1"/>
          <p:nvPr/>
        </p:nvSpPr>
        <p:spPr>
          <a:xfrm>
            <a:off x="390449" y="8076895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;;</a:t>
            </a:r>
            <a:endParaRPr lang="en-US" sz="900" dirty="0"/>
          </a:p>
        </p:txBody>
      </p:sp>
      <p:sp>
        <p:nvSpPr>
          <p:cNvPr id="73" name="Text 57"/>
          <p:cNvSpPr txBox="1"/>
          <p:nvPr/>
        </p:nvSpPr>
        <p:spPr>
          <a:xfrm>
            <a:off x="390449" y="8449056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Linux)</a:t>
            </a:r>
            <a:endParaRPr lang="en-US" sz="900" dirty="0"/>
          </a:p>
        </p:txBody>
      </p:sp>
      <p:sp>
        <p:nvSpPr>
          <p:cNvPr id="74" name="Text 58"/>
          <p:cNvSpPr txBox="1"/>
          <p:nvPr/>
        </p:nvSpPr>
        <p:spPr>
          <a:xfrm>
            <a:off x="390449" y="8634679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echo</a:t>
            </a:r>
            <a:endParaRPr lang="en-US" sz="900" dirty="0"/>
          </a:p>
        </p:txBody>
      </p:sp>
      <p:sp>
        <p:nvSpPr>
          <p:cNvPr id="75" name="Text 59"/>
          <p:cNvSpPr txBox="1"/>
          <p:nvPr/>
        </p:nvSpPr>
        <p:spPr>
          <a:xfrm>
            <a:off x="676656" y="8634679"/>
            <a:ext cx="3003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"Linux detected - no special patches needed"</a:t>
            </a:r>
            <a:endParaRPr lang="en-US" sz="900" dirty="0"/>
          </a:p>
        </p:txBody>
      </p:sp>
      <p:sp>
        <p:nvSpPr>
          <p:cNvPr id="76" name="Text 60"/>
          <p:cNvSpPr txBox="1"/>
          <p:nvPr/>
        </p:nvSpPr>
        <p:spPr>
          <a:xfrm>
            <a:off x="390449" y="8820302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;;</a:t>
            </a:r>
            <a:endParaRPr lang="en-US" sz="900" dirty="0"/>
          </a:p>
        </p:txBody>
      </p:sp>
      <p:sp>
        <p:nvSpPr>
          <p:cNvPr id="77" name="Text 61"/>
          <p:cNvSpPr txBox="1"/>
          <p:nvPr/>
        </p:nvSpPr>
        <p:spPr>
          <a:xfrm>
            <a:off x="390449" y="9005926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esac</a:t>
            </a:r>
            <a:endParaRPr lang="en-US" sz="900" dirty="0"/>
          </a:p>
        </p:txBody>
      </p:sp>
      <p:sp>
        <p:nvSpPr>
          <p:cNvPr id="78" name="Text 62"/>
          <p:cNvSpPr txBox="1"/>
          <p:nvPr/>
        </p:nvSpPr>
        <p:spPr>
          <a:xfrm>
            <a:off x="390449" y="9191549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echo</a:t>
            </a:r>
            <a:endParaRPr lang="en-US" sz="900" dirty="0"/>
          </a:p>
        </p:txBody>
      </p:sp>
      <p:sp>
        <p:nvSpPr>
          <p:cNvPr id="79" name="Text 63"/>
          <p:cNvSpPr txBox="1"/>
          <p:nvPr/>
        </p:nvSpPr>
        <p:spPr>
          <a:xfrm>
            <a:off x="676656" y="9191549"/>
            <a:ext cx="2459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"Patch applied. Now run ./configure"</a:t>
            </a:r>
            <a:endParaRPr lang="en-US" sz="900" dirty="0"/>
          </a:p>
        </p:txBody>
      </p:sp>
      <p:sp>
        <p:nvSpPr>
          <p:cNvPr id="80" name="Shape 64"/>
          <p:cNvSpPr/>
          <p:nvPr/>
        </p:nvSpPr>
        <p:spPr>
          <a:xfrm>
            <a:off x="10398557" y="6486754"/>
            <a:ext cx="57607" cy="57607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5"/>
          <p:cNvSpPr txBox="1"/>
          <p:nvPr/>
        </p:nvSpPr>
        <p:spPr>
          <a:xfrm>
            <a:off x="10512857" y="6400800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</a:t>
            </a:r>
            <a:endParaRPr lang="en-US" sz="1200" dirty="0"/>
          </a:p>
        </p:txBody>
      </p:sp>
      <p:sp>
        <p:nvSpPr>
          <p:cNvPr id="82" name="Shape 66"/>
          <p:cNvSpPr/>
          <p:nvPr/>
        </p:nvSpPr>
        <p:spPr>
          <a:xfrm>
            <a:off x="10968228" y="6486754"/>
            <a:ext cx="57607" cy="57607"/>
          </a:xfrm>
          <a:prstGeom prst="ellipse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67"/>
          <p:cNvSpPr txBox="1"/>
          <p:nvPr/>
        </p:nvSpPr>
        <p:spPr>
          <a:xfrm>
            <a:off x="11082528" y="6400800"/>
            <a:ext cx="510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String</a:t>
            </a:r>
            <a:endParaRPr lang="en-US" sz="1200" dirty="0"/>
          </a:p>
        </p:txBody>
      </p:sp>
      <p:sp>
        <p:nvSpPr>
          <p:cNvPr id="84" name="Shape 68"/>
          <p:cNvSpPr/>
          <p:nvPr/>
        </p:nvSpPr>
        <p:spPr>
          <a:xfrm>
            <a:off x="11620195" y="6486754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69"/>
          <p:cNvSpPr txBox="1"/>
          <p:nvPr/>
        </p:nvSpPr>
        <p:spPr>
          <a:xfrm>
            <a:off x="11734495" y="640080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</a:t>
            </a:r>
            <a:endParaRPr lang="en-US" sz="1200" dirty="0"/>
          </a:p>
        </p:txBody>
      </p:sp>
      <p:sp>
        <p:nvSpPr>
          <p:cNvPr id="86" name="Shape 70"/>
          <p:cNvSpPr/>
          <p:nvPr/>
        </p:nvSpPr>
        <p:spPr>
          <a:xfrm>
            <a:off x="0" y="0"/>
            <a:ext cx="12191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71"/>
          <p:cNvSpPr/>
          <p:nvPr/>
        </p:nvSpPr>
        <p:spPr>
          <a:xfrm>
            <a:off x="0" y="609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8" name="Shape 72"/>
          <p:cNvSpPr/>
          <p:nvPr/>
        </p:nvSpPr>
        <p:spPr>
          <a:xfrm>
            <a:off x="304495" y="190195"/>
            <a:ext cx="57607" cy="228600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73"/>
          <p:cNvSpPr txBox="1"/>
          <p:nvPr/>
        </p:nvSpPr>
        <p:spPr>
          <a:xfrm>
            <a:off x="476402" y="152705"/>
            <a:ext cx="218724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패치 스크립트</a:t>
            </a:r>
            <a:endParaRPr lang="en-US" sz="1800" dirty="0"/>
          </a:p>
        </p:txBody>
      </p:sp>
      <p:pic>
        <p:nvPicPr>
          <p:cNvPr id="90" name="Image 14" descr="preencoded.png"/>
          <p:cNvPicPr>
            <a:picLocks noChangeAspect="1"/>
          </p:cNvPicPr>
          <p:nvPr/>
        </p:nvPicPr>
        <p:blipFill>
          <a:blip r:embed="rId15"/>
          <a:srcRect l="-48" r="-48"/>
          <a:stretch/>
        </p:blipFill>
        <p:spPr>
          <a:xfrm>
            <a:off x="2343607" y="200254"/>
            <a:ext cx="1000354" cy="209398"/>
          </a:xfrm>
          <a:prstGeom prst="rect">
            <a:avLst/>
          </a:prstGeom>
        </p:spPr>
      </p:pic>
      <p:pic>
        <p:nvPicPr>
          <p:cNvPr id="91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25658" y="228600"/>
            <a:ext cx="152705" cy="152705"/>
          </a:xfrm>
          <a:prstGeom prst="rect">
            <a:avLst/>
          </a:prstGeom>
        </p:spPr>
      </p:pic>
      <p:sp>
        <p:nvSpPr>
          <p:cNvPr id="92" name="Text 74"/>
          <p:cNvSpPr txBox="1"/>
          <p:nvPr/>
        </p:nvSpPr>
        <p:spPr>
          <a:xfrm>
            <a:off x="2429561" y="237744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autopatch.sh</a:t>
            </a:r>
            <a:endParaRPr lang="en-US" sz="900" dirty="0"/>
          </a:p>
        </p:txBody>
      </p:sp>
      <p:sp>
        <p:nvSpPr>
          <p:cNvPr id="93" name="Text 75"/>
          <p:cNvSpPr txBox="1"/>
          <p:nvPr/>
        </p:nvSpPr>
        <p:spPr>
          <a:xfrm>
            <a:off x="10754258" y="219456"/>
            <a:ext cx="1349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OS-Specific Patching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9049"/>
            <a:ext cx="12191695" cy="6238951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7998" y="847649"/>
            <a:ext cx="1171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빌드 프로세스 흐름 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75995"/>
            <a:ext cx="133502" cy="13350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228600" y="1152144"/>
            <a:ext cx="5810098" cy="1047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3756" y="1257300"/>
            <a:ext cx="228600" cy="2286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395021" y="1314907"/>
            <a:ext cx="105156" cy="1143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8251" y="1295705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Clean (초기화)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638251" y="1524305"/>
            <a:ext cx="5486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산출물 제거로 깨끗한 환경 보장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26" r="-26"/>
          <a:stretch/>
        </p:blipFill>
        <p:spPr>
          <a:xfrm>
            <a:off x="638251" y="1772107"/>
            <a:ext cx="5296205" cy="32369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24205" y="1857146"/>
            <a:ext cx="27322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1C1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clean 2&gt;/dev/null || true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6152998" y="1152144"/>
            <a:ext cx="5810098" cy="104790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258154" y="1257300"/>
            <a:ext cx="228600" cy="2286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14846" y="1314907"/>
            <a:ext cx="114300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562649" y="1295705"/>
            <a:ext cx="12134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Configure (설정)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6562649" y="1524305"/>
            <a:ext cx="5410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생성 및 환경 설정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rcRect l="-26" r="-26"/>
          <a:stretch/>
        </p:blipFill>
        <p:spPr>
          <a:xfrm>
            <a:off x="6562649" y="1772107"/>
            <a:ext cx="5296205" cy="32369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648602" y="1857146"/>
            <a:ext cx="732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D28D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autoconf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7295998" y="1819656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487107" y="1857146"/>
            <a:ext cx="1006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D28D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t="-16" b="-16"/>
          <a:stretch/>
        </p:blipFill>
        <p:spPr>
          <a:xfrm>
            <a:off x="228600" y="2314346"/>
            <a:ext cx="5810098" cy="1067105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 l="-1911" r="-1911"/>
          <a:stretch/>
        </p:blipFill>
        <p:spPr>
          <a:xfrm>
            <a:off x="381305" y="2476195"/>
            <a:ext cx="133502" cy="1143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38251" y="2457907"/>
            <a:ext cx="1032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Build (컴파일)</a:t>
            </a:r>
            <a:endParaRPr lang="en-US" sz="900" dirty="0"/>
          </a:p>
        </p:txBody>
      </p:sp>
      <p:sp>
        <p:nvSpPr>
          <p:cNvPr id="26" name="Text 15"/>
          <p:cNvSpPr txBox="1"/>
          <p:nvPr/>
        </p:nvSpPr>
        <p:spPr>
          <a:xfrm>
            <a:off x="638251" y="2686507"/>
            <a:ext cx="5486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컴파일 및 링크 (에러 시 중단)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l="-3" r="-3"/>
          <a:stretch/>
        </p:blipFill>
        <p:spPr>
          <a:xfrm>
            <a:off x="638251" y="2933395"/>
            <a:ext cx="5296205" cy="3429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24205" y="3038551"/>
            <a:ext cx="391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</a:t>
            </a:r>
            <a:endParaRPr lang="en-US" sz="12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8"/>
          <a:srcRect t="-16" b="-16"/>
          <a:stretch/>
        </p:blipFill>
        <p:spPr>
          <a:xfrm>
            <a:off x="6152998" y="2314346"/>
            <a:ext cx="5810098" cy="1067105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6258154" y="2419502"/>
            <a:ext cx="228600" cy="2286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14846" y="2476195"/>
            <a:ext cx="114300" cy="1143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562649" y="2457907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Verify (검증)</a:t>
            </a:r>
            <a:endParaRPr lang="en-US" sz="900" dirty="0"/>
          </a:p>
        </p:txBody>
      </p:sp>
      <p:sp>
        <p:nvSpPr>
          <p:cNvPr id="33" name="Text 19"/>
          <p:cNvSpPr txBox="1"/>
          <p:nvPr/>
        </p:nvSpPr>
        <p:spPr>
          <a:xfrm>
            <a:off x="6562649" y="2686507"/>
            <a:ext cx="5410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eCAMS_svr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생성 확인</a:t>
            </a:r>
            <a:endParaRPr lang="en-US" sz="12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0"/>
          <a:srcRect l="-3" r="-3"/>
          <a:stretch/>
        </p:blipFill>
        <p:spPr>
          <a:xfrm>
            <a:off x="6562649" y="2933395"/>
            <a:ext cx="5296205" cy="34290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6648602" y="3038551"/>
            <a:ext cx="1553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4785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test -f </a:t>
            </a:r>
            <a:r>
              <a:rPr lang="en-US" sz="1200" dirty="0" err="1">
                <a:solidFill>
                  <a:srgbClr val="04785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endParaRPr lang="en-US" sz="1200" dirty="0"/>
          </a:p>
        </p:txBody>
      </p:sp>
      <p:sp>
        <p:nvSpPr>
          <p:cNvPr id="36" name="Text 21"/>
          <p:cNvSpPr txBox="1"/>
          <p:nvPr/>
        </p:nvSpPr>
        <p:spPr>
          <a:xfrm>
            <a:off x="495605" y="3571646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시나리오 </a:t>
            </a:r>
            <a:endParaRPr lang="en-US" sz="10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 l="-837" r="-837"/>
          <a:stretch/>
        </p:blipFill>
        <p:spPr>
          <a:xfrm>
            <a:off x="267005" y="3600907"/>
            <a:ext cx="152705" cy="13350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0461650" y="3562502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Simulated Output</a:t>
            </a:r>
            <a:endParaRPr lang="en-US" sz="12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3"/>
          <a:srcRect t="-9" b="-9"/>
          <a:stretch/>
        </p:blipFill>
        <p:spPr>
          <a:xfrm>
            <a:off x="228600" y="3819449"/>
            <a:ext cx="11734495" cy="2505456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4"/>
          <a:srcRect l="-12" r="-12"/>
          <a:stretch/>
        </p:blipFill>
        <p:spPr>
          <a:xfrm>
            <a:off x="237744" y="3829507"/>
            <a:ext cx="11716207" cy="390449"/>
          </a:xfrm>
          <a:prstGeom prst="rect">
            <a:avLst/>
          </a:prstGeom>
        </p:spPr>
      </p:pic>
      <p:sp>
        <p:nvSpPr>
          <p:cNvPr id="41" name="Shape 23"/>
          <p:cNvSpPr/>
          <p:nvPr/>
        </p:nvSpPr>
        <p:spPr>
          <a:xfrm>
            <a:off x="352044" y="3972154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24"/>
          <p:cNvSpPr/>
          <p:nvPr/>
        </p:nvSpPr>
        <p:spPr>
          <a:xfrm>
            <a:off x="523951" y="3972154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25"/>
          <p:cNvSpPr/>
          <p:nvPr/>
        </p:nvSpPr>
        <p:spPr>
          <a:xfrm>
            <a:off x="694944" y="3972154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26"/>
          <p:cNvSpPr txBox="1"/>
          <p:nvPr/>
        </p:nvSpPr>
        <p:spPr>
          <a:xfrm>
            <a:off x="5491886" y="3933749"/>
            <a:ext cx="1724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build.sh execution</a:t>
            </a:r>
            <a:endParaRPr lang="en-US" sz="1200" dirty="0"/>
          </a:p>
        </p:txBody>
      </p:sp>
      <p:sp>
        <p:nvSpPr>
          <p:cNvPr id="45" name="Text 27"/>
          <p:cNvSpPr txBox="1"/>
          <p:nvPr/>
        </p:nvSpPr>
        <p:spPr>
          <a:xfrm>
            <a:off x="390449" y="4401007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sp>
        <p:nvSpPr>
          <p:cNvPr id="46" name="Text 28"/>
          <p:cNvSpPr txBox="1"/>
          <p:nvPr/>
        </p:nvSpPr>
        <p:spPr>
          <a:xfrm>
            <a:off x="523951" y="4401007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./build.sh</a:t>
            </a:r>
            <a:endParaRPr lang="en-US" sz="900" dirty="0"/>
          </a:p>
        </p:txBody>
      </p:sp>
      <p:sp>
        <p:nvSpPr>
          <p:cNvPr id="47" name="Shape 29"/>
          <p:cNvSpPr/>
          <p:nvPr/>
        </p:nvSpPr>
        <p:spPr>
          <a:xfrm>
            <a:off x="390449" y="4824374"/>
            <a:ext cx="183794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8" name="Text 30"/>
          <p:cNvSpPr txBox="1"/>
          <p:nvPr/>
        </p:nvSpPr>
        <p:spPr>
          <a:xfrm>
            <a:off x="390449" y="4624121"/>
            <a:ext cx="2188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 </a:t>
            </a:r>
            <a:r>
              <a:rPr lang="en-US" sz="900" b="1" dirty="0" err="1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</a:t>
            </a: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Agent Build Script ===</a:t>
            </a:r>
            <a:endParaRPr lang="en-US" sz="900" dirty="0"/>
          </a:p>
        </p:txBody>
      </p:sp>
      <p:sp>
        <p:nvSpPr>
          <p:cNvPr id="49" name="Text 31"/>
          <p:cNvSpPr txBox="1"/>
          <p:nvPr/>
        </p:nvSpPr>
        <p:spPr>
          <a:xfrm>
            <a:off x="390449" y="4934102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1. Clean</a:t>
            </a:r>
            <a:endParaRPr lang="en-US" sz="900" dirty="0"/>
          </a:p>
        </p:txBody>
      </p:sp>
      <p:sp>
        <p:nvSpPr>
          <p:cNvPr id="50" name="Text 32"/>
          <p:cNvSpPr txBox="1"/>
          <p:nvPr/>
        </p:nvSpPr>
        <p:spPr>
          <a:xfrm>
            <a:off x="466344" y="5119726"/>
            <a:ext cx="2188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rm -f config.cache config.status</a:t>
            </a:r>
            <a:endParaRPr lang="en-US" sz="900" dirty="0"/>
          </a:p>
        </p:txBody>
      </p:sp>
      <p:sp>
        <p:nvSpPr>
          <p:cNvPr id="51" name="Text 33"/>
          <p:cNvSpPr txBox="1"/>
          <p:nvPr/>
        </p:nvSpPr>
        <p:spPr>
          <a:xfrm>
            <a:off x="390449" y="5381244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2. Configure</a:t>
            </a:r>
            <a:endParaRPr lang="en-US" sz="900" dirty="0"/>
          </a:p>
        </p:txBody>
      </p:sp>
      <p:sp>
        <p:nvSpPr>
          <p:cNvPr id="52" name="Text 34"/>
          <p:cNvSpPr txBox="1"/>
          <p:nvPr/>
        </p:nvSpPr>
        <p:spPr>
          <a:xfrm>
            <a:off x="466344" y="5567782"/>
            <a:ext cx="1303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Running autoconf...</a:t>
            </a:r>
            <a:endParaRPr lang="en-US" sz="900" dirty="0"/>
          </a:p>
        </p:txBody>
      </p:sp>
      <p:sp>
        <p:nvSpPr>
          <p:cNvPr id="53" name="Text 35"/>
          <p:cNvSpPr txBox="1"/>
          <p:nvPr/>
        </p:nvSpPr>
        <p:spPr>
          <a:xfrm>
            <a:off x="466344" y="5753405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Running configure...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466344" y="5939028"/>
            <a:ext cx="15764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checking for gcc... gcc</a:t>
            </a:r>
            <a:endParaRPr lang="en-US" sz="900" dirty="0"/>
          </a:p>
        </p:txBody>
      </p:sp>
      <p:sp>
        <p:nvSpPr>
          <p:cNvPr id="55" name="Text 37"/>
          <p:cNvSpPr txBox="1"/>
          <p:nvPr/>
        </p:nvSpPr>
        <p:spPr>
          <a:xfrm>
            <a:off x="466344" y="6124651"/>
            <a:ext cx="3003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checking whether the C compiler works... yes</a:t>
            </a:r>
            <a:endParaRPr lang="en-US" sz="900" dirty="0"/>
          </a:p>
        </p:txBody>
      </p:sp>
      <p:sp>
        <p:nvSpPr>
          <p:cNvPr id="56" name="Text 38"/>
          <p:cNvSpPr txBox="1"/>
          <p:nvPr/>
        </p:nvSpPr>
        <p:spPr>
          <a:xfrm>
            <a:off x="390449" y="6386170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3. Build</a:t>
            </a:r>
            <a:endParaRPr lang="en-US" sz="900" dirty="0"/>
          </a:p>
        </p:txBody>
      </p:sp>
      <p:sp>
        <p:nvSpPr>
          <p:cNvPr id="57" name="Text 39"/>
          <p:cNvSpPr txBox="1"/>
          <p:nvPr/>
        </p:nvSpPr>
        <p:spPr>
          <a:xfrm>
            <a:off x="466344" y="6572707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Compiling...</a:t>
            </a:r>
            <a:endParaRPr lang="en-US" sz="900" dirty="0"/>
          </a:p>
        </p:txBody>
      </p:sp>
      <p:sp>
        <p:nvSpPr>
          <p:cNvPr id="60" name="Text 42"/>
          <p:cNvSpPr txBox="1"/>
          <p:nvPr/>
        </p:nvSpPr>
        <p:spPr>
          <a:xfrm>
            <a:off x="390449" y="7205472"/>
            <a:ext cx="755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4. Verify</a:t>
            </a:r>
            <a:endParaRPr lang="en-US" sz="900" dirty="0"/>
          </a:p>
        </p:txBody>
      </p:sp>
      <p:sp>
        <p:nvSpPr>
          <p:cNvPr id="61" name="Text 43"/>
          <p:cNvSpPr txBox="1"/>
          <p:nvPr/>
        </p:nvSpPr>
        <p:spPr>
          <a:xfrm>
            <a:off x="466344" y="7391095"/>
            <a:ext cx="1995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 Build successful: </a:t>
            </a:r>
            <a:r>
              <a:rPr lang="en-US" sz="900" b="1" dirty="0" err="1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endParaRPr lang="en-US" sz="900" dirty="0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5"/>
          <a:srcRect l="-2078" r="-2078"/>
          <a:stretch/>
        </p:blipFill>
        <p:spPr>
          <a:xfrm>
            <a:off x="390449" y="7586777"/>
            <a:ext cx="3047695" cy="9144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457200" y="7681874"/>
            <a:ext cx="3477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-rwxr-xr-x 1 user group 1.2M Jan 26 14:00 </a:t>
            </a:r>
            <a:r>
              <a:rPr lang="en-US" sz="900" dirty="0" err="1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endParaRPr lang="en-US" sz="900" dirty="0"/>
          </a:p>
        </p:txBody>
      </p:sp>
      <p:sp>
        <p:nvSpPr>
          <p:cNvPr id="64" name="Shape 45"/>
          <p:cNvSpPr/>
          <p:nvPr/>
        </p:nvSpPr>
        <p:spPr>
          <a:xfrm>
            <a:off x="390449" y="7981798"/>
            <a:ext cx="126644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5" name="Text 46"/>
          <p:cNvSpPr txBox="1"/>
          <p:nvPr/>
        </p:nvSpPr>
        <p:spPr>
          <a:xfrm>
            <a:off x="390449" y="8058607"/>
            <a:ext cx="15078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 Build Complete ===</a:t>
            </a:r>
            <a:endParaRPr lang="en-US" sz="900" dirty="0"/>
          </a:p>
        </p:txBody>
      </p:sp>
      <p:sp>
        <p:nvSpPr>
          <p:cNvPr id="66" name="Text 47"/>
          <p:cNvSpPr txBox="1"/>
          <p:nvPr/>
        </p:nvSpPr>
        <p:spPr>
          <a:xfrm>
            <a:off x="390449" y="8281721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6"/>
          <a:srcRect l="-2499" r="-2499"/>
          <a:stretch/>
        </p:blipFill>
        <p:spPr>
          <a:xfrm>
            <a:off x="523951" y="8291779"/>
            <a:ext cx="57607" cy="9144"/>
          </a:xfrm>
          <a:prstGeom prst="rect">
            <a:avLst/>
          </a:prstGeom>
        </p:spPr>
      </p:pic>
      <p:sp>
        <p:nvSpPr>
          <p:cNvPr id="68" name="Shape 48"/>
          <p:cNvSpPr/>
          <p:nvPr/>
        </p:nvSpPr>
        <p:spPr>
          <a:xfrm>
            <a:off x="10028225" y="6476695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49"/>
          <p:cNvSpPr txBox="1"/>
          <p:nvPr/>
        </p:nvSpPr>
        <p:spPr>
          <a:xfrm>
            <a:off x="10142525" y="6400800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</a:t>
            </a:r>
            <a:endParaRPr lang="en-US" sz="1200" dirty="0"/>
          </a:p>
        </p:txBody>
      </p:sp>
      <p:sp>
        <p:nvSpPr>
          <p:cNvPr id="70" name="Shape 50"/>
          <p:cNvSpPr/>
          <p:nvPr/>
        </p:nvSpPr>
        <p:spPr>
          <a:xfrm>
            <a:off x="10803636" y="6476695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1"/>
          <p:cNvSpPr txBox="1"/>
          <p:nvPr/>
        </p:nvSpPr>
        <p:spPr>
          <a:xfrm>
            <a:off x="10917936" y="64008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</a:t>
            </a:r>
            <a:endParaRPr lang="en-US" sz="1200" dirty="0"/>
          </a:p>
        </p:txBody>
      </p:sp>
      <p:sp>
        <p:nvSpPr>
          <p:cNvPr id="72" name="Shape 52"/>
          <p:cNvSpPr/>
          <p:nvPr/>
        </p:nvSpPr>
        <p:spPr>
          <a:xfrm>
            <a:off x="11291011" y="6476695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53"/>
          <p:cNvSpPr txBox="1"/>
          <p:nvPr/>
        </p:nvSpPr>
        <p:spPr>
          <a:xfrm>
            <a:off x="11405311" y="6400800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</a:t>
            </a:r>
            <a:endParaRPr lang="en-US" sz="1200" dirty="0"/>
          </a:p>
        </p:txBody>
      </p:sp>
      <p:sp>
        <p:nvSpPr>
          <p:cNvPr id="74" name="Shape 54"/>
          <p:cNvSpPr/>
          <p:nvPr/>
        </p:nvSpPr>
        <p:spPr>
          <a:xfrm>
            <a:off x="0" y="0"/>
            <a:ext cx="12191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55"/>
          <p:cNvSpPr/>
          <p:nvPr/>
        </p:nvSpPr>
        <p:spPr>
          <a:xfrm>
            <a:off x="0" y="609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304495" y="190195"/>
            <a:ext cx="57607" cy="228600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7"/>
          <p:cNvSpPr txBox="1"/>
          <p:nvPr/>
        </p:nvSpPr>
        <p:spPr>
          <a:xfrm>
            <a:off x="476402" y="152705"/>
            <a:ext cx="218724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일괄 빌드 스크립트</a:t>
            </a:r>
            <a:endParaRPr lang="en-US" sz="1800" dirty="0"/>
          </a:p>
        </p:txBody>
      </p:sp>
      <p:pic>
        <p:nvPicPr>
          <p:cNvPr id="78" name="Image 18" descr="preencoded.png"/>
          <p:cNvPicPr>
            <a:picLocks noChangeAspect="1"/>
          </p:cNvPicPr>
          <p:nvPr/>
        </p:nvPicPr>
        <p:blipFill>
          <a:blip r:embed="rId17"/>
          <a:srcRect l="-57" r="-57"/>
          <a:stretch/>
        </p:blipFill>
        <p:spPr>
          <a:xfrm>
            <a:off x="2343607" y="200254"/>
            <a:ext cx="724205" cy="209398"/>
          </a:xfrm>
          <a:prstGeom prst="rect">
            <a:avLst/>
          </a:prstGeom>
        </p:spPr>
      </p:pic>
      <p:pic>
        <p:nvPicPr>
          <p:cNvPr id="79" name="Image 1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735970" y="228600"/>
            <a:ext cx="152705" cy="152705"/>
          </a:xfrm>
          <a:prstGeom prst="rect">
            <a:avLst/>
          </a:prstGeom>
        </p:spPr>
      </p:pic>
      <p:sp>
        <p:nvSpPr>
          <p:cNvPr id="80" name="Text 58"/>
          <p:cNvSpPr txBox="1"/>
          <p:nvPr/>
        </p:nvSpPr>
        <p:spPr>
          <a:xfrm>
            <a:off x="2429561" y="237744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build.sh</a:t>
            </a:r>
            <a:endParaRPr lang="en-US" sz="900" dirty="0"/>
          </a:p>
        </p:txBody>
      </p:sp>
      <p:sp>
        <p:nvSpPr>
          <p:cNvPr id="81" name="Text 59"/>
          <p:cNvSpPr txBox="1"/>
          <p:nvPr/>
        </p:nvSpPr>
        <p:spPr>
          <a:xfrm>
            <a:off x="10964570" y="219456"/>
            <a:ext cx="10661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Automated Build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43254"/>
            <a:ext cx="38405" cy="4981651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4905" y="1190549"/>
            <a:ext cx="548640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29654" y="1429207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 방법 및 옵션 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6562649" y="1476756"/>
            <a:ext cx="190195" cy="1719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6562649" y="1848002"/>
            <a:ext cx="5009998" cy="5907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724498" y="2009851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./build_all.sh [OPTIONS]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562649" y="2590495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601054" y="2619756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--skip-check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7652614" y="2590495"/>
            <a:ext cx="25127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 단계를 건너뜀 (시간 절약)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562649" y="2895905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01054" y="2924251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--skip-patch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652614" y="2895905"/>
            <a:ext cx="15270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패치 과정을 생략함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562649" y="3200400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01054" y="3228746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--clean-only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7652614" y="3200400"/>
            <a:ext cx="25804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없이 Clean 작업만 수행 후 종료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562649" y="3504895"/>
            <a:ext cx="571500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01054" y="3534156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--help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7241134" y="3504895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도움말 메시지 출력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6324905" y="4162349"/>
            <a:ext cx="5486400" cy="26764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29654" y="4401007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로깅 시스템 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562649" y="4448556"/>
            <a:ext cx="190195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62649" y="4781398"/>
            <a:ext cx="5391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빌드 과정은 표준 출력과 로그 파일에 동시에 기록됩니다. (tee 명령어 활용)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4" b="-14"/>
          <a:stretch/>
        </p:blipFill>
        <p:spPr>
          <a:xfrm>
            <a:off x="6562649" y="5124298"/>
            <a:ext cx="5009998" cy="590702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87007" y="5324551"/>
            <a:ext cx="142646" cy="1901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43954" y="5248656"/>
            <a:ext cx="1743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 File Format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6943954" y="5400446"/>
            <a:ext cx="19842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build_YYYYMMDD_HHMMSS.log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562649" y="5867705"/>
            <a:ext cx="50099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562649" y="5991149"/>
            <a:ext cx="5125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 Functions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6562649" y="6238951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752844" y="6219749"/>
            <a:ext cx="8503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log_success()</a:t>
            </a:r>
            <a:endParaRPr lang="en-US" sz="9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 l="-16667" r="-16667"/>
          <a:stretch/>
        </p:blipFill>
        <p:spPr>
          <a:xfrm>
            <a:off x="9105595" y="6238951"/>
            <a:ext cx="114300" cy="1143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296705" y="6219749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log_fail()</a:t>
            </a:r>
            <a:endParaRPr lang="en-US" sz="9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62649" y="6467551"/>
            <a:ext cx="114300" cy="1143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52844" y="6448349"/>
            <a:ext cx="6803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log_error()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105595" y="6467551"/>
            <a:ext cx="114300" cy="1143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296705" y="6448349"/>
            <a:ext cx="324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log()</a:t>
            </a:r>
            <a:endParaRPr lang="en-US" sz="9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81305" y="1266444"/>
            <a:ext cx="609905" cy="609905"/>
          </a:xfrm>
          <a:prstGeom prst="rect">
            <a:avLst/>
          </a:prstGeom>
        </p:spPr>
      </p:pic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71500" y="1457554"/>
            <a:ext cx="228600" cy="228600"/>
          </a:xfrm>
          <a:prstGeom prst="rect">
            <a:avLst/>
          </a:prstGeom>
        </p:spPr>
      </p:pic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6"/>
          <a:srcRect t="-16" b="-16"/>
          <a:stretch/>
        </p:blipFill>
        <p:spPr>
          <a:xfrm>
            <a:off x="1218895" y="1266444"/>
            <a:ext cx="4647895" cy="118140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1419149" y="1466698"/>
            <a:ext cx="15416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환경 점검</a:t>
            </a:r>
            <a:endParaRPr lang="en-US" sz="1300" dirty="0"/>
          </a:p>
        </p:txBody>
      </p:sp>
      <p:sp>
        <p:nvSpPr>
          <p:cNvPr id="45" name="Shape 29"/>
          <p:cNvSpPr/>
          <p:nvPr/>
        </p:nvSpPr>
        <p:spPr>
          <a:xfrm>
            <a:off x="4280306" y="1485900"/>
            <a:ext cx="13908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0"/>
          <p:cNvSpPr txBox="1"/>
          <p:nvPr/>
        </p:nvSpPr>
        <p:spPr>
          <a:xfrm>
            <a:off x="1419149" y="180959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 및 컴파일러 확인, 필수 헤더/라이브러리 검증.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900" b="1" dirty="0" err="1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즉시 중단</a:t>
            </a:r>
            <a:endParaRPr lang="en-US" sz="1000" dirty="0"/>
          </a:p>
        </p:txBody>
      </p:sp>
      <p:sp>
        <p:nvSpPr>
          <p:cNvPr id="47" name="Text 31"/>
          <p:cNvSpPr txBox="1"/>
          <p:nvPr/>
        </p:nvSpPr>
        <p:spPr>
          <a:xfrm>
            <a:off x="4356202" y="1533449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check_build_env.sh</a:t>
            </a:r>
            <a:endParaRPr lang="en-US" sz="9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399357" y="2116197"/>
            <a:ext cx="114300" cy="114300"/>
          </a:xfrm>
          <a:prstGeom prst="rect">
            <a:avLst/>
          </a:prstGeom>
        </p:spPr>
      </p:pic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81305" y="3245206"/>
            <a:ext cx="609905" cy="609905"/>
          </a:xfrm>
          <a:prstGeom prst="rect">
            <a:avLst/>
          </a:prstGeom>
        </p:spPr>
      </p:pic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9"/>
          <a:srcRect t="-45" b="-45"/>
          <a:stretch/>
        </p:blipFill>
        <p:spPr>
          <a:xfrm>
            <a:off x="556870" y="3436315"/>
            <a:ext cx="256946" cy="228600"/>
          </a:xfrm>
          <a:prstGeom prst="rect">
            <a:avLst/>
          </a:prstGeom>
        </p:spPr>
      </p:pic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20"/>
          <a:srcRect t="-16" b="-16"/>
          <a:stretch/>
        </p:blipFill>
        <p:spPr>
          <a:xfrm>
            <a:off x="1218895" y="3245206"/>
            <a:ext cx="4647895" cy="1181405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1419149" y="3445459"/>
            <a:ext cx="153070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OS별 패치</a:t>
            </a:r>
            <a:endParaRPr lang="en-US" sz="1300" dirty="0"/>
          </a:p>
        </p:txBody>
      </p:sp>
      <p:sp>
        <p:nvSpPr>
          <p:cNvPr id="53" name="Shape 33"/>
          <p:cNvSpPr/>
          <p:nvPr/>
        </p:nvSpPr>
        <p:spPr>
          <a:xfrm>
            <a:off x="4691786" y="3464662"/>
            <a:ext cx="981151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4"/>
          <p:cNvSpPr txBox="1"/>
          <p:nvPr/>
        </p:nvSpPr>
        <p:spPr>
          <a:xfrm>
            <a:off x="1419149" y="3788359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OS(Solaris, AIX, HP-UX) 감지 후 Makefile 자동 수정.</a:t>
            </a:r>
            <a:endParaRPr lang="en-US" sz="1000" dirty="0"/>
          </a:p>
          <a:p>
            <a:pPr marL="0" indent="0" algn="l">
              <a:buNone/>
            </a:pPr>
            <a:endParaRPr lang="en-US" sz="900" b="1" dirty="0">
              <a:solidFill>
                <a:srgbClr val="7C3AED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</a:t>
            </a:r>
            <a:r>
              <a:rPr lang="en-US" sz="900" b="1" dirty="0" err="1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</a:t>
            </a: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/CFLAGS 주입</a:t>
            </a:r>
            <a:endParaRPr lang="en-US" sz="1000" dirty="0"/>
          </a:p>
        </p:txBody>
      </p:sp>
      <p:sp>
        <p:nvSpPr>
          <p:cNvPr id="55" name="Text 35"/>
          <p:cNvSpPr txBox="1"/>
          <p:nvPr/>
        </p:nvSpPr>
        <p:spPr>
          <a:xfrm>
            <a:off x="4767682" y="3512210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autopatch.sh</a:t>
            </a:r>
            <a:endParaRPr lang="en-US" sz="9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21"/>
          <a:srcRect t="-80" b="-80"/>
          <a:stretch/>
        </p:blipFill>
        <p:spPr>
          <a:xfrm>
            <a:off x="1419149" y="4094957"/>
            <a:ext cx="142646" cy="114300"/>
          </a:xfrm>
          <a:prstGeom prst="rect">
            <a:avLst/>
          </a:prstGeom>
        </p:spPr>
      </p:pic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381305" y="5224882"/>
            <a:ext cx="609905" cy="609905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23"/>
          <a:srcRect t="-45" b="-45"/>
          <a:stretch/>
        </p:blipFill>
        <p:spPr>
          <a:xfrm>
            <a:off x="556870" y="5415077"/>
            <a:ext cx="256946" cy="228600"/>
          </a:xfrm>
          <a:prstGeom prst="rect">
            <a:avLst/>
          </a:prstGeom>
        </p:spPr>
      </p:pic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20"/>
          <a:srcRect t="-16" b="-16"/>
          <a:stretch/>
        </p:blipFill>
        <p:spPr>
          <a:xfrm>
            <a:off x="1218895" y="5224882"/>
            <a:ext cx="4647895" cy="1181405"/>
          </a:xfrm>
          <a:prstGeom prst="rect">
            <a:avLst/>
          </a:prstGeom>
        </p:spPr>
      </p:pic>
      <p:sp>
        <p:nvSpPr>
          <p:cNvPr id="60" name="Text 36"/>
          <p:cNvSpPr txBox="1"/>
          <p:nvPr/>
        </p:nvSpPr>
        <p:spPr>
          <a:xfrm>
            <a:off x="1419149" y="5424221"/>
            <a:ext cx="15416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빌드 수행</a:t>
            </a:r>
            <a:endParaRPr lang="en-US" sz="1300" dirty="0"/>
          </a:p>
        </p:txBody>
      </p:sp>
      <p:sp>
        <p:nvSpPr>
          <p:cNvPr id="61" name="Shape 37"/>
          <p:cNvSpPr/>
          <p:nvPr/>
        </p:nvSpPr>
        <p:spPr>
          <a:xfrm>
            <a:off x="4966106" y="5443423"/>
            <a:ext cx="7050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38"/>
          <p:cNvSpPr txBox="1"/>
          <p:nvPr/>
        </p:nvSpPr>
        <p:spPr>
          <a:xfrm>
            <a:off x="1419149" y="5767121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 → Configure → Make → Verify 순차 실행.</a:t>
            </a:r>
            <a:endParaRPr lang="en-US" sz="1000" dirty="0"/>
          </a:p>
          <a:p>
            <a:pPr marL="0" indent="0" algn="l">
              <a:buNone/>
            </a:pPr>
            <a:endParaRPr lang="en-US" sz="900" b="1" dirty="0">
              <a:solidFill>
                <a:srgbClr val="0596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</a:t>
            </a:r>
            <a:r>
              <a:rPr lang="en-US" sz="9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9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eCAMS_svr</a:t>
            </a: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검증</a:t>
            </a:r>
            <a:endParaRPr lang="en-US" sz="1000" dirty="0"/>
          </a:p>
        </p:txBody>
      </p:sp>
      <p:sp>
        <p:nvSpPr>
          <p:cNvPr id="63" name="Text 39"/>
          <p:cNvSpPr txBox="1"/>
          <p:nvPr/>
        </p:nvSpPr>
        <p:spPr>
          <a:xfrm>
            <a:off x="5042002" y="5490972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build.sh</a:t>
            </a:r>
            <a:endParaRPr lang="en-US" sz="900" dirty="0"/>
          </a:p>
        </p:txBody>
      </p:sp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438939" y="6069762"/>
            <a:ext cx="114300" cy="114300"/>
          </a:xfrm>
          <a:prstGeom prst="rect">
            <a:avLst/>
          </a:prstGeom>
        </p:spPr>
      </p:pic>
      <p:sp>
        <p:nvSpPr>
          <p:cNvPr id="65" name="Shape 40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41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7" name="Shape 42"/>
          <p:cNvSpPr/>
          <p:nvPr/>
        </p:nvSpPr>
        <p:spPr>
          <a:xfrm>
            <a:off x="381305" y="247802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43"/>
          <p:cNvSpPr txBox="1"/>
          <p:nvPr/>
        </p:nvSpPr>
        <p:spPr>
          <a:xfrm>
            <a:off x="590702" y="228600"/>
            <a:ext cx="3471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빌드 스크립트 개요</a:t>
            </a:r>
            <a:endParaRPr lang="en-US" sz="2200" dirty="0"/>
          </a:p>
        </p:txBody>
      </p:sp>
      <p:pic>
        <p:nvPicPr>
          <p:cNvPr id="69" name="Image 23" descr="preencoded.png"/>
          <p:cNvPicPr>
            <a:picLocks noChangeAspect="1"/>
          </p:cNvPicPr>
          <p:nvPr/>
        </p:nvPicPr>
        <p:blipFill>
          <a:blip r:embed="rId25"/>
          <a:srcRect t="-77" b="-77"/>
          <a:stretch/>
        </p:blipFill>
        <p:spPr>
          <a:xfrm>
            <a:off x="3518611" y="256946"/>
            <a:ext cx="1209751" cy="286207"/>
          </a:xfrm>
          <a:prstGeom prst="rect">
            <a:avLst/>
          </a:prstGeom>
        </p:spPr>
      </p:pic>
      <p:pic>
        <p:nvPicPr>
          <p:cNvPr id="70" name="Image 24" descr="preencoded.png"/>
          <p:cNvPicPr>
            <a:picLocks noChangeAspect="1"/>
          </p:cNvPicPr>
          <p:nvPr/>
        </p:nvPicPr>
        <p:blipFill>
          <a:blip r:embed="rId26"/>
          <a:srcRect t="-842" b="-842"/>
          <a:stretch/>
        </p:blipFill>
        <p:spPr>
          <a:xfrm>
            <a:off x="10554005" y="314554"/>
            <a:ext cx="190195" cy="171907"/>
          </a:xfrm>
          <a:prstGeom prst="rect">
            <a:avLst/>
          </a:prstGeom>
        </p:spPr>
      </p:pic>
      <p:sp>
        <p:nvSpPr>
          <p:cNvPr id="71" name="Text 44"/>
          <p:cNvSpPr txBox="1"/>
          <p:nvPr/>
        </p:nvSpPr>
        <p:spPr>
          <a:xfrm>
            <a:off x="3642970" y="323698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8C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build_all.sh</a:t>
            </a:r>
            <a:endParaRPr lang="en-US" sz="1000" dirty="0"/>
          </a:p>
        </p:txBody>
      </p:sp>
      <p:sp>
        <p:nvSpPr>
          <p:cNvPr id="72" name="Text 45"/>
          <p:cNvSpPr txBox="1"/>
          <p:nvPr/>
        </p:nvSpPr>
        <p:spPr>
          <a:xfrm>
            <a:off x="10821010" y="304495"/>
            <a:ext cx="11795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Unified Process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43254"/>
            <a:ext cx="38405" cy="4981651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324905" y="1190549"/>
            <a:ext cx="5486400" cy="34482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0" y="1429207"/>
            <a:ext cx="4905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로깅 유틸리티 함수 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6562649" y="1476756"/>
            <a:ext cx="219456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62649" y="1848002"/>
            <a:ext cx="5201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 전반에서 사용되는 표준화된 로그 출력 함수 정의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562649" y="2190902"/>
            <a:ext cx="5009998" cy="609905"/>
          </a:xfrm>
          <a:prstGeom prst="roundRect">
            <a:avLst>
              <a:gd name="adj" fmla="val 18741"/>
            </a:avLst>
          </a:prstGeom>
          <a:solidFill>
            <a:srgbClr val="111827"/>
          </a:solidFill>
          <a:ln/>
        </p:spPr>
      </p:sp>
      <p:sp>
        <p:nvSpPr>
          <p:cNvPr id="11" name="Shape 7"/>
          <p:cNvSpPr/>
          <p:nvPr/>
        </p:nvSpPr>
        <p:spPr>
          <a:xfrm>
            <a:off x="6562649" y="2190902"/>
            <a:ext cx="38405" cy="6099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15354" y="2314346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Function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635386" y="2314346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Output Style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715354" y="2514600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log_success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629754" y="2514600"/>
            <a:ext cx="1362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✓ [Date] Message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562649" y="2915107"/>
            <a:ext cx="5009998" cy="418795"/>
          </a:xfrm>
          <a:prstGeom prst="roundRect">
            <a:avLst>
              <a:gd name="adj" fmla="val 39698"/>
            </a:avLst>
          </a:prstGeom>
          <a:solidFill>
            <a:srgbClr val="111827"/>
          </a:solidFill>
          <a:ln/>
        </p:spPr>
      </p:sp>
      <p:sp>
        <p:nvSpPr>
          <p:cNvPr id="17" name="Shape 13"/>
          <p:cNvSpPr/>
          <p:nvPr/>
        </p:nvSpPr>
        <p:spPr>
          <a:xfrm>
            <a:off x="6562649" y="2915107"/>
            <a:ext cx="38405" cy="41879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15354" y="3047695"/>
            <a:ext cx="724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log_fail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629754" y="3047695"/>
            <a:ext cx="1362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✗ [Date] Message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62649" y="3448202"/>
            <a:ext cx="5009998" cy="418795"/>
          </a:xfrm>
          <a:prstGeom prst="roundRect">
            <a:avLst>
              <a:gd name="adj" fmla="val 39698"/>
            </a:avLst>
          </a:prstGeom>
          <a:solidFill>
            <a:srgbClr val="111827"/>
          </a:solidFill>
          <a:ln/>
        </p:spPr>
      </p:sp>
      <p:sp>
        <p:nvSpPr>
          <p:cNvPr id="21" name="Shape 17"/>
          <p:cNvSpPr/>
          <p:nvPr/>
        </p:nvSpPr>
        <p:spPr>
          <a:xfrm>
            <a:off x="6562649" y="3448202"/>
            <a:ext cx="38405" cy="418795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715354" y="3581705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log_error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629754" y="3581705"/>
            <a:ext cx="1200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ERROR: Message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562649" y="3981298"/>
            <a:ext cx="5009998" cy="418795"/>
          </a:xfrm>
          <a:prstGeom prst="roundRect">
            <a:avLst>
              <a:gd name="adj" fmla="val 39698"/>
            </a:avLst>
          </a:prstGeom>
          <a:solidFill>
            <a:srgbClr val="111827"/>
          </a:solidFill>
          <a:ln/>
        </p:spPr>
      </p:sp>
      <p:sp>
        <p:nvSpPr>
          <p:cNvPr id="25" name="Shape 21"/>
          <p:cNvSpPr/>
          <p:nvPr/>
        </p:nvSpPr>
        <p:spPr>
          <a:xfrm>
            <a:off x="6562649" y="3981298"/>
            <a:ext cx="38405" cy="418795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15354" y="4114800"/>
            <a:ext cx="324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629754" y="4114800"/>
            <a:ext cx="1200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[Date] Message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324905" y="4867351"/>
            <a:ext cx="5486400" cy="1990649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810451" y="5105095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필수 항목 누락 시 처리 </a:t>
            </a:r>
            <a:endParaRPr lang="en-US" sz="13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62649" y="5152644"/>
            <a:ext cx="171907" cy="171907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562649" y="5524805"/>
            <a:ext cx="304495" cy="381305"/>
          </a:xfrm>
          <a:prstGeom prst="roundRect">
            <a:avLst>
              <a:gd name="adj" fmla="val 3753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38544" y="5648249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981444" y="5486400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필수 헤더나 컴파일러가 발견되지 않으면 </a:t>
            </a: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MISSING_HEADERS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배열에 기록하고, 원인 메시지를 출력한 뒤 즉시 종료(</a:t>
            </a:r>
            <a:r>
              <a:rPr lang="en-US" sz="1000" dirty="0">
                <a:solidFill>
                  <a:srgbClr val="B91C1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exit 1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)합니다. 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32" b="-32"/>
          <a:stretch/>
        </p:blipFill>
        <p:spPr>
          <a:xfrm>
            <a:off x="6562649" y="6090818"/>
            <a:ext cx="5009998" cy="7434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687007" y="6215177"/>
            <a:ext cx="4877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Guidance Example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6687007" y="6405372"/>
            <a:ext cx="4839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262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ERROR: 누락된 헤더: sys/socket.h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262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ERROR: 개발 패키지 설치 필요 (예: build-essential) </a:t>
            </a:r>
            <a:endParaRPr lang="en-US" sz="9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1266444"/>
            <a:ext cx="609905" cy="609905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556870" y="1457554"/>
            <a:ext cx="256946" cy="228600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t="-3" b="-3"/>
          <a:stretch/>
        </p:blipFill>
        <p:spPr>
          <a:xfrm>
            <a:off x="1218895" y="1266444"/>
            <a:ext cx="4647895" cy="16002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419149" y="1466698"/>
            <a:ext cx="18425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및 컴파일러 점검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4554626" y="1485900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1419149" y="1809598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 커널(</a:t>
            </a: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uname -s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)과 릴리즈 확인. 컴파일러 존재 여부를 확인하고 환경 변수 </a:t>
            </a: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CC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설정. 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1419149" y="2357323"/>
            <a:ext cx="4248302" cy="304495"/>
          </a:xfrm>
          <a:prstGeom prst="roundRect">
            <a:avLst>
              <a:gd name="adj" fmla="val 3753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4630522" y="1533449"/>
            <a:ext cx="10387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uname &amp; gcc/cc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1495044" y="2443277"/>
            <a:ext cx="207111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export CC=gcc || export CC=cc</a:t>
            </a:r>
            <a:endParaRPr lang="en-US" sz="9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81305" y="3262579"/>
            <a:ext cx="609905" cy="609905"/>
          </a:xfrm>
          <a:prstGeom prst="rect">
            <a:avLst/>
          </a:prstGeom>
        </p:spPr>
      </p:pic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556870" y="3452774"/>
            <a:ext cx="256946" cy="228600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rcRect t="-11" b="-11"/>
          <a:stretch/>
        </p:blipFill>
        <p:spPr>
          <a:xfrm>
            <a:off x="1218895" y="3262579"/>
            <a:ext cx="4647895" cy="157185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419149" y="3461918"/>
            <a:ext cx="23426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헤더/라이브러리 검증</a:t>
            </a:r>
            <a:endParaRPr lang="en-US" sz="1300" dirty="0"/>
          </a:p>
        </p:txBody>
      </p:sp>
      <p:sp>
        <p:nvSpPr>
          <p:cNvPr id="50" name="Shape 36"/>
          <p:cNvSpPr/>
          <p:nvPr/>
        </p:nvSpPr>
        <p:spPr>
          <a:xfrm>
            <a:off x="4828946" y="3481121"/>
            <a:ext cx="847649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1419149" y="3804818"/>
            <a:ext cx="44394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헤더 파일 존재 여부를 전처리기로 확인.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1419149" y="4098341"/>
            <a:ext cx="20857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3581705" y="4098341"/>
            <a:ext cx="20857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1419149" y="4402836"/>
            <a:ext cx="20857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3581705" y="4402836"/>
            <a:ext cx="20857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4904842" y="3528670"/>
            <a:ext cx="7717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Loop Check</a:t>
            </a:r>
            <a:endParaRPr lang="en-US" sz="900" dirty="0"/>
          </a:p>
        </p:txBody>
      </p:sp>
      <p:sp>
        <p:nvSpPr>
          <p:cNvPr id="57" name="Text 43"/>
          <p:cNvSpPr txBox="1"/>
          <p:nvPr/>
        </p:nvSpPr>
        <p:spPr>
          <a:xfrm>
            <a:off x="1495044" y="4145890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sys/socket.h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3657600" y="4145890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netinet/in.h</a:t>
            </a:r>
            <a:endParaRPr lang="en-US" sz="900" dirty="0"/>
          </a:p>
        </p:txBody>
      </p:sp>
      <p:sp>
        <p:nvSpPr>
          <p:cNvPr id="59" name="Text 45"/>
          <p:cNvSpPr txBox="1"/>
          <p:nvPr/>
        </p:nvSpPr>
        <p:spPr>
          <a:xfrm>
            <a:off x="1495044" y="4450385"/>
            <a:ext cx="5623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netdb.h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3657600" y="4450385"/>
            <a:ext cx="838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arpa/inet.h</a:t>
            </a:r>
            <a:endParaRPr lang="en-US" sz="900" dirty="0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81305" y="5231282"/>
            <a:ext cx="609905" cy="609905"/>
          </a:xfrm>
          <a:prstGeom prst="rect">
            <a:avLst/>
          </a:prstGeom>
        </p:spPr>
      </p:pic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71500" y="5422392"/>
            <a:ext cx="228600" cy="228600"/>
          </a:xfrm>
          <a:prstGeom prst="rect">
            <a:avLst/>
          </a:prstGeom>
        </p:spPr>
      </p:pic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7"/>
          <a:srcRect l="-6" r="-6"/>
          <a:stretch/>
        </p:blipFill>
        <p:spPr>
          <a:xfrm>
            <a:off x="1218895" y="5231282"/>
            <a:ext cx="4647895" cy="1171346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1419149" y="5431536"/>
            <a:ext cx="20180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 및 도구 확인</a:t>
            </a:r>
            <a:endParaRPr lang="en-US" sz="1300" dirty="0"/>
          </a:p>
        </p:txBody>
      </p:sp>
      <p:sp>
        <p:nvSpPr>
          <p:cNvPr id="65" name="Shape 48"/>
          <p:cNvSpPr/>
          <p:nvPr/>
        </p:nvSpPr>
        <p:spPr>
          <a:xfrm>
            <a:off x="4623206" y="5450738"/>
            <a:ext cx="10479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9"/>
          <p:cNvSpPr txBox="1"/>
          <p:nvPr/>
        </p:nvSpPr>
        <p:spPr>
          <a:xfrm>
            <a:off x="1419149" y="5774436"/>
            <a:ext cx="43251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autoconf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설치 여부 및 버전 확인.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configure 파일이 이미 있다면 autoconf 미설치 시에도 빌드 가능 (WARNING 처리)</a:t>
            </a:r>
            <a:endParaRPr lang="en-US" sz="1000" dirty="0"/>
          </a:p>
        </p:txBody>
      </p:sp>
      <p:sp>
        <p:nvSpPr>
          <p:cNvPr id="67" name="Text 50"/>
          <p:cNvSpPr txBox="1"/>
          <p:nvPr/>
        </p:nvSpPr>
        <p:spPr>
          <a:xfrm>
            <a:off x="4699102" y="5498287"/>
            <a:ext cx="972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Tools Version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52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0" name="Shape 53"/>
          <p:cNvSpPr/>
          <p:nvPr/>
        </p:nvSpPr>
        <p:spPr>
          <a:xfrm>
            <a:off x="381305" y="247802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590702" y="228600"/>
            <a:ext cx="3981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환경 점검 로직 상세</a:t>
            </a:r>
            <a:endParaRPr lang="en-US" sz="220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8"/>
          <a:srcRect t="-84" b="-84"/>
          <a:stretch/>
        </p:blipFill>
        <p:spPr>
          <a:xfrm>
            <a:off x="3839566" y="256946"/>
            <a:ext cx="1695298" cy="286207"/>
          </a:xfrm>
          <a:prstGeom prst="rect">
            <a:avLst/>
          </a:prstGeom>
        </p:spPr>
      </p:pic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306202" y="314554"/>
            <a:ext cx="171907" cy="171907"/>
          </a:xfrm>
          <a:prstGeom prst="rect">
            <a:avLst/>
          </a:prstGeom>
        </p:spPr>
      </p:pic>
      <p:sp>
        <p:nvSpPr>
          <p:cNvPr id="74" name="Text 55"/>
          <p:cNvSpPr txBox="1"/>
          <p:nvPr/>
        </p:nvSpPr>
        <p:spPr>
          <a:xfrm>
            <a:off x="3963010" y="323698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check_build_env.sh</a:t>
            </a:r>
            <a:endParaRPr lang="en-US" sz="1000" dirty="0"/>
          </a:p>
        </p:txBody>
      </p:sp>
      <p:sp>
        <p:nvSpPr>
          <p:cNvPr id="75" name="Text 56"/>
          <p:cNvSpPr txBox="1"/>
          <p:nvPr/>
        </p:nvSpPr>
        <p:spPr>
          <a:xfrm>
            <a:off x="10554005" y="304495"/>
            <a:ext cx="14109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Check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5" y="1266444"/>
            <a:ext cx="38405" cy="5134356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5309006" y="1114654"/>
            <a:ext cx="6581851" cy="14292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70855" y="1446581"/>
            <a:ext cx="15270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99455" y="1427378"/>
            <a:ext cx="1633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 Library Patch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70855" y="1693469"/>
            <a:ext cx="6258154" cy="533095"/>
          </a:xfrm>
          <a:prstGeom prst="roundRect">
            <a:avLst>
              <a:gd name="adj" fmla="val 1225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6" r="-26"/>
          <a:stretch/>
        </p:blipFill>
        <p:spPr>
          <a:xfrm>
            <a:off x="11376050" y="1693469"/>
            <a:ext cx="352044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52860" y="1703527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sed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5585155" y="1826971"/>
            <a:ext cx="257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sed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756148" y="1826971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984748" y="1826971"/>
            <a:ext cx="3609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's/LIBS\s*=.*/LIBS = -lxnet -lnsl -lsocket -lresolv/'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014155" y="1826971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Makefile.in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585155" y="1979676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928055" y="1979676"/>
            <a:ext cx="164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PATH=/usr/xpg4/bin:$PATH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309006" y="2691994"/>
            <a:ext cx="6581851" cy="1429207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70855" y="3023921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699455" y="3004718"/>
            <a:ext cx="17117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 Compiler Settings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70855" y="3271723"/>
            <a:ext cx="6258154" cy="533095"/>
          </a:xfrm>
          <a:prstGeom prst="roundRect">
            <a:avLst>
              <a:gd name="adj" fmla="val 1225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585155" y="3405226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5928055" y="3405226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CC=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6156655" y="3405226"/>
            <a:ext cx="686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"xlc -q32"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585155" y="355793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5928055" y="3557930"/>
            <a:ext cx="5431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CFLAGS=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6385255" y="3557930"/>
            <a:ext cx="14401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"-qlanglvl=extc99 -g"</a:t>
            </a:r>
            <a:endParaRPr lang="en-US" sz="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5309006" y="4270248"/>
            <a:ext cx="6581851" cy="1429207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70855" y="4526280"/>
            <a:ext cx="152705" cy="152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699455" y="4507078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 Compatibility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470855" y="4774082"/>
            <a:ext cx="6258154" cy="68580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5585155" y="490667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5928055" y="4906670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CC=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6156655" y="4906670"/>
            <a:ext cx="54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"cc -Ae"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5585155" y="5059375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5928055" y="5059375"/>
            <a:ext cx="5431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CFLAGS=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385255" y="5059375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"-g +DA2.0W"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5585155" y="521208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5928055" y="521208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LIBS=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270955" y="5212080"/>
            <a:ext cx="54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"-lxnet"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rcRect t="-10" b="-10"/>
          <a:stretch/>
        </p:blipFill>
        <p:spPr>
          <a:xfrm>
            <a:off x="5309006" y="5848502"/>
            <a:ext cx="6581851" cy="7050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661050" y="6010351"/>
            <a:ext cx="2905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Patch Logic</a:t>
            </a:r>
            <a:endParaRPr lang="en-US" sz="10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5470855" y="6046013"/>
            <a:ext cx="114300" cy="13350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5470855" y="6238951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OS=$(uname -s) 명령어로 OS 감지 후 case 문으로 분기 처리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11031322" y="6019495"/>
            <a:ext cx="695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Next Step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10532974" y="6191402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./configure 실행</a:t>
            </a:r>
            <a:endParaRPr lang="en-US" sz="10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04495" y="1253642"/>
            <a:ext cx="609905" cy="609905"/>
          </a:xfrm>
          <a:prstGeom prst="rect">
            <a:avLst/>
          </a:prstGeom>
        </p:spPr>
      </p:pic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95605" y="1443838"/>
            <a:ext cx="228600" cy="228600"/>
          </a:xfrm>
          <a:prstGeom prst="rect">
            <a:avLst/>
          </a:prstGeom>
        </p:spPr>
      </p:pic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3"/>
          <a:srcRect t="-7" b="-7"/>
          <a:stretch/>
        </p:blipFill>
        <p:spPr>
          <a:xfrm>
            <a:off x="1104595" y="1152144"/>
            <a:ext cx="3905402" cy="81930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266444" y="1314907"/>
            <a:ext cx="1587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 (SunOS)</a:t>
            </a:r>
            <a:endParaRPr lang="en-US" sz="1300" dirty="0"/>
          </a:p>
        </p:txBody>
      </p:sp>
      <p:sp>
        <p:nvSpPr>
          <p:cNvPr id="51" name="Shape 37"/>
          <p:cNvSpPr/>
          <p:nvPr/>
        </p:nvSpPr>
        <p:spPr>
          <a:xfrm>
            <a:off x="3866083" y="1352398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8"/>
          <p:cNvSpPr txBox="1"/>
          <p:nvPr/>
        </p:nvSpPr>
        <p:spPr>
          <a:xfrm>
            <a:off x="1266444" y="1619402"/>
            <a:ext cx="3696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Makefile.in 수정 및 PATH 우선순위 변경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3942893" y="1380744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Libs</a:t>
            </a:r>
            <a:endParaRPr lang="en-US" sz="9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04495" y="2770632"/>
            <a:ext cx="609905" cy="609905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95605" y="2960827"/>
            <a:ext cx="228600" cy="228600"/>
          </a:xfrm>
          <a:prstGeom prst="rect">
            <a:avLst/>
          </a:prstGeom>
        </p:spPr>
      </p:pic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6"/>
          <a:srcRect t="-7" b="-7"/>
          <a:stretch/>
        </p:blipFill>
        <p:spPr>
          <a:xfrm>
            <a:off x="1104595" y="2669134"/>
            <a:ext cx="3905402" cy="819302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1266444" y="2830982"/>
            <a:ext cx="3529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</a:t>
            </a:r>
            <a:endParaRPr lang="en-US" sz="1300" dirty="0"/>
          </a:p>
        </p:txBody>
      </p:sp>
      <p:sp>
        <p:nvSpPr>
          <p:cNvPr id="58" name="Shape 41"/>
          <p:cNvSpPr/>
          <p:nvPr/>
        </p:nvSpPr>
        <p:spPr>
          <a:xfrm>
            <a:off x="4140403" y="2869387"/>
            <a:ext cx="705002" cy="190195"/>
          </a:xfrm>
          <a:prstGeom prst="roundRect">
            <a:avLst>
              <a:gd name="adj" fmla="val 9615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2"/>
          <p:cNvSpPr txBox="1"/>
          <p:nvPr/>
        </p:nvSpPr>
        <p:spPr>
          <a:xfrm>
            <a:off x="1266444" y="3136392"/>
            <a:ext cx="3696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xlc 32bit 컴파일러 및 C99 확장 옵션 적용</a:t>
            </a:r>
            <a:endParaRPr lang="en-US" sz="1000" dirty="0"/>
          </a:p>
        </p:txBody>
      </p:sp>
      <p:sp>
        <p:nvSpPr>
          <p:cNvPr id="60" name="Text 43"/>
          <p:cNvSpPr txBox="1"/>
          <p:nvPr/>
        </p:nvSpPr>
        <p:spPr>
          <a:xfrm>
            <a:off x="4217213" y="2897734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IBM XL C</a:t>
            </a:r>
            <a:endParaRPr lang="en-US" sz="90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04495" y="4287622"/>
            <a:ext cx="609905" cy="609905"/>
          </a:xfrm>
          <a:prstGeom prst="rect">
            <a:avLst/>
          </a:prstGeom>
        </p:spPr>
      </p:pic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95605" y="4477817"/>
            <a:ext cx="228600" cy="228600"/>
          </a:xfrm>
          <a:prstGeom prst="rect">
            <a:avLst/>
          </a:prstGeom>
        </p:spPr>
      </p:pic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9"/>
          <a:srcRect t="-7" b="-7"/>
          <a:stretch/>
        </p:blipFill>
        <p:spPr>
          <a:xfrm>
            <a:off x="1104595" y="4186123"/>
            <a:ext cx="3905402" cy="819302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1266444" y="4347972"/>
            <a:ext cx="619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</a:t>
            </a:r>
            <a:endParaRPr lang="en-US" sz="1300" dirty="0"/>
          </a:p>
        </p:txBody>
      </p:sp>
      <p:sp>
        <p:nvSpPr>
          <p:cNvPr id="65" name="Shape 45"/>
          <p:cNvSpPr/>
          <p:nvPr/>
        </p:nvSpPr>
        <p:spPr>
          <a:xfrm>
            <a:off x="3728923" y="4386377"/>
            <a:ext cx="1114654" cy="190195"/>
          </a:xfrm>
          <a:prstGeom prst="roundRect">
            <a:avLst>
              <a:gd name="adj" fmla="val 9615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6"/>
          <p:cNvSpPr txBox="1"/>
          <p:nvPr/>
        </p:nvSpPr>
        <p:spPr>
          <a:xfrm>
            <a:off x="1266444" y="4653382"/>
            <a:ext cx="3696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-Ae 옵션 및 PA-RISC 호환성 설정</a:t>
            </a:r>
            <a:endParaRPr lang="en-US" sz="1000" dirty="0"/>
          </a:p>
        </p:txBody>
      </p:sp>
      <p:sp>
        <p:nvSpPr>
          <p:cNvPr id="67" name="Text 47"/>
          <p:cNvSpPr txBox="1"/>
          <p:nvPr/>
        </p:nvSpPr>
        <p:spPr>
          <a:xfrm>
            <a:off x="3804818" y="4414723"/>
            <a:ext cx="10387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1C1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Legacy Support</a:t>
            </a:r>
            <a:endParaRPr lang="en-US" sz="900" dirty="0"/>
          </a:p>
        </p:txBody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04495" y="5804611"/>
            <a:ext cx="609905" cy="609905"/>
          </a:xfrm>
          <a:prstGeom prst="rect">
            <a:avLst/>
          </a:prstGeom>
        </p:spPr>
      </p:pic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21"/>
          <a:srcRect l="-57" r="-57"/>
          <a:stretch/>
        </p:blipFill>
        <p:spPr>
          <a:xfrm>
            <a:off x="509321" y="5994806"/>
            <a:ext cx="200254" cy="228600"/>
          </a:xfrm>
          <a:prstGeom prst="rect">
            <a:avLst/>
          </a:prstGeom>
        </p:spPr>
      </p:pic>
      <p:pic>
        <p:nvPicPr>
          <p:cNvPr id="70" name="Image 20" descr="preencoded.png"/>
          <p:cNvPicPr>
            <a:picLocks noChangeAspect="1"/>
          </p:cNvPicPr>
          <p:nvPr/>
        </p:nvPicPr>
        <p:blipFill>
          <a:blip r:embed="rId19"/>
          <a:srcRect t="-7" b="-7"/>
          <a:stretch/>
        </p:blipFill>
        <p:spPr>
          <a:xfrm>
            <a:off x="1104595" y="5703113"/>
            <a:ext cx="3905402" cy="819302"/>
          </a:xfrm>
          <a:prstGeom prst="rect">
            <a:avLst/>
          </a:prstGeom>
        </p:spPr>
      </p:pic>
      <p:sp>
        <p:nvSpPr>
          <p:cNvPr id="71" name="Text 48"/>
          <p:cNvSpPr txBox="1"/>
          <p:nvPr/>
        </p:nvSpPr>
        <p:spPr>
          <a:xfrm>
            <a:off x="1266444" y="5864962"/>
            <a:ext cx="14401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/ Others</a:t>
            </a:r>
            <a:endParaRPr lang="en-US" sz="1300" dirty="0"/>
          </a:p>
        </p:txBody>
      </p:sp>
      <p:sp>
        <p:nvSpPr>
          <p:cNvPr id="72" name="Shape 49"/>
          <p:cNvSpPr/>
          <p:nvPr/>
        </p:nvSpPr>
        <p:spPr>
          <a:xfrm>
            <a:off x="4140403" y="5903366"/>
            <a:ext cx="705002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50"/>
          <p:cNvSpPr txBox="1"/>
          <p:nvPr/>
        </p:nvSpPr>
        <p:spPr>
          <a:xfrm>
            <a:off x="1266444" y="6169457"/>
            <a:ext cx="3771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특이사항 없음 (표준 환경 유지)</a:t>
            </a:r>
            <a:endParaRPr lang="en-US" sz="1000" dirty="0"/>
          </a:p>
        </p:txBody>
      </p:sp>
      <p:sp>
        <p:nvSpPr>
          <p:cNvPr id="74" name="Text 51"/>
          <p:cNvSpPr txBox="1"/>
          <p:nvPr/>
        </p:nvSpPr>
        <p:spPr>
          <a:xfrm>
            <a:off x="4217213" y="5931713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</a:t>
            </a:r>
            <a:endParaRPr lang="en-US" sz="900" dirty="0"/>
          </a:p>
        </p:txBody>
      </p:sp>
      <p:sp>
        <p:nvSpPr>
          <p:cNvPr id="75" name="Shape 52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53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7" name="Shape 54"/>
          <p:cNvSpPr/>
          <p:nvPr/>
        </p:nvSpPr>
        <p:spPr>
          <a:xfrm>
            <a:off x="381305" y="247802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55"/>
          <p:cNvSpPr txBox="1"/>
          <p:nvPr/>
        </p:nvSpPr>
        <p:spPr>
          <a:xfrm>
            <a:off x="590702" y="228600"/>
            <a:ext cx="4045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OS별 자동 패치 로직</a:t>
            </a:r>
            <a:endParaRPr lang="en-US" sz="2200" dirty="0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22"/>
          <a:srcRect t="-77" b="-77"/>
          <a:stretch/>
        </p:blipFill>
        <p:spPr>
          <a:xfrm>
            <a:off x="3967582" y="256946"/>
            <a:ext cx="1209751" cy="286207"/>
          </a:xfrm>
          <a:prstGeom prst="rect">
            <a:avLst/>
          </a:prstGeom>
        </p:spPr>
      </p:pic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23"/>
          <a:srcRect t="-842" b="-842"/>
          <a:stretch/>
        </p:blipFill>
        <p:spPr>
          <a:xfrm>
            <a:off x="10153498" y="314554"/>
            <a:ext cx="190195" cy="171907"/>
          </a:xfrm>
          <a:prstGeom prst="rect">
            <a:avLst/>
          </a:prstGeom>
        </p:spPr>
      </p:pic>
      <p:sp>
        <p:nvSpPr>
          <p:cNvPr id="81" name="Text 56"/>
          <p:cNvSpPr txBox="1"/>
          <p:nvPr/>
        </p:nvSpPr>
        <p:spPr>
          <a:xfrm>
            <a:off x="4091940" y="323698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autopatch.sh</a:t>
            </a:r>
            <a:endParaRPr lang="en-US" sz="1000" dirty="0"/>
          </a:p>
        </p:txBody>
      </p:sp>
      <p:sp>
        <p:nvSpPr>
          <p:cNvPr id="82" name="Text 57"/>
          <p:cNvSpPr txBox="1"/>
          <p:nvPr/>
        </p:nvSpPr>
        <p:spPr>
          <a:xfrm>
            <a:off x="10420502" y="304495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Patching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5" y="1295705"/>
            <a:ext cx="38405" cy="5029200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096305" y="1067105"/>
            <a:ext cx="5790895" cy="398129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3" b="-23"/>
          <a:stretch/>
        </p:blipFill>
        <p:spPr>
          <a:xfrm>
            <a:off x="6105449" y="1076249"/>
            <a:ext cx="5772607" cy="4288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43446" y="1190549"/>
            <a:ext cx="20299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 로직 상세 (Verification) 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295644" y="1218895"/>
            <a:ext cx="171907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12626" y="1218895"/>
            <a:ext cx="3529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bash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6295644" y="1714500"/>
            <a:ext cx="1543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설치 예상 경로 정의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7759598" y="1714500"/>
            <a:ext cx="6087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INSTALL_PATHS=( "./</a:t>
            </a:r>
            <a:r>
              <a:rPr lang="en-US" sz="900" dirty="0" err="1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 "/SW2/polaris/bin/</a:t>
            </a:r>
            <a:r>
              <a:rPr lang="en-US" sz="900" dirty="0" err="1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 "../../../bin/</a:t>
            </a:r>
            <a:r>
              <a:rPr lang="en-US" sz="900" dirty="0" err="1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 )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3726973" y="1714500"/>
            <a:ext cx="1724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경로 순회 및 파일 확인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5372893" y="1714500"/>
            <a:ext cx="7668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FOUND_PATH="" for path in "${INSTALL_PATHS[@]}"; do if [ -f "$path" ]; then FOUND_PATH="$path" break fi done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22917607" y="1714500"/>
            <a:ext cx="952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결과 출력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23787202" y="1714500"/>
            <a:ext cx="55348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[ -n "$FOUND_PATH" ]; then log_success "빌드 성공!" log " 파일: $FOUND_PATH"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29205022" y="1714500"/>
            <a:ext cx="38487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 " 크기: $(ls -lh "$FOUND_PATH" | awk '{print $5}')"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32932116" y="1714500"/>
            <a:ext cx="286298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 " MD5: $(md5sum "$FOUND_PATH" ... )"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35676230" y="1714500"/>
            <a:ext cx="38487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else </a:t>
            </a:r>
            <a:r>
              <a:rPr lang="en-US" sz="900" dirty="0" err="1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log_fail</a:t>
            </a: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"</a:t>
            </a:r>
            <a:r>
              <a:rPr lang="en-US" sz="900" dirty="0" err="1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파일을 찾을 수 없음" exit 1 fi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6096305" y="5277002"/>
            <a:ext cx="5790895" cy="1276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24244" y="5477256"/>
            <a:ext cx="5353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특징 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95644" y="5514746"/>
            <a:ext cx="152705" cy="1527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95644" y="5838444"/>
            <a:ext cx="228600" cy="3429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53251" y="5976518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38544" y="5820156"/>
            <a:ext cx="24588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핸들링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6638544" y="6048756"/>
            <a:ext cx="2352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PIPESTATUS 배열을 사용하여 파이프라인 명령어의 종료 코드를 정확히 감지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9068105" y="5838444"/>
            <a:ext cx="228600" cy="342900"/>
          </a:xfrm>
          <a:prstGeom prst="roundRect">
            <a:avLst>
              <a:gd name="adj" fmla="val 66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24798" y="5976518"/>
            <a:ext cx="114300" cy="1143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411005" y="5820156"/>
            <a:ext cx="24588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경로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9411005" y="6048756"/>
            <a:ext cx="2352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설정에 따라 달라질 수 있는 설치 위치를 다중 경로 검사로 커버</a:t>
            </a:r>
            <a:endParaRPr lang="en-US" sz="9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4495" y="1260043"/>
            <a:ext cx="609905" cy="609905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480974" y="1450238"/>
            <a:ext cx="256946" cy="228600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rcRect l="-24" r="-24"/>
          <a:stretch/>
        </p:blipFill>
        <p:spPr>
          <a:xfrm>
            <a:off x="1104595" y="1104595"/>
            <a:ext cx="4610405" cy="9235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304849" y="1228954"/>
            <a:ext cx="18708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Clean &amp; Prepare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1304849" y="1533449"/>
            <a:ext cx="4286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빌드 산출물 및 설정 파일 제거.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cleanrm config.*</a:t>
            </a:r>
            <a:endParaRPr lang="en-US" sz="10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4495" y="2756916"/>
            <a:ext cx="609905" cy="609905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5605" y="2947111"/>
            <a:ext cx="228600" cy="228600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l="-24" r="-24"/>
          <a:stretch/>
        </p:blipFill>
        <p:spPr>
          <a:xfrm>
            <a:off x="1104595" y="2601468"/>
            <a:ext cx="4610405" cy="923544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1304849" y="2725826"/>
            <a:ext cx="123626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Configure</a:t>
            </a:r>
            <a:endParaRPr lang="en-US" sz="1300" dirty="0"/>
          </a:p>
        </p:txBody>
      </p:sp>
      <p:sp>
        <p:nvSpPr>
          <p:cNvPr id="40" name="Text 25"/>
          <p:cNvSpPr txBox="1"/>
          <p:nvPr/>
        </p:nvSpPr>
        <p:spPr>
          <a:xfrm>
            <a:off x="1304849" y="3030322"/>
            <a:ext cx="4286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Makefile 생성. 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활용.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</a:t>
            </a: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 중단</a:t>
            </a:r>
            <a:endParaRPr lang="en-US" sz="10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04495" y="4253789"/>
            <a:ext cx="609905" cy="609905"/>
          </a:xfrm>
          <a:prstGeom prst="rect">
            <a:avLst/>
          </a:prstGeom>
        </p:spPr>
      </p:pic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7"/>
          <a:srcRect t="-45" b="-45"/>
          <a:stretch/>
        </p:blipFill>
        <p:spPr>
          <a:xfrm>
            <a:off x="480974" y="4443984"/>
            <a:ext cx="256946" cy="228600"/>
          </a:xfrm>
          <a:prstGeom prst="rect">
            <a:avLst/>
          </a:prstGeom>
        </p:spPr>
      </p:pic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5"/>
          <a:srcRect l="-24" r="-24"/>
          <a:stretch/>
        </p:blipFill>
        <p:spPr>
          <a:xfrm>
            <a:off x="1104595" y="4098341"/>
            <a:ext cx="4610405" cy="923544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304849" y="4222699"/>
            <a:ext cx="10881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Compile</a:t>
            </a:r>
            <a:endParaRPr lang="en-US" sz="1300" dirty="0"/>
          </a:p>
        </p:txBody>
      </p:sp>
      <p:sp>
        <p:nvSpPr>
          <p:cNvPr id="45" name="Text 27"/>
          <p:cNvSpPr txBox="1"/>
          <p:nvPr/>
        </p:nvSpPr>
        <p:spPr>
          <a:xfrm>
            <a:off x="1304849" y="4527194"/>
            <a:ext cx="4286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소스 코드 컴파일 및 링킹.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2&gt;&amp;1 | tee log</a:t>
            </a:r>
            <a:endParaRPr lang="en-US" sz="10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04495" y="5750662"/>
            <a:ext cx="609905" cy="609905"/>
          </a:xfrm>
          <a:prstGeom prst="rect">
            <a:avLst/>
          </a:prstGeom>
        </p:spPr>
      </p:pic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19"/>
          <a:srcRect l="-57" r="-57"/>
          <a:stretch/>
        </p:blipFill>
        <p:spPr>
          <a:xfrm>
            <a:off x="509321" y="5940857"/>
            <a:ext cx="200254" cy="228600"/>
          </a:xfrm>
          <a:prstGeom prst="rect">
            <a:avLst/>
          </a:prstGeom>
        </p:spPr>
      </p:pic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5"/>
          <a:srcRect l="-24" r="-24"/>
          <a:stretch/>
        </p:blipFill>
        <p:spPr>
          <a:xfrm>
            <a:off x="1104595" y="5595214"/>
            <a:ext cx="4610405" cy="923544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1304849" y="5719572"/>
            <a:ext cx="140634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Verification</a:t>
            </a:r>
            <a:endParaRPr lang="en-US" sz="1300" dirty="0"/>
          </a:p>
        </p:txBody>
      </p:sp>
      <p:sp>
        <p:nvSpPr>
          <p:cNvPr id="50" name="Text 29"/>
          <p:cNvSpPr txBox="1"/>
          <p:nvPr/>
        </p:nvSpPr>
        <p:spPr>
          <a:xfrm>
            <a:off x="1304849" y="6024067"/>
            <a:ext cx="4286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최종 산출물 확인 및 무결성 검증.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eCAMS_svr</a:t>
            </a: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탐색</a:t>
            </a:r>
            <a:endParaRPr lang="en-US" sz="1000" dirty="0"/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304849" y="6250838"/>
            <a:ext cx="114300" cy="114300"/>
          </a:xfrm>
          <a:prstGeom prst="rect">
            <a:avLst/>
          </a:prstGeom>
        </p:spPr>
      </p:pic>
      <p:sp>
        <p:nvSpPr>
          <p:cNvPr id="52" name="Shape 30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31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Shape 32"/>
          <p:cNvSpPr/>
          <p:nvPr/>
        </p:nvSpPr>
        <p:spPr>
          <a:xfrm>
            <a:off x="381305" y="224028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33"/>
          <p:cNvSpPr txBox="1"/>
          <p:nvPr/>
        </p:nvSpPr>
        <p:spPr>
          <a:xfrm>
            <a:off x="590702" y="204826"/>
            <a:ext cx="32589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빌드 수행 로직</a:t>
            </a:r>
            <a:endParaRPr lang="en-US" sz="2200" dirty="0"/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21"/>
          <a:srcRect t="-91" b="-91"/>
          <a:stretch/>
        </p:blipFill>
        <p:spPr>
          <a:xfrm>
            <a:off x="3255264" y="233172"/>
            <a:ext cx="1057046" cy="286207"/>
          </a:xfrm>
          <a:prstGeom prst="rect">
            <a:avLst/>
          </a:prstGeom>
        </p:spPr>
      </p:pic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22"/>
          <a:srcRect l="-1064" r="-1064"/>
          <a:stretch/>
        </p:blipFill>
        <p:spPr>
          <a:xfrm>
            <a:off x="10520172" y="290779"/>
            <a:ext cx="219456" cy="171907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3378708" y="299923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do_build()</a:t>
            </a:r>
            <a:endParaRPr lang="en-US" sz="1000" dirty="0"/>
          </a:p>
        </p:txBody>
      </p:sp>
      <p:sp>
        <p:nvSpPr>
          <p:cNvPr id="59" name="Text 35"/>
          <p:cNvSpPr txBox="1"/>
          <p:nvPr/>
        </p:nvSpPr>
        <p:spPr>
          <a:xfrm>
            <a:off x="10815523" y="280721"/>
            <a:ext cx="11905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90295"/>
            <a:ext cx="12191695" cy="58677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457200" y="1447495"/>
            <a:ext cx="3610051" cy="4953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2530145" y="1762049"/>
            <a:ext cx="1218895" cy="1218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20794" y="1447495"/>
            <a:ext cx="72201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4520794" y="1447495"/>
            <a:ext cx="57607" cy="8759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69357" y="1772107"/>
            <a:ext cx="9144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9122" y="1772107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07101" y="1638605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--skip-check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1161166" y="1676095"/>
            <a:ext cx="390449" cy="190195"/>
          </a:xfrm>
          <a:prstGeom prst="roundRect">
            <a:avLst>
              <a:gd name="adj" fmla="val 48077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237976" y="1686154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607101" y="1943100"/>
            <a:ext cx="613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 단계를 건너뛰어 실행 시간을 단축합니다. (이미 검증된 환경)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20794" y="2635301"/>
            <a:ext cx="72201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4520794" y="2635301"/>
            <a:ext cx="57607" cy="87599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69357" y="2958998"/>
            <a:ext cx="9144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4830775" y="2958998"/>
            <a:ext cx="286207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07101" y="2825496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--skip-patch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11145622" y="2863901"/>
            <a:ext cx="400507" cy="190195"/>
          </a:xfrm>
          <a:prstGeom prst="roundRect">
            <a:avLst>
              <a:gd name="adj" fmla="val 48077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1222431" y="2873045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607101" y="3130906"/>
            <a:ext cx="6057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패치 로직을 건너뜁니다. (Makefile 수동 수정 유지 시 유용)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20794" y="3822192"/>
            <a:ext cx="72201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4520794" y="3822192"/>
            <a:ext cx="57607" cy="8759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69357" y="4146804"/>
            <a:ext cx="9144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845406" y="4146804"/>
            <a:ext cx="256946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07101" y="4013302"/>
            <a:ext cx="13606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--clean-only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10670134" y="4050792"/>
            <a:ext cx="875995" cy="190195"/>
          </a:xfrm>
          <a:prstGeom prst="roundRect">
            <a:avLst>
              <a:gd name="adj" fmla="val 48077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746943" y="4060850"/>
            <a:ext cx="8092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5607101" y="4317797"/>
            <a:ext cx="613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산출물과 설정 파일(config.*)을 정리하고 즉시 종료합니다.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520794" y="5009998"/>
            <a:ext cx="7220102" cy="1390802"/>
          </a:xfrm>
          <a:prstGeom prst="roundRect">
            <a:avLst>
              <a:gd name="adj" fmla="val 5404"/>
            </a:avLst>
          </a:prstGeom>
          <a:solidFill>
            <a:srgbClr val="1F2937"/>
          </a:solidFill>
          <a:ln/>
        </p:spPr>
      </p:sp>
      <p:sp>
        <p:nvSpPr>
          <p:cNvPr id="32" name="Shape 25"/>
          <p:cNvSpPr/>
          <p:nvPr/>
        </p:nvSpPr>
        <p:spPr>
          <a:xfrm>
            <a:off x="4520794" y="5009998"/>
            <a:ext cx="57607" cy="13908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206" b="-206"/>
          <a:stretch/>
        </p:blipFill>
        <p:spPr>
          <a:xfrm>
            <a:off x="11658600" y="5009998"/>
            <a:ext cx="75895" cy="139080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369357" y="5590642"/>
            <a:ext cx="9144" cy="2286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4845406" y="5590642"/>
            <a:ext cx="256946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607101" y="5200193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조합 실행 예시</a:t>
            </a:r>
            <a:endParaRPr lang="en-US" sz="13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17" r="-17"/>
          <a:stretch/>
        </p:blipFill>
        <p:spPr>
          <a:xfrm>
            <a:off x="5607101" y="5543093"/>
            <a:ext cx="5943600" cy="43799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730545" y="5667451"/>
            <a:ext cx="5811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./build_all.sh --skip-check --skip-patch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5607101" y="6057900"/>
            <a:ext cx="6134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점검과 패치를 모두 생략하고 즉시 빌드만 수행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1803197" y="1762049"/>
            <a:ext cx="914400" cy="552298"/>
          </a:xfrm>
          <a:prstGeom prst="roundRect">
            <a:avLst>
              <a:gd name="adj" fmla="val 16556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l="-607" r="-607"/>
          <a:stretch/>
        </p:blipFill>
        <p:spPr>
          <a:xfrm>
            <a:off x="2065630" y="1863547"/>
            <a:ext cx="390449" cy="3429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560881" y="2612441"/>
            <a:ext cx="140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실행</a:t>
            </a:r>
            <a:endParaRPr lang="en-US" sz="2200" dirty="0"/>
          </a:p>
        </p:txBody>
      </p:sp>
      <p:sp>
        <p:nvSpPr>
          <p:cNvPr id="43" name="Shape 32"/>
          <p:cNvSpPr/>
          <p:nvPr/>
        </p:nvSpPr>
        <p:spPr>
          <a:xfrm>
            <a:off x="771754" y="3183941"/>
            <a:ext cx="2980944" cy="571500"/>
          </a:xfrm>
          <a:prstGeom prst="roundRect">
            <a:avLst>
              <a:gd name="adj" fmla="val 21333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950062" y="3335731"/>
            <a:ext cx="26252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./build_all.sh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1389888" y="3984041"/>
            <a:ext cx="174376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명령어로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빌드 프로세스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순차적으로 수행합니다. 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771754" y="5124298"/>
            <a:ext cx="29809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3544" y="5391302"/>
            <a:ext cx="133502" cy="133502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133856" y="5362956"/>
            <a:ext cx="8165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환경 점검</a:t>
            </a:r>
            <a:endParaRPr lang="en-US" sz="10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3544" y="5658307"/>
            <a:ext cx="133502" cy="13350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133856" y="5629046"/>
            <a:ext cx="737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OS 패치</a:t>
            </a:r>
            <a:endParaRPr lang="en-US" sz="10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3544" y="5924398"/>
            <a:ext cx="133502" cy="13350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1133856" y="5896051"/>
            <a:ext cx="99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빌드 및 검증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457200" y="30449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685800" y="304495"/>
            <a:ext cx="346374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방법과 옵션</a:t>
            </a:r>
            <a:endParaRPr lang="en-US" sz="2700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10003536" y="405079"/>
            <a:ext cx="219456" cy="190195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10298887" y="352044"/>
            <a:ext cx="171175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&amp; Options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3349"/>
            <a:ext cx="12191695" cy="6124651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381305" y="923544"/>
            <a:ext cx="11430000" cy="9720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3154" y="1324051"/>
            <a:ext cx="171907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0956" y="1314907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해석 가이드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029054" y="1333195"/>
            <a:ext cx="9144" cy="152705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43607" y="1343254"/>
            <a:ext cx="133502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553005" y="1218895"/>
            <a:ext cx="18516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타임스탬프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2553005" y="1371600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구간 확인용 시간 기록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570171" y="1343254"/>
            <a:ext cx="114300" cy="1335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761281" y="1218895"/>
            <a:ext cx="1657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(Success)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4761281" y="1371600"/>
            <a:ext cx="195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단계 정상 완료 표시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38544" y="1343254"/>
            <a:ext cx="133502" cy="1335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847942" y="1218895"/>
            <a:ext cx="1610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(Warning)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6847942" y="1371600"/>
            <a:ext cx="1860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정보성 메시지 구분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32" r="-32"/>
          <a:stretch/>
        </p:blipFill>
        <p:spPr>
          <a:xfrm>
            <a:off x="9900209" y="1086307"/>
            <a:ext cx="1752905" cy="647395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10062058" y="1333195"/>
            <a:ext cx="114300" cy="15270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153498" y="1171346"/>
            <a:ext cx="1337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자동 저장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10176358" y="1505102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build_20260123.log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381305" y="2048256"/>
            <a:ext cx="11430000" cy="4505249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t="-37" b="-37"/>
          <a:stretch/>
        </p:blipFill>
        <p:spPr>
          <a:xfrm>
            <a:off x="390449" y="2057400"/>
            <a:ext cx="11410798" cy="314554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543154" y="2162556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714146" y="2162556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886054" y="2162556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6"/>
          <p:cNvSpPr txBox="1"/>
          <p:nvPr/>
        </p:nvSpPr>
        <p:spPr>
          <a:xfrm>
            <a:off x="4916729" y="2143354"/>
            <a:ext cx="25758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user@solaris-dev</a:t>
            </a: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:~/</a:t>
            </a:r>
            <a:r>
              <a:rPr lang="en-US" sz="900" dirty="0" err="1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eCAMS_agent</a:t>
            </a: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/build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 t="-6" b="-6"/>
          <a:stretch/>
        </p:blipFill>
        <p:spPr>
          <a:xfrm>
            <a:off x="390449" y="2371954"/>
            <a:ext cx="11410798" cy="4334256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80644" y="2600554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sp>
        <p:nvSpPr>
          <p:cNvPr id="30" name="Text 18"/>
          <p:cNvSpPr txBox="1"/>
          <p:nvPr/>
        </p:nvSpPr>
        <p:spPr>
          <a:xfrm>
            <a:off x="714146" y="2600554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./build_all.sh</a:t>
            </a:r>
            <a:endParaRPr lang="en-US" sz="900" dirty="0"/>
          </a:p>
        </p:txBody>
      </p:sp>
      <p:sp>
        <p:nvSpPr>
          <p:cNvPr id="31" name="Text 19"/>
          <p:cNvSpPr txBox="1"/>
          <p:nvPr/>
        </p:nvSpPr>
        <p:spPr>
          <a:xfrm>
            <a:off x="580644" y="2909621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32" name="Text 20"/>
          <p:cNvSpPr txBox="1"/>
          <p:nvPr/>
        </p:nvSpPr>
        <p:spPr>
          <a:xfrm>
            <a:off x="1208837" y="2909621"/>
            <a:ext cx="28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==========================================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580644" y="3088843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34" name="Text 22"/>
          <p:cNvSpPr txBox="1"/>
          <p:nvPr/>
        </p:nvSpPr>
        <p:spPr>
          <a:xfrm>
            <a:off x="1208837" y="3088843"/>
            <a:ext cx="1678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</a:t>
            </a: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Agent 통합 빌드 시작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580644" y="326806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36" name="Text 24"/>
          <p:cNvSpPr txBox="1"/>
          <p:nvPr/>
        </p:nvSpPr>
        <p:spPr>
          <a:xfrm>
            <a:off x="1208837" y="3268066"/>
            <a:ext cx="28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==========================================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580644" y="3484778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38" name="Text 26"/>
          <p:cNvSpPr txBox="1"/>
          <p:nvPr/>
        </p:nvSpPr>
        <p:spPr>
          <a:xfrm>
            <a:off x="1208837" y="3484778"/>
            <a:ext cx="13066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1단계: 빌드 환경 점검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580644" y="3664001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40" name="Text 28"/>
          <p:cNvSpPr txBox="1"/>
          <p:nvPr/>
        </p:nvSpPr>
        <p:spPr>
          <a:xfrm>
            <a:off x="1208837" y="3664001"/>
            <a:ext cx="3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OS: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1438351" y="3664001"/>
            <a:ext cx="82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SunOS (5.11)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580644" y="3843223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43" name="Text 31"/>
          <p:cNvSpPr txBox="1"/>
          <p:nvPr/>
        </p:nvSpPr>
        <p:spPr>
          <a:xfrm>
            <a:off x="1208837" y="3843223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278331" y="3843223"/>
            <a:ext cx="13743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GCC: gcc (GCC) 7.3.0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580644" y="402244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[10:30:00]</a:t>
            </a:r>
            <a:endParaRPr lang="en-US" sz="800" dirty="0"/>
          </a:p>
        </p:txBody>
      </p:sp>
      <p:sp>
        <p:nvSpPr>
          <p:cNvPr id="46" name="Text 34"/>
          <p:cNvSpPr txBox="1"/>
          <p:nvPr/>
        </p:nvSpPr>
        <p:spPr>
          <a:xfrm>
            <a:off x="1208837" y="4022446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278331" y="4022446"/>
            <a:ext cx="1237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sys/socket.h found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580644" y="4201668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49" name="Text 37"/>
          <p:cNvSpPr txBox="1"/>
          <p:nvPr/>
        </p:nvSpPr>
        <p:spPr>
          <a:xfrm>
            <a:off x="1208837" y="4201668"/>
            <a:ext cx="10104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 환경 점검 완료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580644" y="4418381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51" name="Text 39"/>
          <p:cNvSpPr txBox="1"/>
          <p:nvPr/>
        </p:nvSpPr>
        <p:spPr>
          <a:xfrm>
            <a:off x="1208837" y="4418381"/>
            <a:ext cx="1286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2단계: OS별 자동 패치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580644" y="4597603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53" name="Text 41"/>
          <p:cNvSpPr txBox="1"/>
          <p:nvPr/>
        </p:nvSpPr>
        <p:spPr>
          <a:xfrm>
            <a:off x="1208837" y="4597603"/>
            <a:ext cx="14456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Solaris 패치 적용 중...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580644" y="477682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55" name="Text 43"/>
          <p:cNvSpPr txBox="1"/>
          <p:nvPr/>
        </p:nvSpPr>
        <p:spPr>
          <a:xfrm>
            <a:off x="1361542" y="4776826"/>
            <a:ext cx="3363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↳ Makefile.in: LIBS = -lxnet -lnsl -lsocket added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580644" y="4955134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57" name="Text 45"/>
          <p:cNvSpPr txBox="1"/>
          <p:nvPr/>
        </p:nvSpPr>
        <p:spPr>
          <a:xfrm>
            <a:off x="1208837" y="4955134"/>
            <a:ext cx="896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 OS 패치 완료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580644" y="5172761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[10:30:01]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1208837" y="5172761"/>
            <a:ext cx="1000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3단계: 빌드 수행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580644" y="5351983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[10:30:02]</a:t>
            </a:r>
            <a:endParaRPr lang="en-US" sz="800" dirty="0"/>
          </a:p>
        </p:txBody>
      </p:sp>
      <p:sp>
        <p:nvSpPr>
          <p:cNvPr id="61" name="Text 49"/>
          <p:cNvSpPr txBox="1"/>
          <p:nvPr/>
        </p:nvSpPr>
        <p:spPr>
          <a:xfrm>
            <a:off x="1208837" y="5351983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1278331" y="5351983"/>
            <a:ext cx="7150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Clean 완료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580644" y="553120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[10:30:02]</a:t>
            </a:r>
            <a:endParaRPr lang="en-US" sz="800" dirty="0"/>
          </a:p>
        </p:txBody>
      </p:sp>
      <p:sp>
        <p:nvSpPr>
          <p:cNvPr id="64" name="Text 52"/>
          <p:cNvSpPr txBox="1"/>
          <p:nvPr/>
        </p:nvSpPr>
        <p:spPr>
          <a:xfrm>
            <a:off x="1208837" y="5531206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Running configure...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580644" y="5709514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[10:30:05]</a:t>
            </a:r>
            <a:endParaRPr lang="en-US" sz="800" dirty="0"/>
          </a:p>
        </p:txBody>
      </p:sp>
      <p:sp>
        <p:nvSpPr>
          <p:cNvPr id="66" name="Text 54"/>
          <p:cNvSpPr txBox="1"/>
          <p:nvPr/>
        </p:nvSpPr>
        <p:spPr>
          <a:xfrm>
            <a:off x="1208837" y="5709514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55"/>
          <p:cNvSpPr txBox="1"/>
          <p:nvPr/>
        </p:nvSpPr>
        <p:spPr>
          <a:xfrm>
            <a:off x="1278331" y="5709514"/>
            <a:ext cx="943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configure 완료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580644" y="588873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[10:30:05]</a:t>
            </a:r>
            <a:endParaRPr lang="en-US" sz="800" dirty="0"/>
          </a:p>
        </p:txBody>
      </p:sp>
      <p:sp>
        <p:nvSpPr>
          <p:cNvPr id="69" name="Text 57"/>
          <p:cNvSpPr txBox="1"/>
          <p:nvPr/>
        </p:nvSpPr>
        <p:spPr>
          <a:xfrm>
            <a:off x="1208837" y="5888736"/>
            <a:ext cx="1303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Compiling... (make)</a:t>
            </a:r>
            <a:endParaRPr lang="en-US" sz="900" dirty="0"/>
          </a:p>
        </p:txBody>
      </p:sp>
      <p:sp>
        <p:nvSpPr>
          <p:cNvPr id="70" name="Text 58"/>
          <p:cNvSpPr txBox="1"/>
          <p:nvPr/>
        </p:nvSpPr>
        <p:spPr>
          <a:xfrm>
            <a:off x="580644" y="6067958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[10:30:30]</a:t>
            </a:r>
            <a:endParaRPr lang="en-US" sz="800" dirty="0"/>
          </a:p>
        </p:txBody>
      </p:sp>
      <p:sp>
        <p:nvSpPr>
          <p:cNvPr id="71" name="Text 59"/>
          <p:cNvSpPr txBox="1"/>
          <p:nvPr/>
        </p:nvSpPr>
        <p:spPr>
          <a:xfrm>
            <a:off x="1208837" y="6067958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</a:t>
            </a:r>
            <a:endParaRPr lang="en-US" sz="900" dirty="0"/>
          </a:p>
        </p:txBody>
      </p:sp>
      <p:sp>
        <p:nvSpPr>
          <p:cNvPr id="72" name="Text 60"/>
          <p:cNvSpPr txBox="1"/>
          <p:nvPr/>
        </p:nvSpPr>
        <p:spPr>
          <a:xfrm>
            <a:off x="1278331" y="6067958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컴파일 완료</a:t>
            </a:r>
            <a:endParaRPr lang="en-US" sz="900" dirty="0"/>
          </a:p>
        </p:txBody>
      </p:sp>
      <p:sp>
        <p:nvSpPr>
          <p:cNvPr id="73" name="Text 61"/>
          <p:cNvSpPr txBox="1"/>
          <p:nvPr/>
        </p:nvSpPr>
        <p:spPr>
          <a:xfrm>
            <a:off x="580644" y="6323076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[10:30:30]</a:t>
            </a:r>
            <a:endParaRPr lang="en-US" sz="800" dirty="0"/>
          </a:p>
        </p:txBody>
      </p:sp>
      <p:sp>
        <p:nvSpPr>
          <p:cNvPr id="74" name="Text 62"/>
          <p:cNvSpPr txBox="1"/>
          <p:nvPr/>
        </p:nvSpPr>
        <p:spPr>
          <a:xfrm>
            <a:off x="1208837" y="6323076"/>
            <a:ext cx="28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==========================================</a:t>
            </a:r>
            <a:endParaRPr lang="en-US" sz="900" dirty="0"/>
          </a:p>
        </p:txBody>
      </p:sp>
      <p:sp>
        <p:nvSpPr>
          <p:cNvPr id="75" name="Text 63"/>
          <p:cNvSpPr txBox="1"/>
          <p:nvPr/>
        </p:nvSpPr>
        <p:spPr>
          <a:xfrm>
            <a:off x="580644" y="6502298"/>
            <a:ext cx="63550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[10:30:30]</a:t>
            </a:r>
            <a:endParaRPr lang="en-US" sz="800" dirty="0"/>
          </a:p>
        </p:txBody>
      </p:sp>
      <p:sp>
        <p:nvSpPr>
          <p:cNvPr id="76" name="Text 64"/>
          <p:cNvSpPr txBox="1"/>
          <p:nvPr/>
        </p:nvSpPr>
        <p:spPr>
          <a:xfrm>
            <a:off x="1208837" y="6502298"/>
            <a:ext cx="781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✓ 빌드 성공!</a:t>
            </a:r>
            <a:endParaRPr lang="en-US" sz="900" dirty="0"/>
          </a:p>
        </p:txBody>
      </p:sp>
      <p:sp>
        <p:nvSpPr>
          <p:cNvPr id="85" name="Text 73"/>
          <p:cNvSpPr txBox="1"/>
          <p:nvPr/>
        </p:nvSpPr>
        <p:spPr>
          <a:xfrm>
            <a:off x="580644" y="7341718"/>
            <a:ext cx="143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900" dirty="0"/>
          </a:p>
        </p:txBody>
      </p:sp>
      <p:pic>
        <p:nvPicPr>
          <p:cNvPr id="86" name="Image 10" descr="preencoded.png"/>
          <p:cNvPicPr>
            <a:picLocks noChangeAspect="1"/>
          </p:cNvPicPr>
          <p:nvPr/>
        </p:nvPicPr>
        <p:blipFill>
          <a:blip r:embed="rId13">
            <a:alphaModFix amt="59000"/>
          </a:blip>
          <a:srcRect l="-2499" r="-2499"/>
          <a:stretch/>
        </p:blipFill>
        <p:spPr>
          <a:xfrm>
            <a:off x="714146" y="7313371"/>
            <a:ext cx="57607" cy="9144"/>
          </a:xfrm>
          <a:prstGeom prst="rect">
            <a:avLst/>
          </a:prstGeom>
        </p:spPr>
      </p:pic>
      <p:sp>
        <p:nvSpPr>
          <p:cNvPr id="87" name="Shape 74"/>
          <p:cNvSpPr/>
          <p:nvPr/>
        </p:nvSpPr>
        <p:spPr>
          <a:xfrm>
            <a:off x="0" y="0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75"/>
          <p:cNvSpPr/>
          <p:nvPr/>
        </p:nvSpPr>
        <p:spPr>
          <a:xfrm>
            <a:off x="0" y="7242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9" name="Shape 76"/>
          <p:cNvSpPr/>
          <p:nvPr/>
        </p:nvSpPr>
        <p:spPr>
          <a:xfrm>
            <a:off x="381305" y="209398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7"/>
          <p:cNvSpPr txBox="1"/>
          <p:nvPr/>
        </p:nvSpPr>
        <p:spPr>
          <a:xfrm>
            <a:off x="590702" y="190195"/>
            <a:ext cx="214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결과 예시</a:t>
            </a:r>
            <a:endParaRPr lang="en-US" sz="2200" dirty="0"/>
          </a:p>
        </p:txBody>
      </p:sp>
      <p:pic>
        <p:nvPicPr>
          <p:cNvPr id="91" name="Image 11" descr="preencoded.png"/>
          <p:cNvPicPr>
            <a:picLocks noChangeAspect="1"/>
          </p:cNvPicPr>
          <p:nvPr/>
        </p:nvPicPr>
        <p:blipFill>
          <a:blip r:embed="rId14"/>
          <a:srcRect t="-91" b="-91"/>
          <a:stretch/>
        </p:blipFill>
        <p:spPr>
          <a:xfrm>
            <a:off x="2423160" y="219456"/>
            <a:ext cx="1057046" cy="286207"/>
          </a:xfrm>
          <a:prstGeom prst="rect">
            <a:avLst/>
          </a:prstGeom>
        </p:spPr>
      </p:pic>
      <p:pic>
        <p:nvPicPr>
          <p:cNvPr id="92" name="Image 12" descr="preencoded.png"/>
          <p:cNvPicPr>
            <a:picLocks noChangeAspect="1"/>
          </p:cNvPicPr>
          <p:nvPr/>
        </p:nvPicPr>
        <p:blipFill>
          <a:blip r:embed="rId15"/>
          <a:srcRect t="-842" b="-842"/>
          <a:stretch/>
        </p:blipFill>
        <p:spPr>
          <a:xfrm>
            <a:off x="10772546" y="276149"/>
            <a:ext cx="190195" cy="171907"/>
          </a:xfrm>
          <a:prstGeom prst="rect">
            <a:avLst/>
          </a:prstGeom>
        </p:spPr>
      </p:pic>
      <p:sp>
        <p:nvSpPr>
          <p:cNvPr id="93" name="Text 78"/>
          <p:cNvSpPr txBox="1"/>
          <p:nvPr/>
        </p:nvSpPr>
        <p:spPr>
          <a:xfrm>
            <a:off x="2546604" y="286207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 Output</a:t>
            </a:r>
            <a:endParaRPr lang="en-US" sz="1000" dirty="0"/>
          </a:p>
        </p:txBody>
      </p:sp>
      <p:sp>
        <p:nvSpPr>
          <p:cNvPr id="94" name="Text 79"/>
          <p:cNvSpPr txBox="1"/>
          <p:nvPr/>
        </p:nvSpPr>
        <p:spPr>
          <a:xfrm>
            <a:off x="11039551" y="267005"/>
            <a:ext cx="918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Result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42988"/>
            <a:ext cx="12191695" cy="53812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6077102"/>
            <a:ext cx="12191695" cy="780898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305" y="71323"/>
            <a:ext cx="11430000" cy="5715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3154" y="243230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23544" y="176479"/>
            <a:ext cx="4058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</a:t>
            </a: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여부 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923544" y="385877"/>
            <a:ext cx="4758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Makefile이 생성되지 않았다면 configure 스크립트를 먼저 실행했는지 확인하세요.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1060139"/>
            <a:ext cx="11430000" cy="58064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43154" y="1236618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23544" y="1165295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config.log</a:t>
            </a: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 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923544" y="1374692"/>
            <a:ext cx="42236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상세한 실패 원인이 기록되어 있습니다. </a:t>
            </a: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grep "failed"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검색해보세요.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1736795"/>
            <a:ext cx="11430000" cy="580644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43154" y="1913274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23544" y="1841036"/>
            <a:ext cx="3686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헤더 파일 설치 확인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923544" y="2051348"/>
            <a:ext cx="41349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sys/socket.h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netinet/in.h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개발 패키지 누락 여부를 점검하세요. 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2412536"/>
            <a:ext cx="11430000" cy="58064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3154" y="2589016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23544" y="2517692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컴파일러 버전 및 옵션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923544" y="2727090"/>
            <a:ext cx="37078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GCC vs CC, 32bit/64bit 옵션 호환성 및 </a:t>
            </a: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설정을 확인하세요.</a:t>
            </a:r>
            <a:endParaRPr lang="en-US" sz="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3089192"/>
            <a:ext cx="11430000" cy="58064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543154" y="3265672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0"/>
          <p:cNvSpPr txBox="1"/>
          <p:nvPr/>
        </p:nvSpPr>
        <p:spPr>
          <a:xfrm>
            <a:off x="923544" y="3194348"/>
            <a:ext cx="3562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특수 라이브러리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923544" y="3403746"/>
            <a:ext cx="39922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Solaris의 </a:t>
            </a: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-lnsl -lsocket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HP-UX의 </a:t>
            </a: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-lxnet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링크 여부를 확인하세요.</a:t>
            </a:r>
            <a:endParaRPr lang="en-US" sz="9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3765848"/>
            <a:ext cx="11430000" cy="5715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543154" y="3936841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923544" y="3870090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Makefile </a:t>
            </a:r>
            <a:r>
              <a:rPr lang="en-US" sz="900" b="1" dirty="0">
                <a:solidFill>
                  <a:srgbClr val="2563E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</a:t>
            </a: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확인 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923544" y="4079488"/>
            <a:ext cx="48682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Makefile 내에 라이브러리 경로와 플래그가 올바르게 주입되었는지 검사하세요.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4432446"/>
            <a:ext cx="11430000" cy="580644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543154" y="4608925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6"/>
          <p:cNvSpPr txBox="1"/>
          <p:nvPr/>
        </p:nvSpPr>
        <p:spPr>
          <a:xfrm>
            <a:off x="923544" y="4536688"/>
            <a:ext cx="3591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 파일 생성 확인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923544" y="4747000"/>
            <a:ext cx="41413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ls -l *.o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명령으로 컴파일 단계가 성공적으로 수행되었는지 확인하세요.</a:t>
            </a:r>
            <a:endParaRPr lang="en-US" sz="9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05" y="5108188"/>
            <a:ext cx="11430000" cy="57150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543154" y="5280095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923544" y="5213344"/>
            <a:ext cx="3896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 Build 재시도 </a:t>
            </a:r>
            <a:r>
              <a:rPr lang="en-US" sz="900" b="1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make clean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923544" y="5422741"/>
            <a:ext cx="45939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빌드의 잔재가 충돌을 일으킬 수 있습니다. 완전히 삭제 후 다시 시도하세요.</a:t>
            </a:r>
            <a:endParaRPr lang="en-US" sz="9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5775700"/>
            <a:ext cx="11430000" cy="57150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543154" y="5946692"/>
            <a:ext cx="228600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923544" y="5879941"/>
            <a:ext cx="3610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Autoconf/Automake 호환성</a:t>
            </a:r>
            <a:endParaRPr lang="en-US" sz="1000" dirty="0"/>
          </a:p>
        </p:txBody>
      </p:sp>
      <p:sp>
        <p:nvSpPr>
          <p:cNvPr id="48" name="Text 33"/>
          <p:cNvSpPr txBox="1"/>
          <p:nvPr/>
        </p:nvSpPr>
        <p:spPr>
          <a:xfrm>
            <a:off x="923544" y="6089339"/>
            <a:ext cx="4209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configure 스크립트가 현재 시스템의 쉘과 호환되는지 확인하세요.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623621" y="271577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273406"/>
            <a:ext cx="152705" cy="171907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623621" y="1264964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1</a:t>
            </a:r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1267708"/>
            <a:ext cx="152705" cy="171907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623621" y="1941620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2</a:t>
            </a:r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1943449"/>
            <a:ext cx="152705" cy="171907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623621" y="2617362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3</a:t>
            </a:r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2620105"/>
            <a:ext cx="152705" cy="171907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623621" y="3294018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4</a:t>
            </a:r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3296761"/>
            <a:ext cx="152705" cy="171907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623621" y="3965188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5</a:t>
            </a:r>
          </a:p>
        </p:txBody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3967931"/>
            <a:ext cx="152705" cy="171907"/>
          </a:xfrm>
          <a:prstGeom prst="rect">
            <a:avLst/>
          </a:prstGeom>
        </p:spPr>
      </p:pic>
      <p:sp>
        <p:nvSpPr>
          <p:cNvPr id="65" name="Text 43"/>
          <p:cNvSpPr txBox="1"/>
          <p:nvPr/>
        </p:nvSpPr>
        <p:spPr>
          <a:xfrm>
            <a:off x="623621" y="4637272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6</a:t>
            </a:r>
          </a:p>
        </p:txBody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4639100"/>
            <a:ext cx="152705" cy="171907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623621" y="5308441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7</a:t>
            </a:r>
          </a:p>
        </p:txBody>
      </p:sp>
      <p:pic>
        <p:nvPicPr>
          <p:cNvPr id="68" name="Image 21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5311184"/>
            <a:ext cx="152705" cy="171907"/>
          </a:xfrm>
          <a:prstGeom prst="rect">
            <a:avLst/>
          </a:prstGeom>
        </p:spPr>
      </p:pic>
      <p:sp>
        <p:nvSpPr>
          <p:cNvPr id="69" name="Text 45"/>
          <p:cNvSpPr txBox="1"/>
          <p:nvPr/>
        </p:nvSpPr>
        <p:spPr>
          <a:xfrm>
            <a:off x="623621" y="5975039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8</a:t>
            </a:r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1496751" y="5977782"/>
            <a:ext cx="152705" cy="171907"/>
          </a:xfrm>
          <a:prstGeom prst="rect">
            <a:avLst/>
          </a:prstGeom>
        </p:spPr>
      </p:pic>
      <p:sp>
        <p:nvSpPr>
          <p:cNvPr id="73" name="Shape 4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48"/>
          <p:cNvSpPr/>
          <p:nvPr/>
        </p:nvSpPr>
        <p:spPr>
          <a:xfrm>
            <a:off x="0" y="83384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5" name="Shape 49"/>
          <p:cNvSpPr/>
          <p:nvPr/>
        </p:nvSpPr>
        <p:spPr>
          <a:xfrm>
            <a:off x="381305" y="190195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0"/>
          <p:cNvSpPr txBox="1"/>
          <p:nvPr/>
        </p:nvSpPr>
        <p:spPr>
          <a:xfrm>
            <a:off x="590702" y="190195"/>
            <a:ext cx="252100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 체크리스트</a:t>
            </a:r>
            <a:endParaRPr lang="en-US" sz="1800" dirty="0"/>
          </a:p>
        </p:txBody>
      </p:sp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8"/>
          <a:srcRect t="-91" b="-91"/>
          <a:stretch/>
        </p:blipFill>
        <p:spPr>
          <a:xfrm>
            <a:off x="2847442" y="200254"/>
            <a:ext cx="1333195" cy="286207"/>
          </a:xfrm>
          <a:prstGeom prst="rect">
            <a:avLst/>
          </a:prstGeom>
        </p:spPr>
      </p:pic>
      <p:pic>
        <p:nvPicPr>
          <p:cNvPr id="78" name="Image 25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10235794" y="256946"/>
            <a:ext cx="133502" cy="171907"/>
          </a:xfrm>
          <a:prstGeom prst="rect">
            <a:avLst/>
          </a:prstGeom>
        </p:spPr>
      </p:pic>
      <p:sp>
        <p:nvSpPr>
          <p:cNvPr id="79" name="Text 51"/>
          <p:cNvSpPr txBox="1"/>
          <p:nvPr/>
        </p:nvSpPr>
        <p:spPr>
          <a:xfrm>
            <a:off x="2970886" y="247802"/>
            <a:ext cx="1283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80" name="Text 52"/>
          <p:cNvSpPr txBox="1"/>
          <p:nvPr/>
        </p:nvSpPr>
        <p:spPr>
          <a:xfrm>
            <a:off x="10446106" y="247802"/>
            <a:ext cx="1633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Failure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8310" y="1190549"/>
            <a:ext cx="54479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유용한 명령어 모음 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305" y="1228954"/>
            <a:ext cx="190195" cy="1901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381305" y="1723644"/>
            <a:ext cx="5524805" cy="1485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0644" y="1923898"/>
            <a:ext cx="381305" cy="381305"/>
          </a:xfrm>
          <a:prstGeom prst="ellipse">
            <a:avLst/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0430" y="2018995"/>
            <a:ext cx="142646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14654" y="1923898"/>
            <a:ext cx="4782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에러 로그 저장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114654" y="2229307"/>
            <a:ext cx="4782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에러(stderr)를 포함하여 빌드 전 과정을 파일로 기록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114654" y="2495398"/>
            <a:ext cx="4591202" cy="5148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00607" y="2600554"/>
            <a:ext cx="2459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338C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 2&gt;&amp;1 | tee configure.log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200607" y="2790749"/>
            <a:ext cx="1644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338C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2&gt;&amp;1 | tee make.log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381305" y="3400654"/>
            <a:ext cx="5524805" cy="16194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80644" y="3600907"/>
            <a:ext cx="381305" cy="381305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" y="3705149"/>
            <a:ext cx="171907" cy="1719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14654" y="3600907"/>
            <a:ext cx="4782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상세 디버깅 모드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1114654" y="3905402"/>
            <a:ext cx="4782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 실행 명령어를 숨기지 않고 상세 출력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l="-25" r="-25"/>
          <a:stretch/>
        </p:blipFill>
        <p:spPr>
          <a:xfrm>
            <a:off x="1114654" y="4172407"/>
            <a:ext cx="4591202" cy="6473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00607" y="4343400"/>
            <a:ext cx="961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28D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VERBOSE=1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1200607" y="4524451"/>
            <a:ext cx="4419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1200607" y="45628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442923" y="4600346"/>
            <a:ext cx="2459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28D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 --enable-debug --verbose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l="-3" r="-3"/>
          <a:stretch/>
        </p:blipFill>
        <p:spPr>
          <a:xfrm>
            <a:off x="381305" y="5210251"/>
            <a:ext cx="5524805" cy="137160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80644" y="5410505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5800" y="5514746"/>
            <a:ext cx="171907" cy="171907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114654" y="5410505"/>
            <a:ext cx="4705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config.log 분석</a:t>
            </a:r>
            <a:endParaRPr lang="en-US" sz="1300" dirty="0"/>
          </a:p>
        </p:txBody>
      </p:sp>
      <p:sp>
        <p:nvSpPr>
          <p:cNvPr id="29" name="Text 18"/>
          <p:cNvSpPr txBox="1"/>
          <p:nvPr/>
        </p:nvSpPr>
        <p:spPr>
          <a:xfrm>
            <a:off x="1114654" y="5715000"/>
            <a:ext cx="4705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실패 시 로그 파일에서 실패 원인 검색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55" b="-55"/>
          <a:stretch/>
        </p:blipFill>
        <p:spPr>
          <a:xfrm>
            <a:off x="1114654" y="5982005"/>
            <a:ext cx="4591202" cy="400507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200607" y="6152998"/>
            <a:ext cx="198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1C1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grep -A 5 "failed" config.log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6620256" y="1190549"/>
            <a:ext cx="1279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적용 예시 </a:t>
            </a:r>
            <a:endParaRPr lang="en-US" sz="15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6324905" y="1228954"/>
            <a:ext cx="219456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0881360" y="1314907"/>
            <a:ext cx="972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Debug Session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rcRect t="-2" b="-2"/>
          <a:stretch/>
        </p:blipFill>
        <p:spPr>
          <a:xfrm>
            <a:off x="6286500" y="1533449"/>
            <a:ext cx="5524805" cy="4219956"/>
          </a:xfrm>
          <a:prstGeom prst="rect">
            <a:avLst/>
          </a:prstGeom>
        </p:spPr>
      </p:pic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/>
          <a:srcRect l="-11" r="-11"/>
          <a:stretch/>
        </p:blipFill>
        <p:spPr>
          <a:xfrm>
            <a:off x="6295644" y="1543507"/>
            <a:ext cx="5505602" cy="390449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6448349" y="1676095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6638544" y="1676095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4"/>
          <p:cNvSpPr/>
          <p:nvPr/>
        </p:nvSpPr>
        <p:spPr>
          <a:xfrm>
            <a:off x="6829654" y="1676095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5"/>
          <p:cNvSpPr txBox="1"/>
          <p:nvPr/>
        </p:nvSpPr>
        <p:spPr>
          <a:xfrm>
            <a:off x="8472830" y="1666951"/>
            <a:ext cx="1724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dev@build-server</a:t>
            </a:r>
            <a:r>
              <a:rPr lang="en-US" sz="900" dirty="0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:~/</a:t>
            </a:r>
            <a:r>
              <a:rPr lang="en-US" sz="900" dirty="0" err="1">
                <a:solidFill>
                  <a:srgbClr val="9CA3AF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6524244" y="2200046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6667805" y="2200046"/>
            <a:ext cx="24597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2&gt;&amp;1 | tee build_error.log</a:t>
            </a:r>
            <a:endParaRPr lang="en-US" sz="1000" dirty="0"/>
          </a:p>
        </p:txBody>
      </p:sp>
      <p:sp>
        <p:nvSpPr>
          <p:cNvPr id="43" name="Text 28"/>
          <p:cNvSpPr txBox="1"/>
          <p:nvPr/>
        </p:nvSpPr>
        <p:spPr>
          <a:xfrm>
            <a:off x="6524244" y="2435962"/>
            <a:ext cx="1711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... (compiling files) ...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6524244" y="2645359"/>
            <a:ext cx="23810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 -c -g -O2 main.c -o main.o</a:t>
            </a:r>
            <a:endParaRPr lang="en-US" sz="1000" dirty="0"/>
          </a:p>
        </p:txBody>
      </p:sp>
      <p:sp>
        <p:nvSpPr>
          <p:cNvPr id="45" name="Text 30"/>
          <p:cNvSpPr txBox="1"/>
          <p:nvPr/>
        </p:nvSpPr>
        <p:spPr>
          <a:xfrm>
            <a:off x="6524244" y="2900477"/>
            <a:ext cx="24597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error: 'xnet' library not found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6524244" y="3155594"/>
            <a:ext cx="182514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make: *** [all] Error 1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6524244" y="3524098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1000" dirty="0"/>
          </a:p>
        </p:txBody>
      </p:sp>
      <p:sp>
        <p:nvSpPr>
          <p:cNvPr id="48" name="Text 33"/>
          <p:cNvSpPr txBox="1"/>
          <p:nvPr/>
        </p:nvSpPr>
        <p:spPr>
          <a:xfrm>
            <a:off x="6667805" y="3524098"/>
            <a:ext cx="285658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grep "failed" config.log | head -n 3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6524244" y="3740810"/>
            <a:ext cx="5048402" cy="809244"/>
          </a:xfrm>
          <a:prstGeom prst="roundRect">
            <a:avLst>
              <a:gd name="adj" fmla="val 5317"/>
            </a:avLst>
          </a:prstGeom>
          <a:solidFill>
            <a:srgbClr val="1F2937"/>
          </a:solidFill>
          <a:ln/>
        </p:spPr>
      </p:sp>
      <p:sp>
        <p:nvSpPr>
          <p:cNvPr id="50" name="Shape 35"/>
          <p:cNvSpPr/>
          <p:nvPr/>
        </p:nvSpPr>
        <p:spPr>
          <a:xfrm>
            <a:off x="6524244" y="3740810"/>
            <a:ext cx="19202" cy="8092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620256" y="3855110"/>
            <a:ext cx="5353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conftest.c:12:10: fatal error: sys/socket.h: No such file or directory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6620256" y="4071823"/>
            <a:ext cx="5153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configure:3421: checking for library containing gethostbyname... no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6620256" y="4288536"/>
            <a:ext cx="23810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configure: failed program was:</a:t>
            </a:r>
            <a:endParaRPr lang="en-US" sz="1000" dirty="0"/>
          </a:p>
        </p:txBody>
      </p:sp>
      <p:sp>
        <p:nvSpPr>
          <p:cNvPr id="54" name="Text 39"/>
          <p:cNvSpPr txBox="1"/>
          <p:nvPr/>
        </p:nvSpPr>
        <p:spPr>
          <a:xfrm>
            <a:off x="6524244" y="4733849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6667805" y="4733849"/>
            <a:ext cx="111099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VERBOSE=1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6524244" y="4988966"/>
            <a:ext cx="4753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 -g -O2 -I./include -D_REENTRANT -c network.c -o network.o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6524244" y="5281574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</a:t>
            </a:r>
            <a:endParaRPr lang="en-US" sz="10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rcRect t="-301" b="-301"/>
          <a:stretch/>
        </p:blipFill>
        <p:spPr>
          <a:xfrm>
            <a:off x="6667805" y="5277002"/>
            <a:ext cx="75895" cy="152705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7"/>
          <a:srcRect t="-22" b="-22"/>
          <a:stretch/>
        </p:blipFill>
        <p:spPr>
          <a:xfrm>
            <a:off x="6286500" y="5867705"/>
            <a:ext cx="5524805" cy="609905"/>
          </a:xfrm>
          <a:prstGeom prst="rect">
            <a:avLst/>
          </a:prstGeom>
        </p:spPr>
      </p:pic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6409944" y="6010351"/>
            <a:ext cx="114300" cy="152705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6638544" y="5991149"/>
            <a:ext cx="3057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 에러 메시지가 너무 길다면?</a:t>
            </a:r>
            <a:endParaRPr lang="en-US" sz="900" dirty="0"/>
          </a:p>
        </p:txBody>
      </p:sp>
      <p:sp>
        <p:nvSpPr>
          <p:cNvPr id="62" name="Text 44"/>
          <p:cNvSpPr txBox="1"/>
          <p:nvPr/>
        </p:nvSpPr>
        <p:spPr>
          <a:xfrm>
            <a:off x="6638544" y="6181344"/>
            <a:ext cx="31592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`less` 명령어를 활용하세요: </a:t>
            </a:r>
            <a:r>
              <a:rPr lang="en-US" sz="9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less build_error.log</a:t>
            </a:r>
            <a:endParaRPr lang="en-US" sz="900" dirty="0"/>
          </a:p>
        </p:txBody>
      </p:sp>
      <p:sp>
        <p:nvSpPr>
          <p:cNvPr id="63" name="Shape 45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46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381305" y="247802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8"/>
          <p:cNvSpPr txBox="1"/>
          <p:nvPr/>
        </p:nvSpPr>
        <p:spPr>
          <a:xfrm>
            <a:off x="590702" y="228600"/>
            <a:ext cx="4087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자료: 로그·디버깅·분석</a:t>
            </a:r>
            <a:endParaRPr lang="en-US" sz="2200" dirty="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9"/>
          <a:srcRect t="-86" b="-86"/>
          <a:stretch/>
        </p:blipFill>
        <p:spPr>
          <a:xfrm>
            <a:off x="3960266" y="256946"/>
            <a:ext cx="1857146" cy="286207"/>
          </a:xfrm>
          <a:prstGeom prst="rect">
            <a:avLst/>
          </a:prstGeom>
        </p:spPr>
      </p:pic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20"/>
          <a:srcRect t="-842" b="-842"/>
          <a:stretch/>
        </p:blipFill>
        <p:spPr>
          <a:xfrm>
            <a:off x="10849356" y="314554"/>
            <a:ext cx="190195" cy="171907"/>
          </a:xfrm>
          <a:prstGeom prst="rect">
            <a:avLst/>
          </a:prstGeom>
        </p:spPr>
      </p:pic>
      <p:sp>
        <p:nvSpPr>
          <p:cNvPr id="69" name="Text 49"/>
          <p:cNvSpPr txBox="1"/>
          <p:nvPr/>
        </p:nvSpPr>
        <p:spPr>
          <a:xfrm>
            <a:off x="4083710" y="323698"/>
            <a:ext cx="1686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Troubleshooting Tips</a:t>
            </a:r>
            <a:endParaRPr lang="en-US" sz="1000" dirty="0"/>
          </a:p>
        </p:txBody>
      </p:sp>
      <p:sp>
        <p:nvSpPr>
          <p:cNvPr id="70" name="Text 50"/>
          <p:cNvSpPr txBox="1"/>
          <p:nvPr/>
        </p:nvSpPr>
        <p:spPr>
          <a:xfrm>
            <a:off x="11116361" y="304495"/>
            <a:ext cx="8275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D034-ED1E-41A0-1EF9-2A2EBD8E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66AA82-56C5-61F7-2558-E104322557A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CD7D08-5951-B9D1-7059-7E4B6DD6B8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CEF0BB-9542-DA2D-5FC5-177AC3ECC37F}"/>
              </a:ext>
            </a:extLst>
          </p:cNvPr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5">
            <a:extLst>
              <a:ext uri="{FF2B5EF4-FFF2-40B4-BE49-F238E27FC236}">
                <a16:creationId xmlns:a16="http://schemas.microsoft.com/office/drawing/2014/main" id="{0B61E619-761A-9773-B4E8-B68B85A3A800}"/>
              </a:ext>
            </a:extLst>
          </p:cNvPr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46">
            <a:extLst>
              <a:ext uri="{FF2B5EF4-FFF2-40B4-BE49-F238E27FC236}">
                <a16:creationId xmlns:a16="http://schemas.microsoft.com/office/drawing/2014/main" id="{B9280F16-6035-DE41-F892-F0F4580FDC2F}"/>
              </a:ext>
            </a:extLst>
          </p:cNvPr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5" name="Shape 47">
            <a:extLst>
              <a:ext uri="{FF2B5EF4-FFF2-40B4-BE49-F238E27FC236}">
                <a16:creationId xmlns:a16="http://schemas.microsoft.com/office/drawing/2014/main" id="{3FD97AE5-AC21-4BC7-4B8B-8BB842FA4494}"/>
              </a:ext>
            </a:extLst>
          </p:cNvPr>
          <p:cNvSpPr/>
          <p:nvPr/>
        </p:nvSpPr>
        <p:spPr>
          <a:xfrm>
            <a:off x="381305" y="247802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5A97D677-C815-CFA9-12AE-23FD0655168B}"/>
              </a:ext>
            </a:extLst>
          </p:cNvPr>
          <p:cNvSpPr txBox="1"/>
          <p:nvPr/>
        </p:nvSpPr>
        <p:spPr>
          <a:xfrm>
            <a:off x="590702" y="228600"/>
            <a:ext cx="4087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자료: build_all.sh</a:t>
            </a:r>
            <a:endParaRPr lang="en-US" sz="2200" dirty="0"/>
          </a:p>
        </p:txBody>
      </p:sp>
      <p:pic>
        <p:nvPicPr>
          <p:cNvPr id="67" name="Image 16" descr="preencoded.png">
            <a:extLst>
              <a:ext uri="{FF2B5EF4-FFF2-40B4-BE49-F238E27FC236}">
                <a16:creationId xmlns:a16="http://schemas.microsoft.com/office/drawing/2014/main" id="{78097EFE-BCD1-091E-A31F-233947D5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6" b="-86"/>
          <a:stretch/>
        </p:blipFill>
        <p:spPr>
          <a:xfrm>
            <a:off x="3960266" y="256946"/>
            <a:ext cx="1857146" cy="286207"/>
          </a:xfrm>
          <a:prstGeom prst="rect">
            <a:avLst/>
          </a:prstGeom>
        </p:spPr>
      </p:pic>
      <p:pic>
        <p:nvPicPr>
          <p:cNvPr id="68" name="Image 17" descr="preencoded.png">
            <a:extLst>
              <a:ext uri="{FF2B5EF4-FFF2-40B4-BE49-F238E27FC236}">
                <a16:creationId xmlns:a16="http://schemas.microsoft.com/office/drawing/2014/main" id="{A366754D-92F3-F593-4160-9BBAAB9679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10849356" y="314554"/>
            <a:ext cx="190195" cy="171907"/>
          </a:xfrm>
          <a:prstGeom prst="rect">
            <a:avLst/>
          </a:prstGeom>
        </p:spPr>
      </p:pic>
      <p:sp>
        <p:nvSpPr>
          <p:cNvPr id="69" name="Text 49">
            <a:extLst>
              <a:ext uri="{FF2B5EF4-FFF2-40B4-BE49-F238E27FC236}">
                <a16:creationId xmlns:a16="http://schemas.microsoft.com/office/drawing/2014/main" id="{83837790-3FC3-FD5A-A794-90FD46C2713A}"/>
              </a:ext>
            </a:extLst>
          </p:cNvPr>
          <p:cNvSpPr txBox="1"/>
          <p:nvPr/>
        </p:nvSpPr>
        <p:spPr>
          <a:xfrm>
            <a:off x="4083710" y="323698"/>
            <a:ext cx="1686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Troubleshooting Tips</a:t>
            </a:r>
            <a:endParaRPr lang="en-US" sz="1000" dirty="0"/>
          </a:p>
        </p:txBody>
      </p:sp>
      <p:sp>
        <p:nvSpPr>
          <p:cNvPr id="70" name="Text 50">
            <a:extLst>
              <a:ext uri="{FF2B5EF4-FFF2-40B4-BE49-F238E27FC236}">
                <a16:creationId xmlns:a16="http://schemas.microsoft.com/office/drawing/2014/main" id="{25C36A1D-E918-56BC-D966-AB98F8078DD4}"/>
              </a:ext>
            </a:extLst>
          </p:cNvPr>
          <p:cNvSpPr txBox="1"/>
          <p:nvPr/>
        </p:nvSpPr>
        <p:spPr>
          <a:xfrm>
            <a:off x="11116361" y="304495"/>
            <a:ext cx="8275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374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2383</Words>
  <Application>Microsoft Office PowerPoint</Application>
  <PresentationFormat>와이드스크린</PresentationFormat>
  <Paragraphs>521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Nanum Gothic Coding</vt:lpstr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Changseok Kang</cp:lastModifiedBy>
  <cp:revision>4</cp:revision>
  <dcterms:created xsi:type="dcterms:W3CDTF">2026-01-27T01:47:54Z</dcterms:created>
  <dcterms:modified xsi:type="dcterms:W3CDTF">2026-01-27T05:47:32Z</dcterms:modified>
</cp:coreProperties>
</file>