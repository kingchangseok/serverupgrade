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71500" y="619049"/>
            <a:ext cx="334487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0280" r="40280" t="0" b="0"/>
          <a:stretch/>
        </p:blipFill>
        <p:spPr>
          <a:xfrm>
            <a:off x="10858500" y="0"/>
            <a:ext cx="13331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849356" y="0"/>
            <a:ext cx="9144" cy="6858000"/>
          </a:xfrm>
          <a:prstGeom prst="rect">
            <a:avLst/>
          </a:prstGeom>
          <a:solidFill>
            <a:srgbClr val="204458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2805" y="1333195"/>
            <a:ext cx="10478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52805" y="2210105"/>
            <a:ext cx="10458907" cy="1677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eCAMS 서버</a:t>
            </a:r>
            <a:pPr algn="l" indent="0" marL="0">
              <a:buNone/>
            </a:pP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시스템 분석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4267505"/>
            <a:ext cx="1040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4458">
                    <a:alpha val="90000"/>
                  </a:srgbClr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Unix/Linux C 기반 파일전송 및 아카이빙 서버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295705" y="5486400"/>
            <a:ext cx="381762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>
                    <a:alpha val="9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근거 문서:</a:t>
            </a:r>
            <a:pPr algn="l" indent="0" marL="0">
              <a:buNone/>
            </a:pPr>
            <a:r>
              <a:rPr lang="en-US" sz="1500" dirty="0">
                <a:solidFill>
                  <a:srgbClr val="204458">
                    <a:alpha val="9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Server Directory 분석 리포트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295705" y="5886907"/>
            <a:ext cx="398861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>
                    <a:alpha val="9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분석 대상:</a:t>
            </a:r>
            <a:pPr algn="l" indent="0" marL="0">
              <a:buNone/>
            </a:pPr>
            <a:r>
              <a:rPr lang="en-US" sz="1500" dirty="0">
                <a:solidFill>
                  <a:srgbClr val="204458">
                    <a:alpha val="9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server/src/server (79개 파일)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295705" y="6286500"/>
            <a:ext cx="508315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>
                    <a:alpha val="9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분석 목표:</a:t>
            </a:r>
            <a:pPr algn="l" indent="0" marL="0">
              <a:buNone/>
            </a:pPr>
            <a:r>
              <a:rPr lang="en-US" sz="1500" dirty="0">
                <a:solidFill>
                  <a:srgbClr val="204458">
                    <a:alpha val="9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아키텍처 이해 및 유지보수성 향상 로드맵 정립</a:t>
            </a:r>
            <a:endParaRPr lang="en-US" sz="15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rcRect l="-30128" r="-30128" t="0" b="0"/>
          <a:stretch/>
        </p:blipFill>
        <p:spPr>
          <a:xfrm>
            <a:off x="952805" y="5538521"/>
            <a:ext cx="228600" cy="190195"/>
          </a:xfrm>
          <a:prstGeom prst="rect">
            <a:avLst/>
          </a:prstGeom>
        </p:spPr>
      </p:pic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alphaModFix amt="90000"/>
          </a:blip>
          <a:srcRect l="-3419" r="-3419" t="0" b="0"/>
          <a:stretch/>
        </p:blipFill>
        <p:spPr>
          <a:xfrm>
            <a:off x="952805" y="5939028"/>
            <a:ext cx="228600" cy="190195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>
            <a:alphaModFix amt="90000"/>
          </a:blip>
          <a:srcRect l="-10096" r="-10096" t="0" b="0"/>
          <a:stretch/>
        </p:blipFill>
        <p:spPr>
          <a:xfrm>
            <a:off x="952805" y="6338621"/>
            <a:ext cx="228600" cy="19019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2044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96305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3131820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📁 핵심 디렉토리 구조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5319" r="-5319" t="0" b="0"/>
          <a:stretch/>
        </p:blipFill>
        <p:spPr>
          <a:xfrm>
            <a:off x="761695" y="3707892"/>
            <a:ext cx="190195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67105" y="3693262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svrsrc/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865376" y="3717036"/>
            <a:ext cx="21488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메인 서버 소스 코드 (핵심)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5319" r="-5319" t="0" b="0"/>
          <a:stretch/>
        </p:blipFill>
        <p:spPr>
          <a:xfrm>
            <a:off x="761695" y="4079138"/>
            <a:ext cx="190195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67105" y="4065422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aessrc/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865376" y="4089197"/>
            <a:ext cx="174924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AES 암호화 라이브러리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5319" r="-5319" t="0" b="0"/>
          <a:stretch/>
        </p:blipFill>
        <p:spPr>
          <a:xfrm>
            <a:off x="761695" y="4451299"/>
            <a:ext cx="190195" cy="17190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67105" y="4436669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md5src/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865376" y="4460443"/>
            <a:ext cx="17263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MD5 해시 생성 및 검증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5319" r="-5319" t="0" b="0"/>
          <a:stretch/>
        </p:blipFill>
        <p:spPr>
          <a:xfrm>
            <a:off x="761695" y="4822546"/>
            <a:ext cx="190195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67105" y="4807915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tarsrc/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865376" y="4831690"/>
            <a:ext cx="18452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TAR 아카이브 처리 엔진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5319" r="-5319" t="0" b="0"/>
          <a:stretch/>
        </p:blipFill>
        <p:spPr>
          <a:xfrm>
            <a:off x="761695" y="5193792"/>
            <a:ext cx="190195" cy="17190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67105" y="5179162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tarcom/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865376" y="5202936"/>
            <a:ext cx="2312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호환성(Compatibility) 레이어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-5319" r="-5319" t="0" b="0"/>
          <a:stretch/>
        </p:blipFill>
        <p:spPr>
          <a:xfrm>
            <a:off x="761695" y="5565038"/>
            <a:ext cx="190195" cy="171907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67105" y="5551322"/>
            <a:ext cx="495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inc/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1556309" y="5575097"/>
            <a:ext cx="15471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공통 헤더 파일 모음</a:t>
            </a:r>
            <a:endParaRPr lang="en-US" sz="12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5319" r="-5319" t="0" b="0"/>
          <a:stretch/>
        </p:blipFill>
        <p:spPr>
          <a:xfrm>
            <a:off x="761695" y="5937199"/>
            <a:ext cx="190195" cy="171907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067105" y="5922569"/>
            <a:ext cx="8001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config/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1865376" y="5946343"/>
            <a:ext cx="15526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Autoconf 빌드 설정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6667805" y="1333195"/>
            <a:ext cx="4953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02</a:t>
            </a:r>
            <a:endParaRPr lang="en-US" sz="3600" dirty="0"/>
          </a:p>
        </p:txBody>
      </p:sp>
      <p:sp>
        <p:nvSpPr>
          <p:cNvPr id="28" name="Shape 19"/>
          <p:cNvSpPr/>
          <p:nvPr/>
        </p:nvSpPr>
        <p:spPr>
          <a:xfrm>
            <a:off x="6667805" y="1943100"/>
            <a:ext cx="571500" cy="28346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0"/>
          <p:cNvSpPr txBox="1"/>
          <p:nvPr/>
        </p:nvSpPr>
        <p:spPr>
          <a:xfrm>
            <a:off x="6667805" y="2400300"/>
            <a:ext cx="4934102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프로젝트 개요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&amp; 전체 통계</a:t>
            </a:r>
            <a:endParaRPr lang="en-US" sz="4800" dirty="0"/>
          </a:p>
        </p:txBody>
      </p:sp>
      <p:sp>
        <p:nvSpPr>
          <p:cNvPr id="30" name="Shape 21"/>
          <p:cNvSpPr/>
          <p:nvPr/>
        </p:nvSpPr>
        <p:spPr>
          <a:xfrm>
            <a:off x="6667805" y="4313225"/>
            <a:ext cx="4762195" cy="1638605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1" name="Shape 22"/>
          <p:cNvSpPr/>
          <p:nvPr/>
        </p:nvSpPr>
        <p:spPr>
          <a:xfrm>
            <a:off x="6667805" y="4313225"/>
            <a:ext cx="38405" cy="1638605"/>
          </a:xfrm>
          <a:prstGeom prst="rect">
            <a:avLst/>
          </a:prstGeom>
          <a:solidFill>
            <a:srgbClr val="204458"/>
          </a:solidFill>
          <a:ln w="12700">
            <a:solidFill>
              <a:srgbClr val="204458">
                <a:alpha val="0"/>
              </a:srgbClr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rcRect l="-38653" r="-38653" t="0" b="0"/>
          <a:stretch/>
        </p:blipFill>
        <p:spPr>
          <a:xfrm>
            <a:off x="6896405" y="4546397"/>
            <a:ext cx="228600" cy="171907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7239305" y="4541825"/>
            <a:ext cx="10634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총 파일 수: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8032090" y="4503420"/>
            <a:ext cx="44805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79개</a:t>
            </a:r>
            <a:endParaRPr lang="en-US" sz="13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rcRect l="-9102" r="-9102" t="0" b="0"/>
          <a:stretch/>
        </p:blipFill>
        <p:spPr>
          <a:xfrm>
            <a:off x="6896405" y="4880153"/>
            <a:ext cx="228600" cy="171907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7239305" y="4874666"/>
            <a:ext cx="8430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디렉토리:</a:t>
            </a:r>
            <a:endParaRPr lang="en-US" sz="1300" dirty="0"/>
          </a:p>
        </p:txBody>
      </p:sp>
      <p:sp>
        <p:nvSpPr>
          <p:cNvPr id="37" name="Text 26"/>
          <p:cNvSpPr txBox="1"/>
          <p:nvPr/>
        </p:nvSpPr>
        <p:spPr>
          <a:xfrm>
            <a:off x="7936078" y="4837176"/>
            <a:ext cx="134965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8개 (루트 포함)</a:t>
            </a:r>
            <a:endParaRPr lang="en-US" sz="130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-3192" r="-3192" t="0" b="0"/>
          <a:stretch/>
        </p:blipFill>
        <p:spPr>
          <a:xfrm>
            <a:off x="6896405" y="5212994"/>
            <a:ext cx="228600" cy="171907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239305" y="5208422"/>
            <a:ext cx="47731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언어:</a:t>
            </a:r>
            <a:endParaRPr lang="en-US" sz="1300" dirty="0"/>
          </a:p>
        </p:txBody>
      </p:sp>
      <p:sp>
        <p:nvSpPr>
          <p:cNvPr id="40" name="Text 28"/>
          <p:cNvSpPr txBox="1"/>
          <p:nvPr/>
        </p:nvSpPr>
        <p:spPr>
          <a:xfrm>
            <a:off x="7613294" y="5170018"/>
            <a:ext cx="29928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 (Unix/Linux 서버 애플리케이션)</a:t>
            </a:r>
            <a:endParaRPr lang="en-US" sz="130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rcRect l="-3192" r="-3192" t="0" b="0"/>
          <a:stretch/>
        </p:blipFill>
        <p:spPr>
          <a:xfrm>
            <a:off x="6896405" y="5546750"/>
            <a:ext cx="228600" cy="171907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7239305" y="5542178"/>
            <a:ext cx="113659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빌드 시스템:</a:t>
            </a:r>
            <a:endParaRPr lang="en-US" sz="1300" dirty="0"/>
          </a:p>
        </p:txBody>
      </p:sp>
      <p:sp>
        <p:nvSpPr>
          <p:cNvPr id="43" name="Text 30"/>
          <p:cNvSpPr txBox="1"/>
          <p:nvPr/>
        </p:nvSpPr>
        <p:spPr>
          <a:xfrm>
            <a:off x="8144561" y="5503774"/>
            <a:ext cx="159928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Autoconf + Make</a:t>
            </a:r>
            <a:endParaRPr lang="en-US" sz="1300" dirty="0"/>
          </a:p>
        </p:txBody>
      </p:sp>
      <p:sp>
        <p:nvSpPr>
          <p:cNvPr id="44" name="Text 31"/>
          <p:cNvSpPr txBox="1"/>
          <p:nvPr/>
        </p:nvSpPr>
        <p:spPr>
          <a:xfrm>
            <a:off x="6667805" y="6427318"/>
            <a:ext cx="49533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시스템 특징</a:t>
            </a:r>
            <a:endParaRPr lang="en-US" sz="2400" dirty="0"/>
          </a:p>
        </p:txBody>
      </p:sp>
      <p:sp>
        <p:nvSpPr>
          <p:cNvPr id="45" name="Text 32"/>
          <p:cNvSpPr txBox="1"/>
          <p:nvPr/>
        </p:nvSpPr>
        <p:spPr>
          <a:xfrm>
            <a:off x="6667805" y="7037222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이 시스템은 Unix 계열(Solaris, AIX, HP-UX) 환경에서 동작하도록 설계된 </a:t>
            </a:r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크로스 플랫폼 서버 애플리케이션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입니다. 파일 전송, 암호화, 아카이빙 기능을 모듈화된 구조로 제공합니다. </a:t>
            </a:r>
            <a:endParaRPr lang="en-US" sz="1300" dirty="0"/>
          </a:p>
        </p:txBody>
      </p:sp>
      <p:sp>
        <p:nvSpPr>
          <p:cNvPr id="46" name="Shape 33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2044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8740" y="761695"/>
            <a:ext cx="4524451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핵심 서버 아키텍처 </a:t>
            </a:r>
            <a:pPr algn="l" indent="0" marL="0">
              <a:buNone/>
            </a:pPr>
            <a:r>
              <a:rPr lang="en-US" sz="2400" b="1" dirty="0">
                <a:solidFill>
                  <a:srgbClr val="627D9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svrsrc 디렉토리 분석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27202"/>
            <a:ext cx="607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03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71500" y="2159813"/>
            <a:ext cx="4858207" cy="18955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19810" y="23884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메인 서버 프로세스 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8400" r="-8400" t="0" b="0"/>
          <a:stretch/>
        </p:blipFill>
        <p:spPr>
          <a:xfrm>
            <a:off x="838505" y="2446020"/>
            <a:ext cx="267005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38505" y="2845613"/>
            <a:ext cx="44394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핵심 파일인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ecams_svr.c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(38.7 KB, 1,239줄)는 eCAMS 시스템의 중앙 통제 역할을 수행합니다. 기본 포트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29895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를 통해 클라이언트 요청을 대기하며, 소켓(Socket) 통신을 기반으로 데이터를 처리합니다. 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571500" y="4431182"/>
            <a:ext cx="4858207" cy="18955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9810" y="4659782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프로세스 모델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Fork Model</a:t>
            </a:r>
            <a:endParaRPr lang="en-US" sz="1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510" b="-3510"/>
          <a:stretch/>
        </p:blipFill>
        <p:spPr>
          <a:xfrm>
            <a:off x="838505" y="4716475"/>
            <a:ext cx="267005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8505" y="5116982"/>
            <a:ext cx="44394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전통적인 Unix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Fork 기반 멀티프로세스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모델을 채택했습니다. Parent 프로세스는 연결 요청을 수락(Accept)하고, Child 프로세스를 생성(Fork)하여 실제 작업을 위임합니다. 시그널 핸들러를 통해 좀비 프로세스를 방지하고 안정적인 라이프사이클을 관리합니다. 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3" r="-3" t="0" b="0"/>
          <a:stretch/>
        </p:blipFill>
        <p:spPr>
          <a:xfrm>
            <a:off x="5810098" y="2159813"/>
            <a:ext cx="4858207" cy="212415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58407" y="23884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주요 기능 함수 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510" b="-3510"/>
          <a:stretch/>
        </p:blipFill>
        <p:spPr>
          <a:xfrm>
            <a:off x="6077102" y="2446020"/>
            <a:ext cx="267005" cy="2286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-3" r="-3" t="0" b="0"/>
          <a:stretch/>
        </p:blipFill>
        <p:spPr>
          <a:xfrm>
            <a:off x="5810098" y="4659782"/>
            <a:ext cx="4858207" cy="1895551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458407" y="4888382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유틸리티 모듈 </a:t>
            </a:r>
            <a:endParaRPr lang="en-US" sz="18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-8400" r="-8400" t="0" b="0"/>
          <a:stretch/>
        </p:blipFill>
        <p:spPr>
          <a:xfrm>
            <a:off x="6077102" y="4945075"/>
            <a:ext cx="267005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077102" y="5345582"/>
            <a:ext cx="44394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서버 기능을 보조하기 위해 기능별로 모듈화된 소스를 사용합니다.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util.c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날짜/시간 처리, 공통 로직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lanapi.c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저수준 네트워크 API 래핑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strcvt.c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문자열 변환 및 포맷팅 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6077102" y="2917850"/>
            <a:ext cx="105156" cy="1143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258154" y="2894076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 송수신: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7062826" y="2894076"/>
            <a:ext cx="847649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15"/>
          <p:cNvSpPr txBox="1"/>
          <p:nvPr/>
        </p:nvSpPr>
        <p:spPr>
          <a:xfrm>
            <a:off x="7120433" y="2912364"/>
            <a:ext cx="8732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ProcFileSnd</a:t>
            </a:r>
            <a:endParaRPr lang="en-US" sz="1000" dirty="0"/>
          </a:p>
        </p:txBody>
      </p:sp>
      <p:sp>
        <p:nvSpPr>
          <p:cNvPr id="27" name="Text 16"/>
          <p:cNvSpPr txBox="1"/>
          <p:nvPr/>
        </p:nvSpPr>
        <p:spPr>
          <a:xfrm>
            <a:off x="7910474" y="2884018"/>
            <a:ext cx="2194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/</a:t>
            </a:r>
            <a:endParaRPr lang="en-US" sz="1200" dirty="0"/>
          </a:p>
        </p:txBody>
      </p:sp>
      <p:sp>
        <p:nvSpPr>
          <p:cNvPr id="28" name="Shape 17"/>
          <p:cNvSpPr/>
          <p:nvPr/>
        </p:nvSpPr>
        <p:spPr>
          <a:xfrm>
            <a:off x="8053121" y="2894076"/>
            <a:ext cx="847649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8"/>
          <p:cNvSpPr txBox="1"/>
          <p:nvPr/>
        </p:nvSpPr>
        <p:spPr>
          <a:xfrm>
            <a:off x="8110728" y="2912364"/>
            <a:ext cx="8732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ProcFileRcv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6077102" y="3237890"/>
            <a:ext cx="105156" cy="1143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6258154" y="3213202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시스템 명령: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7062826" y="3213202"/>
            <a:ext cx="981151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7120433" y="3232404"/>
            <a:ext cx="1032358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ProcSystemCmd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8043977" y="3204058"/>
            <a:ext cx="9217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(원격 실행)</a:t>
            </a:r>
            <a:endParaRPr lang="en-US" sz="1200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-2571" r="-2571" t="0" b="0"/>
          <a:stretch/>
        </p:blipFill>
        <p:spPr>
          <a:xfrm>
            <a:off x="6077102" y="3557016"/>
            <a:ext cx="105156" cy="114300"/>
          </a:xfrm>
          <a:prstGeom prst="rect">
            <a:avLst/>
          </a:prstGeom>
        </p:spPr>
      </p:pic>
      <p:sp>
        <p:nvSpPr>
          <p:cNvPr id="36" name="Text 23"/>
          <p:cNvSpPr txBox="1"/>
          <p:nvPr/>
        </p:nvSpPr>
        <p:spPr>
          <a:xfrm>
            <a:off x="6258154" y="3533242"/>
            <a:ext cx="117409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암호화/복호화:</a:t>
            </a:r>
            <a:endParaRPr lang="en-US" sz="1200" dirty="0"/>
          </a:p>
        </p:txBody>
      </p:sp>
      <p:sp>
        <p:nvSpPr>
          <p:cNvPr id="37" name="Shape 24"/>
          <p:cNvSpPr/>
          <p:nvPr/>
        </p:nvSpPr>
        <p:spPr>
          <a:xfrm>
            <a:off x="7221017" y="3533242"/>
            <a:ext cx="847649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25"/>
          <p:cNvSpPr txBox="1"/>
          <p:nvPr/>
        </p:nvSpPr>
        <p:spPr>
          <a:xfrm>
            <a:off x="7277710" y="3552444"/>
            <a:ext cx="8732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ProcDECrypt</a:t>
            </a:r>
            <a:endParaRPr lang="en-US" sz="1000" dirty="0"/>
          </a:p>
        </p:txBody>
      </p:sp>
      <p:sp>
        <p:nvSpPr>
          <p:cNvPr id="39" name="Text 26"/>
          <p:cNvSpPr txBox="1"/>
          <p:nvPr/>
        </p:nvSpPr>
        <p:spPr>
          <a:xfrm>
            <a:off x="8068666" y="3524098"/>
            <a:ext cx="9217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(보안 처리)</a:t>
            </a:r>
            <a:endParaRPr lang="en-US" sz="120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6077102" y="3877056"/>
            <a:ext cx="105156" cy="114300"/>
          </a:xfrm>
          <a:prstGeom prst="rect">
            <a:avLst/>
          </a:prstGeom>
        </p:spPr>
      </p:pic>
      <p:sp>
        <p:nvSpPr>
          <p:cNvPr id="41" name="Text 27"/>
          <p:cNvSpPr txBox="1"/>
          <p:nvPr/>
        </p:nvSpPr>
        <p:spPr>
          <a:xfrm>
            <a:off x="6258154" y="3853282"/>
            <a:ext cx="84764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환경 관리:</a:t>
            </a:r>
            <a:endParaRPr lang="en-US" sz="1200" dirty="0"/>
          </a:p>
        </p:txBody>
      </p:sp>
      <p:sp>
        <p:nvSpPr>
          <p:cNvPr id="42" name="Shape 28"/>
          <p:cNvSpPr/>
          <p:nvPr/>
        </p:nvSpPr>
        <p:spPr>
          <a:xfrm>
            <a:off x="6920179" y="3853282"/>
            <a:ext cx="780898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29"/>
          <p:cNvSpPr txBox="1"/>
          <p:nvPr/>
        </p:nvSpPr>
        <p:spPr>
          <a:xfrm>
            <a:off x="6976872" y="3872484"/>
            <a:ext cx="7936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ProcEnvGet</a:t>
            </a:r>
            <a:endParaRPr lang="en-US" sz="1000" dirty="0"/>
          </a:p>
        </p:txBody>
      </p:sp>
      <p:sp>
        <p:nvSpPr>
          <p:cNvPr id="44" name="Text 30"/>
          <p:cNvSpPr txBox="1"/>
          <p:nvPr/>
        </p:nvSpPr>
        <p:spPr>
          <a:xfrm>
            <a:off x="7701077" y="3844138"/>
            <a:ext cx="171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,</a:t>
            </a:r>
            <a:endParaRPr lang="en-US" sz="1200" dirty="0"/>
          </a:p>
        </p:txBody>
      </p:sp>
      <p:sp>
        <p:nvSpPr>
          <p:cNvPr id="45" name="Shape 31"/>
          <p:cNvSpPr/>
          <p:nvPr/>
        </p:nvSpPr>
        <p:spPr>
          <a:xfrm>
            <a:off x="7789774" y="3853282"/>
            <a:ext cx="847649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2"/>
          <p:cNvSpPr txBox="1"/>
          <p:nvPr/>
        </p:nvSpPr>
        <p:spPr>
          <a:xfrm>
            <a:off x="7847381" y="3872484"/>
            <a:ext cx="87325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ProcFileInf</a:t>
            </a:r>
            <a:endParaRPr lang="en-US" sz="1000" dirty="0"/>
          </a:p>
        </p:txBody>
      </p:sp>
      <p:sp>
        <p:nvSpPr>
          <p:cNvPr id="47" name="Shape 33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8740" y="761695"/>
            <a:ext cx="729691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네트워크 프로토콜 &amp; 통신 구조 </a:t>
            </a:r>
            <a:pPr algn="l" indent="0" marL="0">
              <a:buNone/>
            </a:pPr>
            <a:r>
              <a:rPr lang="en-US" sz="2400" b="1" dirty="0">
                <a:solidFill>
                  <a:srgbClr val="627D9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포트 정의 및 패킷 구조 분석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27202"/>
            <a:ext cx="607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04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9" r="-9" t="0" b="0"/>
          <a:stretch/>
        </p:blipFill>
        <p:spPr>
          <a:xfrm>
            <a:off x="571500" y="2159813"/>
            <a:ext cx="4858207" cy="265724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19810" y="23884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포트 구성 및 정의 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8400" r="-8400" t="0" b="0"/>
          <a:stretch/>
        </p:blipFill>
        <p:spPr>
          <a:xfrm>
            <a:off x="838505" y="2446020"/>
            <a:ext cx="267005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38505" y="2845613"/>
            <a:ext cx="571500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485900" y="2850185"/>
            <a:ext cx="244876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FEP 포트 (dfeCAMSFepPort) -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8505" y="3154680"/>
            <a:ext cx="571500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1485900" y="3158338"/>
            <a:ext cx="240670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설정 포트 (dfeCAMSConfPort)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8505" y="3463747"/>
            <a:ext cx="571500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485900" y="3467405"/>
            <a:ext cx="21049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DB 포트 (dfeCAMSDBPort)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8505" y="3771900"/>
            <a:ext cx="571500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485900" y="3775558"/>
            <a:ext cx="255574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인터넷 포트 (dfeCAMSInetPort)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38505" y="4080967"/>
            <a:ext cx="571500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1485900" y="4084625"/>
            <a:ext cx="2405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루트 포트 (dfeCAMSRootPort)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-3" r="-3" t="0" b="0"/>
          <a:stretch/>
        </p:blipFill>
        <p:spPr>
          <a:xfrm>
            <a:off x="571500" y="5198364"/>
            <a:ext cx="4858207" cy="165963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219810" y="5426964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기본 프로토콜 명령 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rcRect l="-8400" r="-8400" t="0" b="0"/>
          <a:stretch/>
        </p:blipFill>
        <p:spPr>
          <a:xfrm>
            <a:off x="838505" y="5484571"/>
            <a:ext cx="267005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38505" y="5884164"/>
            <a:ext cx="45537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세션 관리 및 기본 통신을 위한 4가지 핵심 명령어: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838505" y="6223406"/>
            <a:ext cx="314554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1593799" y="6227064"/>
            <a:ext cx="180045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초기 세션 연결 및 설정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38505" y="6531559"/>
            <a:ext cx="314554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1690726" y="6536131"/>
            <a:ext cx="1452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실제 데이터 송수신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838505" y="6840626"/>
            <a:ext cx="314554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1644091" y="6844284"/>
            <a:ext cx="214243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회선 상태 점검 (Heartbeat)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38505" y="7149694"/>
            <a:ext cx="314554" cy="256946"/>
          </a:xfrm>
          <a:prstGeom prst="roundRect">
            <a:avLst>
              <a:gd name="adj" fmla="val 52722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622146" y="7153351"/>
            <a:ext cx="11375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연결 정상 종료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-15" r="-15" t="0" b="0"/>
          <a:stretch/>
        </p:blipFill>
        <p:spPr>
          <a:xfrm>
            <a:off x="5810098" y="2159813"/>
            <a:ext cx="4858207" cy="1837944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6458407" y="2388413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DDE 응용 명령 (Business Logic) </a:t>
            </a:r>
            <a:endParaRPr lang="en-US" sz="18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510" b="-3510"/>
          <a:stretch/>
        </p:blipFill>
        <p:spPr>
          <a:xfrm>
            <a:off x="6077102" y="2446020"/>
            <a:ext cx="267005" cy="228600"/>
          </a:xfrm>
          <a:prstGeom prst="rect">
            <a:avLst/>
          </a:prstGeom>
        </p:spPr>
      </p:pic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10098" y="4377233"/>
            <a:ext cx="4858207" cy="248076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458407" y="4605833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통신 헤더 구조 (BpComHead) </a:t>
            </a:r>
            <a:endParaRPr lang="en-US" sz="18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510" b="-3510"/>
          <a:stretch/>
        </p:blipFill>
        <p:spPr>
          <a:xfrm>
            <a:off x="6077102" y="4663440"/>
            <a:ext cx="267005" cy="2286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6077102" y="5063033"/>
            <a:ext cx="4476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총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63 Bytes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크기의 고정 헤더 구조체:</a:t>
            </a:r>
            <a:endParaRPr lang="en-US" sz="1200" dirty="0"/>
          </a:p>
        </p:txBody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rcRect l="-18" r="-18" t="0" b="0"/>
          <a:stretch/>
        </p:blipFill>
        <p:spPr>
          <a:xfrm>
            <a:off x="6077102" y="5402275"/>
            <a:ext cx="1410005" cy="504749"/>
          </a:xfrm>
          <a:prstGeom prst="rect">
            <a:avLst/>
          </a:prstGeom>
        </p:spPr>
      </p:pic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rcRect l="-18" r="-18" t="0" b="0"/>
          <a:stretch/>
        </p:blipFill>
        <p:spPr>
          <a:xfrm>
            <a:off x="7556602" y="5402275"/>
            <a:ext cx="1410005" cy="504749"/>
          </a:xfrm>
          <a:prstGeom prst="rect">
            <a:avLst/>
          </a:prstGeom>
        </p:spPr>
      </p:pic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rcRect l="-18" r="-18" t="0" b="0"/>
          <a:stretch/>
        </p:blipFill>
        <p:spPr>
          <a:xfrm>
            <a:off x="9036101" y="5402275"/>
            <a:ext cx="1410005" cy="504749"/>
          </a:xfrm>
          <a:prstGeom prst="rect">
            <a:avLst/>
          </a:prstGeom>
        </p:spPr>
      </p:pic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-18" r="-18" t="0" b="0"/>
          <a:stretch/>
        </p:blipFill>
        <p:spPr>
          <a:xfrm>
            <a:off x="6077102" y="5977433"/>
            <a:ext cx="1410005" cy="504749"/>
          </a:xfrm>
          <a:prstGeom prst="rect">
            <a:avLst/>
          </a:prstGeom>
        </p:spPr>
      </p:pic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rcRect l="-18" r="-18" t="0" b="0"/>
          <a:stretch/>
        </p:blipFill>
        <p:spPr>
          <a:xfrm>
            <a:off x="7556602" y="5977433"/>
            <a:ext cx="1410005" cy="504749"/>
          </a:xfrm>
          <a:prstGeom prst="rect">
            <a:avLst/>
          </a:prstGeom>
        </p:spPr>
      </p:pic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rcRect l="-18" r="-18" t="0" b="0"/>
          <a:stretch/>
        </p:blipFill>
        <p:spPr>
          <a:xfrm>
            <a:off x="9036101" y="5977433"/>
            <a:ext cx="1410005" cy="504749"/>
          </a:xfrm>
          <a:prstGeom prst="rect">
            <a:avLst/>
          </a:prstGeom>
        </p:spPr>
      </p:pic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rcRect l="0" r="0" t="-23" b="-23"/>
          <a:stretch/>
        </p:blipFill>
        <p:spPr>
          <a:xfrm>
            <a:off x="6077102" y="6552590"/>
            <a:ext cx="4362602" cy="305410"/>
          </a:xfrm>
          <a:prstGeom prst="rect">
            <a:avLst/>
          </a:prstGeom>
        </p:spPr>
      </p:pic>
      <p:pic>
        <p:nvPicPr>
          <p:cNvPr id="47" name="Image 15" descr="preencoded.png">    </p:cNvPr>
          <p:cNvPicPr>
            <a:picLocks noChangeAspect="1"/>
          </p:cNvPicPr>
          <p:nvPr/>
        </p:nvPicPr>
        <p:blipFill>
          <a:blip r:embed="rId16"/>
          <a:srcRect l="-2089" r="-2089" t="0" b="0"/>
          <a:stretch/>
        </p:blipFill>
        <p:spPr>
          <a:xfrm>
            <a:off x="6077102" y="7127748"/>
            <a:ext cx="4362602" cy="9144"/>
          </a:xfrm>
          <a:prstGeom prst="rect">
            <a:avLst/>
          </a:prstGeom>
        </p:spPr>
      </p:pic>
      <p:sp>
        <p:nvSpPr>
          <p:cNvPr id="48" name="Text 30"/>
          <p:cNvSpPr txBox="1"/>
          <p:nvPr/>
        </p:nvSpPr>
        <p:spPr>
          <a:xfrm>
            <a:off x="918972" y="2903220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29895</a:t>
            </a:r>
            <a:endParaRPr lang="en-US" sz="1000" dirty="0"/>
          </a:p>
        </p:txBody>
      </p:sp>
      <p:sp>
        <p:nvSpPr>
          <p:cNvPr id="49" name="Text 31"/>
          <p:cNvSpPr txBox="1"/>
          <p:nvPr/>
        </p:nvSpPr>
        <p:spPr>
          <a:xfrm>
            <a:off x="3574390" y="2903220"/>
            <a:ext cx="400507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Main</a:t>
            </a:r>
            <a:endParaRPr lang="en-US" sz="1000" dirty="0"/>
          </a:p>
        </p:txBody>
      </p:sp>
      <p:sp>
        <p:nvSpPr>
          <p:cNvPr id="50" name="Text 32"/>
          <p:cNvSpPr txBox="1"/>
          <p:nvPr/>
        </p:nvSpPr>
        <p:spPr>
          <a:xfrm>
            <a:off x="918972" y="3212287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29896</a:t>
            </a:r>
            <a:endParaRPr lang="en-US" sz="1000" dirty="0"/>
          </a:p>
        </p:txBody>
      </p:sp>
      <p:sp>
        <p:nvSpPr>
          <p:cNvPr id="51" name="Text 33"/>
          <p:cNvSpPr txBox="1"/>
          <p:nvPr/>
        </p:nvSpPr>
        <p:spPr>
          <a:xfrm>
            <a:off x="918972" y="3520440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29897</a:t>
            </a:r>
            <a:endParaRPr lang="en-US" sz="1000" dirty="0"/>
          </a:p>
        </p:txBody>
      </p:sp>
      <p:sp>
        <p:nvSpPr>
          <p:cNvPr id="52" name="Text 34"/>
          <p:cNvSpPr txBox="1"/>
          <p:nvPr/>
        </p:nvSpPr>
        <p:spPr>
          <a:xfrm>
            <a:off x="918972" y="3829507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29898</a:t>
            </a:r>
            <a:endParaRPr lang="en-US" sz="1000" dirty="0"/>
          </a:p>
        </p:txBody>
      </p:sp>
      <p:sp>
        <p:nvSpPr>
          <p:cNvPr id="53" name="Text 35"/>
          <p:cNvSpPr txBox="1"/>
          <p:nvPr/>
        </p:nvSpPr>
        <p:spPr>
          <a:xfrm>
            <a:off x="918972" y="4137660"/>
            <a:ext cx="409651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29899</a:t>
            </a:r>
            <a:endParaRPr lang="en-US" sz="1000" dirty="0"/>
          </a:p>
        </p:txBody>
      </p:sp>
      <p:sp>
        <p:nvSpPr>
          <p:cNvPr id="54" name="Text 36"/>
          <p:cNvSpPr txBox="1"/>
          <p:nvPr/>
        </p:nvSpPr>
        <p:spPr>
          <a:xfrm>
            <a:off x="895198" y="6280099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'L'</a:t>
            </a:r>
            <a:endParaRPr lang="en-US" sz="1000" dirty="0"/>
          </a:p>
        </p:txBody>
      </p:sp>
      <p:sp>
        <p:nvSpPr>
          <p:cNvPr id="55" name="Text 37"/>
          <p:cNvSpPr txBox="1"/>
          <p:nvPr/>
        </p:nvSpPr>
        <p:spPr>
          <a:xfrm>
            <a:off x="1228954" y="6274613"/>
            <a:ext cx="4480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LINK:</a:t>
            </a:r>
            <a:endParaRPr lang="en-US" sz="1200" dirty="0"/>
          </a:p>
        </p:txBody>
      </p:sp>
      <p:sp>
        <p:nvSpPr>
          <p:cNvPr id="56" name="Text 38"/>
          <p:cNvSpPr txBox="1"/>
          <p:nvPr/>
        </p:nvSpPr>
        <p:spPr>
          <a:xfrm>
            <a:off x="895198" y="6589166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'D'</a:t>
            </a:r>
            <a:endParaRPr lang="en-US" sz="1000" dirty="0"/>
          </a:p>
        </p:txBody>
      </p:sp>
      <p:sp>
        <p:nvSpPr>
          <p:cNvPr id="57" name="Text 39"/>
          <p:cNvSpPr txBox="1"/>
          <p:nvPr/>
        </p:nvSpPr>
        <p:spPr>
          <a:xfrm>
            <a:off x="1228954" y="6583680"/>
            <a:ext cx="5431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DATA:</a:t>
            </a:r>
            <a:endParaRPr lang="en-US" sz="1200" dirty="0"/>
          </a:p>
        </p:txBody>
      </p:sp>
      <p:sp>
        <p:nvSpPr>
          <p:cNvPr id="58" name="Text 40"/>
          <p:cNvSpPr txBox="1"/>
          <p:nvPr/>
        </p:nvSpPr>
        <p:spPr>
          <a:xfrm>
            <a:off x="895198" y="6897319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'H'</a:t>
            </a:r>
            <a:endParaRPr lang="en-US" sz="1000" dirty="0"/>
          </a:p>
        </p:txBody>
      </p:sp>
      <p:sp>
        <p:nvSpPr>
          <p:cNvPr id="59" name="Text 41"/>
          <p:cNvSpPr txBox="1"/>
          <p:nvPr/>
        </p:nvSpPr>
        <p:spPr>
          <a:xfrm>
            <a:off x="1228954" y="6891833"/>
            <a:ext cx="4956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HTBT:</a:t>
            </a:r>
            <a:endParaRPr lang="en-US" sz="1200" dirty="0"/>
          </a:p>
        </p:txBody>
      </p:sp>
      <p:sp>
        <p:nvSpPr>
          <p:cNvPr id="60" name="Text 42"/>
          <p:cNvSpPr txBox="1"/>
          <p:nvPr/>
        </p:nvSpPr>
        <p:spPr>
          <a:xfrm>
            <a:off x="895198" y="7206386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'C'</a:t>
            </a:r>
            <a:endParaRPr lang="en-US" sz="1000" dirty="0"/>
          </a:p>
        </p:txBody>
      </p:sp>
      <p:sp>
        <p:nvSpPr>
          <p:cNvPr id="61" name="Text 43"/>
          <p:cNvSpPr txBox="1"/>
          <p:nvPr/>
        </p:nvSpPr>
        <p:spPr>
          <a:xfrm>
            <a:off x="1228954" y="7200900"/>
            <a:ext cx="4764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CLSE:</a:t>
            </a:r>
            <a:endParaRPr lang="en-US" sz="1200" dirty="0"/>
          </a:p>
        </p:txBody>
      </p:sp>
      <p:sp>
        <p:nvSpPr>
          <p:cNvPr id="62" name="Shape 44"/>
          <p:cNvSpPr/>
          <p:nvPr/>
        </p:nvSpPr>
        <p:spPr>
          <a:xfrm>
            <a:off x="6077102" y="2894076"/>
            <a:ext cx="314554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45"/>
          <p:cNvSpPr txBox="1"/>
          <p:nvPr/>
        </p:nvSpPr>
        <p:spPr>
          <a:xfrm>
            <a:off x="6133795" y="2912364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'A'</a:t>
            </a:r>
            <a:endParaRPr lang="en-US" sz="1000" dirty="0"/>
          </a:p>
        </p:txBody>
      </p:sp>
      <p:sp>
        <p:nvSpPr>
          <p:cNvPr id="64" name="Text 46"/>
          <p:cNvSpPr txBox="1"/>
          <p:nvPr/>
        </p:nvSpPr>
        <p:spPr>
          <a:xfrm>
            <a:off x="6429146" y="2884018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CmdBpAccnt</a:t>
            </a:r>
            <a:endParaRPr lang="en-US" sz="1200" dirty="0"/>
          </a:p>
        </p:txBody>
      </p:sp>
      <p:sp>
        <p:nvSpPr>
          <p:cNvPr id="65" name="Text 47"/>
          <p:cNvSpPr txBox="1"/>
          <p:nvPr/>
        </p:nvSpPr>
        <p:spPr>
          <a:xfrm>
            <a:off x="7438644" y="2912364"/>
            <a:ext cx="54132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(로그인)</a:t>
            </a:r>
            <a:endParaRPr lang="en-US" sz="900" dirty="0"/>
          </a:p>
        </p:txBody>
      </p:sp>
      <p:sp>
        <p:nvSpPr>
          <p:cNvPr id="66" name="Shape 48"/>
          <p:cNvSpPr/>
          <p:nvPr/>
        </p:nvSpPr>
        <p:spPr>
          <a:xfrm>
            <a:off x="8305495" y="2894076"/>
            <a:ext cx="314554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49"/>
          <p:cNvSpPr txBox="1"/>
          <p:nvPr/>
        </p:nvSpPr>
        <p:spPr>
          <a:xfrm>
            <a:off x="8363102" y="2912364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'R'</a:t>
            </a:r>
            <a:endParaRPr lang="en-US" sz="1000" dirty="0"/>
          </a:p>
        </p:txBody>
      </p:sp>
      <p:sp>
        <p:nvSpPr>
          <p:cNvPr id="68" name="Text 50"/>
          <p:cNvSpPr txBox="1"/>
          <p:nvPr/>
        </p:nvSpPr>
        <p:spPr>
          <a:xfrm>
            <a:off x="8658454" y="2884018"/>
            <a:ext cx="1067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CmdRequest</a:t>
            </a:r>
            <a:endParaRPr lang="en-US" sz="1200" dirty="0"/>
          </a:p>
        </p:txBody>
      </p:sp>
      <p:sp>
        <p:nvSpPr>
          <p:cNvPr id="69" name="Text 51"/>
          <p:cNvSpPr txBox="1"/>
          <p:nvPr/>
        </p:nvSpPr>
        <p:spPr>
          <a:xfrm>
            <a:off x="9642348" y="2912364"/>
            <a:ext cx="400507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(요청)</a:t>
            </a:r>
            <a:endParaRPr lang="en-US" sz="900" dirty="0"/>
          </a:p>
        </p:txBody>
      </p:sp>
      <p:sp>
        <p:nvSpPr>
          <p:cNvPr id="70" name="Shape 52"/>
          <p:cNvSpPr/>
          <p:nvPr/>
        </p:nvSpPr>
        <p:spPr>
          <a:xfrm>
            <a:off x="6077102" y="3232404"/>
            <a:ext cx="314554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3"/>
          <p:cNvSpPr txBox="1"/>
          <p:nvPr/>
        </p:nvSpPr>
        <p:spPr>
          <a:xfrm>
            <a:off x="6133795" y="3251606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'S'</a:t>
            </a:r>
            <a:endParaRPr lang="en-US" sz="1000" dirty="0"/>
          </a:p>
        </p:txBody>
      </p:sp>
      <p:sp>
        <p:nvSpPr>
          <p:cNvPr id="72" name="Text 54"/>
          <p:cNvSpPr txBox="1"/>
          <p:nvPr/>
        </p:nvSpPr>
        <p:spPr>
          <a:xfrm>
            <a:off x="6429146" y="3223260"/>
            <a:ext cx="9912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CmdSystem</a:t>
            </a:r>
            <a:endParaRPr lang="en-US" sz="1200" dirty="0"/>
          </a:p>
        </p:txBody>
      </p:sp>
      <p:sp>
        <p:nvSpPr>
          <p:cNvPr id="73" name="Text 55"/>
          <p:cNvSpPr txBox="1"/>
          <p:nvPr/>
        </p:nvSpPr>
        <p:spPr>
          <a:xfrm>
            <a:off x="7342632" y="3251606"/>
            <a:ext cx="54132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(시스템)</a:t>
            </a:r>
            <a:endParaRPr lang="en-US" sz="900" dirty="0"/>
          </a:p>
        </p:txBody>
      </p:sp>
      <p:sp>
        <p:nvSpPr>
          <p:cNvPr id="74" name="Shape 56"/>
          <p:cNvSpPr/>
          <p:nvPr/>
        </p:nvSpPr>
        <p:spPr>
          <a:xfrm>
            <a:off x="8305495" y="3232404"/>
            <a:ext cx="314554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57"/>
          <p:cNvSpPr txBox="1"/>
          <p:nvPr/>
        </p:nvSpPr>
        <p:spPr>
          <a:xfrm>
            <a:off x="8363102" y="3251606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'F'</a:t>
            </a:r>
            <a:endParaRPr lang="en-US" sz="1000" dirty="0"/>
          </a:p>
        </p:txBody>
      </p:sp>
      <p:sp>
        <p:nvSpPr>
          <p:cNvPr id="76" name="Text 58"/>
          <p:cNvSpPr txBox="1"/>
          <p:nvPr/>
        </p:nvSpPr>
        <p:spPr>
          <a:xfrm>
            <a:off x="8658454" y="3223260"/>
            <a:ext cx="9482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CmdFileInf</a:t>
            </a:r>
            <a:endParaRPr lang="en-US" sz="1200" dirty="0"/>
          </a:p>
        </p:txBody>
      </p:sp>
      <p:sp>
        <p:nvSpPr>
          <p:cNvPr id="77" name="Text 59"/>
          <p:cNvSpPr txBox="1"/>
          <p:nvPr/>
        </p:nvSpPr>
        <p:spPr>
          <a:xfrm>
            <a:off x="9495130" y="3251606"/>
            <a:ext cx="66934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(파일정보)</a:t>
            </a:r>
            <a:endParaRPr lang="en-US" sz="900" dirty="0"/>
          </a:p>
        </p:txBody>
      </p:sp>
      <p:sp>
        <p:nvSpPr>
          <p:cNvPr id="78" name="Shape 60"/>
          <p:cNvSpPr/>
          <p:nvPr/>
        </p:nvSpPr>
        <p:spPr>
          <a:xfrm>
            <a:off x="6077102" y="3571646"/>
            <a:ext cx="314554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1"/>
          <p:cNvSpPr txBox="1"/>
          <p:nvPr/>
        </p:nvSpPr>
        <p:spPr>
          <a:xfrm>
            <a:off x="6133795" y="3590849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'U'</a:t>
            </a:r>
            <a:endParaRPr lang="en-US" sz="1000" dirty="0"/>
          </a:p>
        </p:txBody>
      </p:sp>
      <p:sp>
        <p:nvSpPr>
          <p:cNvPr id="80" name="Text 62"/>
          <p:cNvSpPr txBox="1"/>
          <p:nvPr/>
        </p:nvSpPr>
        <p:spPr>
          <a:xfrm>
            <a:off x="6429146" y="3562502"/>
            <a:ext cx="10104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CmdEnvGet</a:t>
            </a:r>
            <a:endParaRPr lang="en-US" sz="1200" dirty="0"/>
          </a:p>
        </p:txBody>
      </p:sp>
      <p:sp>
        <p:nvSpPr>
          <p:cNvPr id="81" name="Text 63"/>
          <p:cNvSpPr txBox="1"/>
          <p:nvPr/>
        </p:nvSpPr>
        <p:spPr>
          <a:xfrm>
            <a:off x="7361834" y="3590849"/>
            <a:ext cx="66934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(환경정보)</a:t>
            </a:r>
            <a:endParaRPr lang="en-US" sz="900" dirty="0"/>
          </a:p>
        </p:txBody>
      </p:sp>
      <p:sp>
        <p:nvSpPr>
          <p:cNvPr id="82" name="Shape 64"/>
          <p:cNvSpPr/>
          <p:nvPr/>
        </p:nvSpPr>
        <p:spPr>
          <a:xfrm>
            <a:off x="8305495" y="3571646"/>
            <a:ext cx="314554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65"/>
          <p:cNvSpPr txBox="1"/>
          <p:nvPr/>
        </p:nvSpPr>
        <p:spPr>
          <a:xfrm>
            <a:off x="8363102" y="3590849"/>
            <a:ext cx="2770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'D'</a:t>
            </a:r>
            <a:endParaRPr lang="en-US" sz="1000" dirty="0"/>
          </a:p>
        </p:txBody>
      </p:sp>
      <p:sp>
        <p:nvSpPr>
          <p:cNvPr id="84" name="Text 66"/>
          <p:cNvSpPr txBox="1"/>
          <p:nvPr/>
        </p:nvSpPr>
        <p:spPr>
          <a:xfrm>
            <a:off x="8658454" y="3562502"/>
            <a:ext cx="10771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CmdDECrypt</a:t>
            </a:r>
            <a:endParaRPr lang="en-US" sz="1200" dirty="0"/>
          </a:p>
        </p:txBody>
      </p:sp>
      <p:sp>
        <p:nvSpPr>
          <p:cNvPr id="85" name="Text 67"/>
          <p:cNvSpPr txBox="1"/>
          <p:nvPr/>
        </p:nvSpPr>
        <p:spPr>
          <a:xfrm>
            <a:off x="9651492" y="3590849"/>
            <a:ext cx="541325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(복호화)</a:t>
            </a:r>
            <a:endParaRPr lang="en-US" sz="900" dirty="0"/>
          </a:p>
        </p:txBody>
      </p:sp>
      <p:sp>
        <p:nvSpPr>
          <p:cNvPr id="86" name="Text 68"/>
          <p:cNvSpPr txBox="1"/>
          <p:nvPr/>
        </p:nvSpPr>
        <p:spPr>
          <a:xfrm>
            <a:off x="6631229" y="5497373"/>
            <a:ext cx="2953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Grp</a:t>
            </a:r>
            <a:endParaRPr lang="en-US" sz="900" dirty="0"/>
          </a:p>
        </p:txBody>
      </p:sp>
      <p:sp>
        <p:nvSpPr>
          <p:cNvPr id="87" name="Text 69"/>
          <p:cNvSpPr txBox="1"/>
          <p:nvPr/>
        </p:nvSpPr>
        <p:spPr>
          <a:xfrm>
            <a:off x="6590081" y="5695798"/>
            <a:ext cx="3813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 Byte</a:t>
            </a:r>
            <a:endParaRPr lang="en-US" sz="800" dirty="0"/>
          </a:p>
        </p:txBody>
      </p:sp>
      <p:sp>
        <p:nvSpPr>
          <p:cNvPr id="88" name="Text 70"/>
          <p:cNvSpPr txBox="1"/>
          <p:nvPr/>
        </p:nvSpPr>
        <p:spPr>
          <a:xfrm>
            <a:off x="8115300" y="5497373"/>
            <a:ext cx="2953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Seq</a:t>
            </a:r>
            <a:endParaRPr lang="en-US" sz="900" dirty="0"/>
          </a:p>
        </p:txBody>
      </p:sp>
      <p:sp>
        <p:nvSpPr>
          <p:cNvPr id="89" name="Text 71"/>
          <p:cNvSpPr txBox="1"/>
          <p:nvPr/>
        </p:nvSpPr>
        <p:spPr>
          <a:xfrm>
            <a:off x="8047634" y="5695798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 Bytes</a:t>
            </a:r>
            <a:endParaRPr lang="en-US" sz="800" dirty="0"/>
          </a:p>
        </p:txBody>
      </p:sp>
      <p:sp>
        <p:nvSpPr>
          <p:cNvPr id="90" name="Text 72"/>
          <p:cNvSpPr txBox="1"/>
          <p:nvPr/>
        </p:nvSpPr>
        <p:spPr>
          <a:xfrm>
            <a:off x="9563710" y="5497373"/>
            <a:ext cx="35295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Cmd</a:t>
            </a:r>
            <a:endParaRPr lang="en-US" sz="900" dirty="0"/>
          </a:p>
        </p:txBody>
      </p:sp>
      <p:sp>
        <p:nvSpPr>
          <p:cNvPr id="91" name="Text 73"/>
          <p:cNvSpPr txBox="1"/>
          <p:nvPr/>
        </p:nvSpPr>
        <p:spPr>
          <a:xfrm>
            <a:off x="9549079" y="5695798"/>
            <a:ext cx="38130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 Byte</a:t>
            </a:r>
            <a:endParaRPr lang="en-US" sz="800" dirty="0"/>
          </a:p>
        </p:txBody>
      </p:sp>
      <p:sp>
        <p:nvSpPr>
          <p:cNvPr id="92" name="Text 74"/>
          <p:cNvSpPr txBox="1"/>
          <p:nvPr/>
        </p:nvSpPr>
        <p:spPr>
          <a:xfrm>
            <a:off x="6485839" y="6072530"/>
            <a:ext cx="58978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CF/LuSts</a:t>
            </a:r>
            <a:endParaRPr lang="en-US" sz="900" dirty="0"/>
          </a:p>
        </p:txBody>
      </p:sp>
      <p:sp>
        <p:nvSpPr>
          <p:cNvPr id="93" name="Text 75"/>
          <p:cNvSpPr txBox="1"/>
          <p:nvPr/>
        </p:nvSpPr>
        <p:spPr>
          <a:xfrm>
            <a:off x="6514186" y="6270955"/>
            <a:ext cx="5330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 Byte ea</a:t>
            </a:r>
            <a:endParaRPr lang="en-US" sz="800" dirty="0"/>
          </a:p>
        </p:txBody>
      </p:sp>
      <p:sp>
        <p:nvSpPr>
          <p:cNvPr id="94" name="Text 76"/>
          <p:cNvSpPr txBox="1"/>
          <p:nvPr/>
        </p:nvSpPr>
        <p:spPr>
          <a:xfrm>
            <a:off x="7918704" y="6072530"/>
            <a:ext cx="680314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EC/FepSts</a:t>
            </a:r>
            <a:endParaRPr lang="en-US" sz="900" dirty="0"/>
          </a:p>
        </p:txBody>
      </p:sp>
      <p:sp>
        <p:nvSpPr>
          <p:cNvPr id="95" name="Text 77"/>
          <p:cNvSpPr txBox="1"/>
          <p:nvPr/>
        </p:nvSpPr>
        <p:spPr>
          <a:xfrm>
            <a:off x="7993685" y="6270955"/>
            <a:ext cx="533095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 Byte ea</a:t>
            </a:r>
            <a:endParaRPr lang="en-US" sz="800" dirty="0"/>
          </a:p>
        </p:txBody>
      </p:sp>
      <p:sp>
        <p:nvSpPr>
          <p:cNvPr id="96" name="Text 78"/>
          <p:cNvSpPr txBox="1"/>
          <p:nvPr/>
        </p:nvSpPr>
        <p:spPr>
          <a:xfrm>
            <a:off x="9594799" y="6072530"/>
            <a:ext cx="295351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Lng</a:t>
            </a:r>
            <a:endParaRPr lang="en-US" sz="900" dirty="0"/>
          </a:p>
        </p:txBody>
      </p:sp>
      <p:sp>
        <p:nvSpPr>
          <p:cNvPr id="97" name="Text 79"/>
          <p:cNvSpPr txBox="1"/>
          <p:nvPr/>
        </p:nvSpPr>
        <p:spPr>
          <a:xfrm>
            <a:off x="9527134" y="6270955"/>
            <a:ext cx="42885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 Bytes</a:t>
            </a:r>
            <a:endParaRPr lang="en-US" sz="800" dirty="0"/>
          </a:p>
        </p:txBody>
      </p:sp>
      <p:sp>
        <p:nvSpPr>
          <p:cNvPr id="98" name="Text 80"/>
          <p:cNvSpPr txBox="1"/>
          <p:nvPr/>
        </p:nvSpPr>
        <p:spPr>
          <a:xfrm>
            <a:off x="7720279" y="6647688"/>
            <a:ext cx="1077163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IPAddr / PortNo</a:t>
            </a:r>
            <a:endParaRPr lang="en-US" sz="900" dirty="0"/>
          </a:p>
        </p:txBody>
      </p:sp>
      <p:sp>
        <p:nvSpPr>
          <p:cNvPr id="99" name="Text 81"/>
          <p:cNvSpPr txBox="1"/>
          <p:nvPr/>
        </p:nvSpPr>
        <p:spPr>
          <a:xfrm>
            <a:off x="7751369" y="6846113"/>
            <a:ext cx="1020470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20 Bytes / 5 Bytes</a:t>
            </a:r>
            <a:endParaRPr lang="en-US" sz="800" dirty="0"/>
          </a:p>
        </p:txBody>
      </p:sp>
      <p:sp>
        <p:nvSpPr>
          <p:cNvPr id="100" name="Text 82"/>
          <p:cNvSpPr txBox="1"/>
          <p:nvPr/>
        </p:nvSpPr>
        <p:spPr>
          <a:xfrm>
            <a:off x="7669073" y="7222846"/>
            <a:ext cx="1179576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FileSize / FileDate</a:t>
            </a:r>
            <a:endParaRPr lang="en-US" sz="900" dirty="0"/>
          </a:p>
        </p:txBody>
      </p:sp>
      <p:sp>
        <p:nvSpPr>
          <p:cNvPr id="101" name="Text 83"/>
          <p:cNvSpPr txBox="1"/>
          <p:nvPr/>
        </p:nvSpPr>
        <p:spPr>
          <a:xfrm>
            <a:off x="7713878" y="7421270"/>
            <a:ext cx="1088136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27D9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12 Bytes / 14 Bytes</a:t>
            </a:r>
            <a:endParaRPr lang="en-US" sz="800" dirty="0"/>
          </a:p>
        </p:txBody>
      </p:sp>
      <p:sp>
        <p:nvSpPr>
          <p:cNvPr id="102" name="Shape 84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3" name="Image 16" descr="preencoded.png">    </p:cNvPr>
          <p:cNvPicPr>
            <a:picLocks noChangeAspect="1"/>
          </p:cNvPicPr>
          <p:nvPr/>
        </p:nvPicPr>
        <p:blipFill>
          <a:blip r:embed="rId17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8740" y="761695"/>
            <a:ext cx="3754526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보안 기능 요약 </a:t>
            </a:r>
            <a:pPr algn="l" indent="0" marL="0">
              <a:buNone/>
            </a:pPr>
            <a:r>
              <a:rPr lang="en-US" sz="2400" b="1" dirty="0">
                <a:solidFill>
                  <a:srgbClr val="627D9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암호화, 무결성 및 인증 체계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27202"/>
            <a:ext cx="607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05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" r="-1" t="0" b="0"/>
          <a:stretch/>
        </p:blipFill>
        <p:spPr>
          <a:xfrm>
            <a:off x="571500" y="2159813"/>
            <a:ext cx="4858207" cy="23052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19810" y="2388413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AES 암호화 </a:t>
            </a:r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Data Security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6743" r="-16743" t="0" b="0"/>
          <a:stretch/>
        </p:blipFill>
        <p:spPr>
          <a:xfrm>
            <a:off x="838505" y="2446020"/>
            <a:ext cx="267005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38505" y="2845613"/>
            <a:ext cx="44394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파일 및 중요 데이터 전송 시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AES (Advanced Encryption Standard)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알고리즘을 사용하여 기밀성을 보장합니다. 핵심 구현 파일인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aessrc/AES.c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는 약 53.2KB 크기의 모듈로 독립적인 암호화/복호화 함수를 제공하여 외부 침입으로부터 데이터를 보호합니다. 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5" r="-15" t="0" b="0"/>
          <a:stretch/>
        </p:blipFill>
        <p:spPr>
          <a:xfrm>
            <a:off x="571500" y="4844491"/>
            <a:ext cx="4858207" cy="201350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9810" y="5073091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MD5 무결성 검증 </a:t>
            </a:r>
            <a:endParaRPr lang="en-US" sz="1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838505" y="5129784"/>
            <a:ext cx="267005" cy="2286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38505" y="5530291"/>
            <a:ext cx="44394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파일 전송 중 데이터 변조 여부를 확인하기 위해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MD5 해시 알고리즘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을 사용합니다.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md5src/md5.c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및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tarsrc/tarutil.c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내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md5sum()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함수를 통해 전송 전후의 파일 체크섬을 비교하여 완벽한 무결성을 검증합니다. 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7" r="-7" t="0" b="0"/>
          <a:stretch/>
        </p:blipFill>
        <p:spPr>
          <a:xfrm>
            <a:off x="5810098" y="2159813"/>
            <a:ext cx="4858207" cy="1990649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458407" y="23884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인증 및 환경 보호 </a:t>
            </a:r>
            <a:endParaRPr lang="en-US" sz="18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510" b="-3510"/>
          <a:stretch/>
        </p:blipFill>
        <p:spPr>
          <a:xfrm>
            <a:off x="6077102" y="2446020"/>
            <a:ext cx="267005" cy="22860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-10" r="-10" t="0" b="0"/>
          <a:stretch/>
        </p:blipFill>
        <p:spPr>
          <a:xfrm>
            <a:off x="5810098" y="4526280"/>
            <a:ext cx="4858207" cy="233172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458407" y="4754880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향후 보안 개선 방향 </a:t>
            </a:r>
            <a:endParaRPr lang="en-US" sz="18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-8400" r="-8400" t="0" b="0"/>
          <a:stretch/>
        </p:blipFill>
        <p:spPr>
          <a:xfrm>
            <a:off x="6077102" y="4811573"/>
            <a:ext cx="267005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077102" y="5212080"/>
            <a:ext cx="443941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현재 시스템을 최신 보안 트렌드에 맞춰 강화하기 위한 중기 권장 사항입니다.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알고리즘 고도화: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AES-128에서 AES-256으로 키 길이 확장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전송 계층 보안: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소켓 통신에 TLS/SSL 채널 적용 권장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키 관리: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암호화 키 및 IV(Initial Vector)의 주기적 로테이션 정책 수립 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77102" y="2884018"/>
            <a:ext cx="152705" cy="15270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305702" y="2894076"/>
            <a:ext cx="12929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B/P 로그인 인증: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7391095" y="2884018"/>
            <a:ext cx="23545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비즈니스 파트너(B/P) 접속 시</a:t>
            </a:r>
            <a:endParaRPr lang="en-US" sz="1200" dirty="0"/>
          </a:p>
        </p:txBody>
      </p:sp>
      <p:sp>
        <p:nvSpPr>
          <p:cNvPr id="26" name="Shape 15"/>
          <p:cNvSpPr/>
          <p:nvPr/>
        </p:nvSpPr>
        <p:spPr>
          <a:xfrm>
            <a:off x="9385402" y="2894076"/>
            <a:ext cx="780898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6"/>
          <p:cNvSpPr txBox="1"/>
          <p:nvPr/>
        </p:nvSpPr>
        <p:spPr>
          <a:xfrm>
            <a:off x="9442094" y="2912364"/>
            <a:ext cx="7936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CmdBpAccnt</a:t>
            </a:r>
            <a:endParaRPr lang="en-US" sz="1000" dirty="0"/>
          </a:p>
        </p:txBody>
      </p:sp>
      <p:sp>
        <p:nvSpPr>
          <p:cNvPr id="28" name="Text 17"/>
          <p:cNvSpPr txBox="1"/>
          <p:nvPr/>
        </p:nvSpPr>
        <p:spPr>
          <a:xfrm>
            <a:off x="6077102" y="2884018"/>
            <a:ext cx="435345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명령을 통한 세션 인증 수행</a:t>
            </a:r>
            <a:endParaRPr lang="en-US" sz="12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77102" y="3467405"/>
            <a:ext cx="152705" cy="15270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305702" y="3476549"/>
            <a:ext cx="127101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환경 변수 관리:</a:t>
            </a:r>
            <a:endParaRPr lang="en-US" sz="1200" dirty="0"/>
          </a:p>
        </p:txBody>
      </p:sp>
      <p:sp>
        <p:nvSpPr>
          <p:cNvPr id="31" name="Text 19"/>
          <p:cNvSpPr txBox="1"/>
          <p:nvPr/>
        </p:nvSpPr>
        <p:spPr>
          <a:xfrm>
            <a:off x="7296912" y="3467405"/>
            <a:ext cx="31619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UserID 및 Password와 같은 민감 정보는</a:t>
            </a:r>
            <a:endParaRPr lang="en-US" sz="1200" dirty="0"/>
          </a:p>
        </p:txBody>
      </p:sp>
      <p:sp>
        <p:nvSpPr>
          <p:cNvPr id="32" name="Shape 20"/>
          <p:cNvSpPr/>
          <p:nvPr/>
        </p:nvSpPr>
        <p:spPr>
          <a:xfrm>
            <a:off x="6077102" y="3720694"/>
            <a:ext cx="780898" cy="171907"/>
          </a:xfrm>
          <a:prstGeom prst="roundRect">
            <a:avLst>
              <a:gd name="adj" fmla="val 118203"/>
            </a:avLst>
          </a:prstGeom>
          <a:solidFill>
            <a:srgbClr val="E2E8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6133795" y="3738982"/>
            <a:ext cx="79369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ProcEnvGet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6858000" y="3710635"/>
            <a:ext cx="27788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을 통해 안전하게 관리 및 접근 제어</a:t>
            </a:r>
            <a:endParaRPr lang="en-US" sz="1200" dirty="0"/>
          </a:p>
        </p:txBody>
      </p:sp>
      <p:sp>
        <p:nvSpPr>
          <p:cNvPr id="35" name="Shape 23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8740" y="761695"/>
            <a:ext cx="6124651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TAR 아카이빙 서브시스템 </a:t>
            </a:r>
            <a:pPr algn="l" indent="0" marL="0">
              <a:buNone/>
            </a:pPr>
            <a:r>
              <a:rPr lang="en-US" sz="2400" b="1" dirty="0">
                <a:solidFill>
                  <a:srgbClr val="627D9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tarsrc 디렉토리 및 tarutil.c 분석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27202"/>
            <a:ext cx="607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06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2" r="-12" t="0" b="0"/>
          <a:stretch/>
        </p:blipFill>
        <p:spPr>
          <a:xfrm>
            <a:off x="571500" y="2159813"/>
            <a:ext cx="4858207" cy="21332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19810" y="2388413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핵심 유틸리티 모듈 </a:t>
            </a:r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tarutil.c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27867" r="-27867" t="0" b="0"/>
          <a:stretch/>
        </p:blipFill>
        <p:spPr>
          <a:xfrm>
            <a:off x="838505" y="2446020"/>
            <a:ext cx="267005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38505" y="2845613"/>
            <a:ext cx="4439412" cy="981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eCAMS의 파일 패키징을 담당하는 핵심 파일인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tarutil.c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는 약 1,052줄의 코드로 구성되어 있습니다. 표준 TAR 포맷을 준수하며 파일 묶기, 해제, 목록 조회 등의 필수 기능을 직접 구현하여 외부 의존성을 최소화했습니다. 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12" r="-12" t="0" b="0"/>
          <a:stretch/>
        </p:blipFill>
        <p:spPr>
          <a:xfrm>
            <a:off x="571500" y="4674413"/>
            <a:ext cx="4858207" cy="213329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19810" y="49030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주요 구현 함수 </a:t>
            </a:r>
            <a:endParaRPr lang="en-US" sz="18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3510" b="-3510"/>
          <a:stretch/>
        </p:blipFill>
        <p:spPr>
          <a:xfrm>
            <a:off x="838505" y="4960620"/>
            <a:ext cx="267005" cy="22860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-12" r="-12" t="0" b="0"/>
          <a:stretch/>
        </p:blipFill>
        <p:spPr>
          <a:xfrm>
            <a:off x="5810098" y="2159813"/>
            <a:ext cx="4858207" cy="21332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458407" y="23884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고급 처리 및 인덱싱 </a:t>
            </a:r>
            <a:endParaRPr lang="en-US" sz="18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6077102" y="2446020"/>
            <a:ext cx="267005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077102" y="2845613"/>
            <a:ext cx="443941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단순 압축을 넘어 효율적인 관리를 위한 인덱싱과 조건부 처리 기능을 포함합니다.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tar_index_init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/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_insert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빠른 검색을 위한 인덱스 관리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tarFileMake_comp_Z/X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압축(Z) 및 해제(X) 처리 로직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대용량 파일 처리 시 안정성을 고려한 버퍼 관리 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-12" r="-12" t="0" b="0"/>
          <a:stretch/>
        </p:blipFill>
        <p:spPr>
          <a:xfrm>
            <a:off x="5810098" y="4674413"/>
            <a:ext cx="4858207" cy="21332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6458407" y="4903013"/>
            <a:ext cx="41724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라이브러리 구성 요소 </a:t>
            </a:r>
            <a:endParaRPr lang="en-US" sz="18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6077102" y="4960620"/>
            <a:ext cx="267005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6077102" y="5360213"/>
            <a:ext cx="443941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기능 단위로 세분화된 소스 파일들이 유기적으로 결합되어 있습니다.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append.c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기존 아카이브에 파일 추가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block.c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I/O 블록 단위 읽기/쓰기 제어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encode.c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/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decode.c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TAR 헤더 포맷 처리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libtar_hash.c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: 내부 해시 테이블 관리 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-133" r="-133" t="0" b="0"/>
          <a:stretch/>
        </p:blipFill>
        <p:spPr>
          <a:xfrm>
            <a:off x="838505" y="5431536"/>
            <a:ext cx="85954" cy="11430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000354" y="5407762"/>
            <a:ext cx="7031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create():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1590142" y="5398618"/>
            <a:ext cx="241675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새로운 TAR 아카이브 파일 생성</a:t>
            </a:r>
            <a:endParaRPr lang="en-US" sz="12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-133" r="-133" t="0" b="0"/>
          <a:stretch/>
        </p:blipFill>
        <p:spPr>
          <a:xfrm>
            <a:off x="838505" y="5751576"/>
            <a:ext cx="85954" cy="114300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1000354" y="5727802"/>
            <a:ext cx="77083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extract():</a:t>
            </a:r>
            <a:endParaRPr lang="en-US" sz="1200" dirty="0"/>
          </a:p>
        </p:txBody>
      </p:sp>
      <p:sp>
        <p:nvSpPr>
          <p:cNvPr id="28" name="Text 16"/>
          <p:cNvSpPr txBox="1"/>
          <p:nvPr/>
        </p:nvSpPr>
        <p:spPr>
          <a:xfrm>
            <a:off x="1640434" y="5718658"/>
            <a:ext cx="243413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아카이브에서 파일 추출 및 복원</a:t>
            </a:r>
            <a:endParaRPr lang="en-US" sz="12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838505" y="6071616"/>
            <a:ext cx="85954" cy="114300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1000354" y="6047842"/>
            <a:ext cx="428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list():</a:t>
            </a:r>
            <a:endParaRPr lang="en-US" sz="1200" dirty="0"/>
          </a:p>
        </p:txBody>
      </p:sp>
      <p:sp>
        <p:nvSpPr>
          <p:cNvPr id="31" name="Text 18"/>
          <p:cNvSpPr txBox="1"/>
          <p:nvPr/>
        </p:nvSpPr>
        <p:spPr>
          <a:xfrm>
            <a:off x="1350569" y="6038698"/>
            <a:ext cx="2276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아카이브 내부 파일 목록 조회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rcRect l="-133" r="-133" t="0" b="0"/>
          <a:stretch/>
        </p:blipFill>
        <p:spPr>
          <a:xfrm>
            <a:off x="838505" y="6391656"/>
            <a:ext cx="85954" cy="114300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000354" y="6367882"/>
            <a:ext cx="88239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md5sum():</a:t>
            </a:r>
            <a:endParaRPr lang="en-US" sz="1200" dirty="0"/>
          </a:p>
        </p:txBody>
      </p:sp>
      <p:sp>
        <p:nvSpPr>
          <p:cNvPr id="34" name="Text 20"/>
          <p:cNvSpPr txBox="1"/>
          <p:nvPr/>
        </p:nvSpPr>
        <p:spPr>
          <a:xfrm>
            <a:off x="1775765" y="6358738"/>
            <a:ext cx="28428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파일 무결성 검증을 위한 체크섬 계산</a:t>
            </a:r>
            <a:endParaRPr lang="en-US" sz="1200" dirty="0"/>
          </a:p>
        </p:txBody>
      </p:sp>
      <p:sp>
        <p:nvSpPr>
          <p:cNvPr id="35" name="Shape 21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96305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3304642"/>
            <a:ext cx="51435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🛠️ 시스템 의존성 및 환경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2660" r="-2660" t="0" b="0"/>
          <a:stretch/>
        </p:blipFill>
        <p:spPr>
          <a:xfrm>
            <a:off x="761695" y="3876142"/>
            <a:ext cx="181051" cy="1719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86307" y="3876142"/>
            <a:ext cx="18022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플랫폼 지원 (POSIX)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86307" y="4162349"/>
            <a:ext cx="45820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Solaris, AIX, HP-UX 등 Unix 계열 및 Linux 환경 지원. 크로스 플랫폼 호환성 확보.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6490" b="-6490"/>
          <a:stretch/>
        </p:blipFill>
        <p:spPr>
          <a:xfrm>
            <a:off x="761695" y="4714646"/>
            <a:ext cx="190195" cy="17190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5451" y="4714646"/>
            <a:ext cx="17574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네트워크 라이브러리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095451" y="4981651"/>
            <a:ext cx="580644" cy="190195"/>
          </a:xfrm>
          <a:prstGeom prst="roundRect">
            <a:avLst>
              <a:gd name="adj" fmla="val 96154"/>
            </a:avLst>
          </a:prstGeom>
          <a:solidFill>
            <a:srgbClr val="E6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152144" y="4999939"/>
            <a:ext cx="5431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3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libnsl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1674266" y="4999939"/>
            <a:ext cx="162123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(Network Services),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027578" y="4981651"/>
            <a:ext cx="819302" cy="190195"/>
          </a:xfrm>
          <a:prstGeom prst="roundRect">
            <a:avLst>
              <a:gd name="adj" fmla="val 96154"/>
            </a:avLst>
          </a:prstGeom>
          <a:solidFill>
            <a:srgbClr val="E6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85186" y="4999939"/>
            <a:ext cx="781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3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libsocket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838651" y="4999939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(소켓 통신),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43323" y="4981651"/>
            <a:ext cx="657454" cy="190195"/>
          </a:xfrm>
          <a:prstGeom prst="roundRect">
            <a:avLst>
              <a:gd name="adj" fmla="val 96154"/>
            </a:avLst>
          </a:prstGeom>
          <a:solidFill>
            <a:srgbClr val="E6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00016" y="4999939"/>
            <a:ext cx="619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3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libxnet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95451" y="5200193"/>
            <a:ext cx="136885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(X/Open 네트워킹)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-5319" r="-5319" t="0" b="0"/>
          <a:stretch/>
        </p:blipFill>
        <p:spPr>
          <a:xfrm>
            <a:off x="761695" y="5553151"/>
            <a:ext cx="190195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5451" y="5553151"/>
            <a:ext cx="120883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운영 스크립트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1095451" y="5819242"/>
            <a:ext cx="1200607" cy="190195"/>
          </a:xfrm>
          <a:prstGeom prst="roundRect">
            <a:avLst>
              <a:gd name="adj" fmla="val 96154"/>
            </a:avLst>
          </a:prstGeom>
          <a:solidFill>
            <a:srgbClr val="E6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152144" y="5838444"/>
            <a:ext cx="11622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3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start_xxxxx.sh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2293315" y="5838444"/>
            <a:ext cx="181508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(서버 시작, 중복 방지),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758184" y="5819242"/>
            <a:ext cx="1123798" cy="190195"/>
          </a:xfrm>
          <a:prstGeom prst="roundRect">
            <a:avLst>
              <a:gd name="adj" fmla="val 96154"/>
            </a:avLst>
          </a:prstGeom>
          <a:solidFill>
            <a:srgbClr val="E6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815791" y="5838444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3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stop_xxxxx.sh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4879238" y="5838444"/>
            <a:ext cx="86410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(서버 종료)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6667805" y="1333195"/>
            <a:ext cx="49533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07</a:t>
            </a:r>
            <a:endParaRPr lang="en-US" sz="3600" dirty="0"/>
          </a:p>
        </p:txBody>
      </p:sp>
      <p:sp>
        <p:nvSpPr>
          <p:cNvPr id="29" name="Shape 24"/>
          <p:cNvSpPr/>
          <p:nvPr/>
        </p:nvSpPr>
        <p:spPr>
          <a:xfrm>
            <a:off x="6667805" y="1943100"/>
            <a:ext cx="571500" cy="28346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6667805" y="2400300"/>
            <a:ext cx="4934102" cy="121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빌드 시스템</a:t>
            </a:r>
            <a:pPr algn="l" indent="0" marL="0">
              <a:buNone/>
            </a:pPr>
            <a:endParaRPr lang="en-US" sz="4300" dirty="0"/>
          </a:p>
          <a:p>
            <a:pPr algn="l" indent="0" marL="0">
              <a:buNone/>
            </a:pPr>
            <a:r>
              <a:rPr lang="en-US" sz="43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&amp; 프로세스 흐름</a:t>
            </a:r>
            <a:endParaRPr lang="en-US" sz="4300" dirty="0"/>
          </a:p>
        </p:txBody>
      </p:sp>
      <p:sp>
        <p:nvSpPr>
          <p:cNvPr id="31" name="Shape 26"/>
          <p:cNvSpPr/>
          <p:nvPr/>
        </p:nvSpPr>
        <p:spPr>
          <a:xfrm>
            <a:off x="6667805" y="4091940"/>
            <a:ext cx="4762195" cy="2115007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2" name="Shape 27"/>
          <p:cNvSpPr/>
          <p:nvPr/>
        </p:nvSpPr>
        <p:spPr>
          <a:xfrm>
            <a:off x="6667805" y="4091940"/>
            <a:ext cx="38405" cy="2115007"/>
          </a:xfrm>
          <a:prstGeom prst="rect">
            <a:avLst/>
          </a:prstGeom>
          <a:solidFill>
            <a:srgbClr val="204458"/>
          </a:solidFill>
          <a:ln w="12700">
            <a:solidFill>
              <a:srgbClr val="204458">
                <a:alpha val="0"/>
              </a:srgbClr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896405" y="4625035"/>
            <a:ext cx="4343400" cy="914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896405" y="4282135"/>
            <a:ext cx="4457700" cy="2679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🏗️ GNU Autotools 기반 빌드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6896405" y="4786884"/>
            <a:ext cx="6126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설정:</a:t>
            </a:r>
            <a:endParaRPr lang="en-US" sz="1200" dirty="0"/>
          </a:p>
        </p:txBody>
      </p:sp>
      <p:sp>
        <p:nvSpPr>
          <p:cNvPr id="36" name="Text 31"/>
          <p:cNvSpPr txBox="1"/>
          <p:nvPr/>
        </p:nvSpPr>
        <p:spPr>
          <a:xfrm>
            <a:off x="7486193" y="4786884"/>
            <a:ext cx="24377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configure.ac → Makefile 생성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6896405" y="5129784"/>
            <a:ext cx="121066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라이브러리: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7915961" y="5129784"/>
            <a:ext cx="120152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aessrc (암호화)</a:t>
            </a:r>
            <a:endParaRPr lang="en-US" sz="12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9018727" y="5139842"/>
            <a:ext cx="114300" cy="13350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9228125" y="5129784"/>
            <a:ext cx="114482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md5src (해시)</a:t>
            </a:r>
            <a:endParaRPr lang="en-US" sz="1200" dirty="0"/>
          </a:p>
        </p:txBody>
      </p:sp>
      <p:sp>
        <p:nvSpPr>
          <p:cNvPr id="41" name="Text 35"/>
          <p:cNvSpPr txBox="1"/>
          <p:nvPr/>
        </p:nvSpPr>
        <p:spPr>
          <a:xfrm>
            <a:off x="6896405" y="5472684"/>
            <a:ext cx="6126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코어: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7486193" y="5472684"/>
            <a:ext cx="138348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svrsrc (서버 메인)</a:t>
            </a:r>
            <a:endParaRPr lang="en-US" sz="12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738006" y="5482742"/>
            <a:ext cx="114300" cy="133502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947404" y="5472684"/>
            <a:ext cx="132679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tarsrc (아카이빙)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6896405" y="5818327"/>
            <a:ext cx="61264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4. 링크:</a:t>
            </a:r>
            <a:endParaRPr lang="en-US" sz="1200" dirty="0"/>
          </a:p>
        </p:txBody>
      </p:sp>
      <p:sp>
        <p:nvSpPr>
          <p:cNvPr id="46" name="Text 39"/>
          <p:cNvSpPr txBox="1"/>
          <p:nvPr/>
        </p:nvSpPr>
        <p:spPr>
          <a:xfrm>
            <a:off x="7486193" y="5815584"/>
            <a:ext cx="13094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Object 파일들 →</a:t>
            </a:r>
            <a:endParaRPr lang="en-US" sz="1200" dirty="0"/>
          </a:p>
        </p:txBody>
      </p:sp>
      <p:sp>
        <p:nvSpPr>
          <p:cNvPr id="47" name="Shape 40"/>
          <p:cNvSpPr/>
          <p:nvPr/>
        </p:nvSpPr>
        <p:spPr>
          <a:xfrm>
            <a:off x="8652967" y="5806440"/>
            <a:ext cx="857707" cy="190195"/>
          </a:xfrm>
          <a:prstGeom prst="roundRect">
            <a:avLst>
              <a:gd name="adj" fmla="val 96154"/>
            </a:avLst>
          </a:prstGeom>
          <a:solidFill>
            <a:srgbClr val="E6F3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8709660" y="5825642"/>
            <a:ext cx="8193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3C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ecams_svr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9509760" y="5815584"/>
            <a:ext cx="114025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실행 파일 생성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6667805" y="6583680"/>
            <a:ext cx="49533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빌드 특징</a:t>
            </a:r>
            <a:endParaRPr lang="en-US" sz="2100" dirty="0"/>
          </a:p>
        </p:txBody>
      </p:sp>
      <p:sp>
        <p:nvSpPr>
          <p:cNvPr id="51" name="Text 44"/>
          <p:cNvSpPr txBox="1"/>
          <p:nvPr/>
        </p:nvSpPr>
        <p:spPr>
          <a:xfrm>
            <a:off x="6667805" y="7098487"/>
            <a:ext cx="483900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전통적인 </a:t>
            </a:r>
            <a:pPr algn="l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Autoconf + Make</a:t>
            </a:r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방식을 사용하여 다양한 Unix 환경에서의 이식성을 보장합니다. 모듈별 순차 빌드 후 최종 실행 파일로 링킹되는 구조를 가집니다. 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2044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8740" y="761695"/>
            <a:ext cx="4858207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코드 품질 분석 </a:t>
            </a:r>
            <a:pPr algn="l" indent="0" marL="0">
              <a:buNone/>
            </a:pPr>
            <a:r>
              <a:rPr lang="en-US" sz="2400" b="1" dirty="0">
                <a:solidFill>
                  <a:srgbClr val="627D9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현재 코드베이스의 강점과 개선 과제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27202"/>
            <a:ext cx="607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08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2159813"/>
            <a:ext cx="4858207" cy="39438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19810" y="2388413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주요 강점 (Strengths) 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8400" r="-8400" t="0" b="0"/>
          <a:stretch/>
        </p:blipFill>
        <p:spPr>
          <a:xfrm>
            <a:off x="838505" y="2446020"/>
            <a:ext cx="267005" cy="2286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8505" y="2894076"/>
            <a:ext cx="114300" cy="1143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47902" y="3133649"/>
            <a:ext cx="42291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기능별 구조화가 잘 되어 있음. 암호화(aessrc), 해시(md5src), TAR(tarsrc), 서버(svrsrc) 로직이 독립적으로 분리되어 유지보수가 용이함.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8505" y="4027018"/>
            <a:ext cx="114300" cy="1143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47902" y="4267505"/>
            <a:ext cx="42291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tarcom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호환성 레이어를 통해 POSIX 표준을 완전히 준수하지 않는 다양한 Unix/Linux 플랫폼(Solaris, AIX 등)을 지원함.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8505" y="4916729"/>
            <a:ext cx="114300" cy="1143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7902" y="5156302"/>
            <a:ext cx="42291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Fork 기반 프로세스 모델과 견고한 시그널 핸들링을 통해 좀비 프로세스 발생을 방지하고 장시간 운영 안정성을 확보함.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" b="-1"/>
          <a:stretch/>
        </p:blipFill>
        <p:spPr>
          <a:xfrm>
            <a:off x="5810098" y="2159813"/>
            <a:ext cx="4858207" cy="3943807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458407" y="2388413"/>
            <a:ext cx="409559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개선 필요 사항 (Improvements) </a:t>
            </a:r>
            <a:endParaRPr lang="en-US" sz="18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-8400" r="-8400" t="0" b="0"/>
          <a:stretch/>
        </p:blipFill>
        <p:spPr>
          <a:xfrm>
            <a:off x="6077102" y="2446020"/>
            <a:ext cx="267005" cy="22860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077102" y="2894076"/>
            <a:ext cx="114300" cy="11430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6286500" y="3133649"/>
            <a:ext cx="42291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구식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K&amp;R 스타일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과 현대적 </a:t>
            </a:r>
            <a:pPr algn="l" indent="0" marL="0">
              <a:buNone/>
            </a:pPr>
            <a:r>
              <a:rPr lang="en-US" sz="12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ANSI C</a:t>
            </a:r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스타일이 혼재됨. 최신 컴파일러에서의 경고 발생 가능성 및 가독성 저하 문제 해결 필요.</a:t>
            </a:r>
            <a:endParaRPr lang="en-US" sz="12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077102" y="3782873"/>
            <a:ext cx="114300" cy="11430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6286500" y="4023360"/>
            <a:ext cx="422910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에러 코드 정의가 분산되어 있고 반환값 처리가 일관적이지 않음. 통합된 에러 핸들링 체계와 명확한 메시징 도입이 시급함.</a:t>
            </a:r>
            <a:endParaRPr lang="en-US" sz="120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077102" y="4672584"/>
            <a:ext cx="114300" cy="1143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6286500" y="4913071"/>
            <a:ext cx="422910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단순 문자열 기반 로깅으로 레벨(Debug/Info/Error) 구분이 없음. 구조화된 로그 및 파일 로테이션 기능 부재로 운영 효율성 저하.</a:t>
            </a:r>
            <a:endParaRPr lang="en-US" sz="1200" dirty="0"/>
          </a:p>
        </p:txBody>
      </p:sp>
      <p:sp>
        <p:nvSpPr>
          <p:cNvPr id="26" name="Shape 14"/>
          <p:cNvSpPr/>
          <p:nvPr/>
        </p:nvSpPr>
        <p:spPr>
          <a:xfrm>
            <a:off x="1047902" y="2874874"/>
            <a:ext cx="476402" cy="228600"/>
          </a:xfrm>
          <a:prstGeom prst="roundRect">
            <a:avLst>
              <a:gd name="adj" fmla="val 66667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1123798" y="2922422"/>
            <a:ext cx="400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4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모듈화</a:t>
            </a:r>
            <a:endParaRPr lang="en-US" sz="900" dirty="0"/>
          </a:p>
        </p:txBody>
      </p:sp>
      <p:sp>
        <p:nvSpPr>
          <p:cNvPr id="28" name="Shape 16"/>
          <p:cNvSpPr/>
          <p:nvPr/>
        </p:nvSpPr>
        <p:spPr>
          <a:xfrm>
            <a:off x="1047902" y="4007815"/>
            <a:ext cx="476402" cy="228600"/>
          </a:xfrm>
          <a:prstGeom prst="roundRect">
            <a:avLst>
              <a:gd name="adj" fmla="val 66667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17"/>
          <p:cNvSpPr txBox="1"/>
          <p:nvPr/>
        </p:nvSpPr>
        <p:spPr>
          <a:xfrm>
            <a:off x="1123798" y="4055364"/>
            <a:ext cx="400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4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호환성</a:t>
            </a:r>
            <a:endParaRPr lang="en-US" sz="900" dirty="0"/>
          </a:p>
        </p:txBody>
      </p:sp>
      <p:sp>
        <p:nvSpPr>
          <p:cNvPr id="30" name="Shape 18"/>
          <p:cNvSpPr/>
          <p:nvPr/>
        </p:nvSpPr>
        <p:spPr>
          <a:xfrm>
            <a:off x="1047902" y="4897526"/>
            <a:ext cx="476402" cy="228600"/>
          </a:xfrm>
          <a:prstGeom prst="roundRect">
            <a:avLst>
              <a:gd name="adj" fmla="val 66667"/>
            </a:avLst>
          </a:prstGeom>
          <a:solidFill>
            <a:srgbClr val="C6F6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1123798" y="4945075"/>
            <a:ext cx="400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2543D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안정성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6286500" y="2874874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1"/>
          <p:cNvSpPr txBox="1"/>
          <p:nvPr/>
        </p:nvSpPr>
        <p:spPr>
          <a:xfrm>
            <a:off x="6362395" y="2922422"/>
            <a:ext cx="6839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2272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코드 스타일</a:t>
            </a:r>
            <a:endParaRPr lang="en-US" sz="900" dirty="0"/>
          </a:p>
        </p:txBody>
      </p:sp>
      <p:sp>
        <p:nvSpPr>
          <p:cNvPr id="34" name="Shape 22"/>
          <p:cNvSpPr/>
          <p:nvPr/>
        </p:nvSpPr>
        <p:spPr>
          <a:xfrm>
            <a:off x="6286500" y="3764585"/>
            <a:ext cx="619049" cy="228600"/>
          </a:xfrm>
          <a:prstGeom prst="roundRect">
            <a:avLst>
              <a:gd name="adj" fmla="val 66667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23"/>
          <p:cNvSpPr txBox="1"/>
          <p:nvPr/>
        </p:nvSpPr>
        <p:spPr>
          <a:xfrm>
            <a:off x="6362395" y="3812134"/>
            <a:ext cx="56235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2272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에러 처리</a:t>
            </a:r>
            <a:endParaRPr lang="en-US" sz="900" dirty="0"/>
          </a:p>
        </p:txBody>
      </p:sp>
      <p:sp>
        <p:nvSpPr>
          <p:cNvPr id="36" name="Shape 24"/>
          <p:cNvSpPr/>
          <p:nvPr/>
        </p:nvSpPr>
        <p:spPr>
          <a:xfrm>
            <a:off x="6286500" y="4653382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FED7D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5"/>
          <p:cNvSpPr txBox="1"/>
          <p:nvPr/>
        </p:nvSpPr>
        <p:spPr>
          <a:xfrm>
            <a:off x="6362395" y="4700930"/>
            <a:ext cx="68397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22727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로깅 시스템</a:t>
            </a:r>
            <a:endParaRPr lang="en-US" sz="900" dirty="0"/>
          </a:p>
        </p:txBody>
      </p:sp>
      <p:sp>
        <p:nvSpPr>
          <p:cNvPr id="38" name="Shape 26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014155" y="619049"/>
            <a:ext cx="3171139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48740" y="761695"/>
            <a:ext cx="527700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0445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중기 개선 계획 </a:t>
            </a:r>
            <a:pPr algn="l" indent="0" marL="0">
              <a:buNone/>
            </a:pPr>
            <a:r>
              <a:rPr lang="en-US" sz="2400" b="1" dirty="0">
                <a:solidFill>
                  <a:srgbClr val="627D98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유지보수성 향상을 위한 8~11주 로드맵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927202"/>
            <a:ext cx="60716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09</a:t>
            </a:r>
            <a:endParaRPr lang="en-US" sz="3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4" r="-4" t="0" b="0"/>
          <a:stretch/>
        </p:blipFill>
        <p:spPr>
          <a:xfrm>
            <a:off x="571500" y="2159813"/>
            <a:ext cx="4905756" cy="16002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2350922"/>
            <a:ext cx="4258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Phase 1: 로깅 시스템 고도화 </a:t>
            </a:r>
            <a:pPr algn="l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3~4주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10096" r="-10096" t="0" b="0"/>
          <a:stretch/>
        </p:blipFill>
        <p:spPr>
          <a:xfrm>
            <a:off x="800100" y="2398471"/>
            <a:ext cx="228600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00100" y="2713025"/>
            <a:ext cx="456285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단순 문자열 로그를 구조화된 시스템으로 전환합니다. 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로그 레벨 도입 (Info, Debug, Error, Fatal)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메타데이터(시간, PID, 파일명) 자동 포함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파일 크기 기반 자동 로테이션 구현 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4" r="-4" t="0" b="0"/>
          <a:stretch/>
        </p:blipFill>
        <p:spPr>
          <a:xfrm>
            <a:off x="571500" y="4046220"/>
            <a:ext cx="4905756" cy="1600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4236415"/>
            <a:ext cx="4258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Phase 2: 에러 처리 체계 강화 </a:t>
            </a:r>
            <a:pPr algn="l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3~4주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10096" r="-10096" t="0" b="0"/>
          <a:stretch/>
        </p:blipFill>
        <p:spPr>
          <a:xfrm>
            <a:off x="800100" y="4283964"/>
            <a:ext cx="228600" cy="19019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00100" y="4598518"/>
            <a:ext cx="456285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일관성 없는 에러 처리를 통합 체계로 재정비합니다.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통합 에러 코드(Enum) 정의 및 메시지 매핑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시스템 콜 실패 시 명확한 리턴 처리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RAII 패턴(goto 활용)을 통한 리소스 정리 보장 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9" b="-19"/>
          <a:stretch/>
        </p:blipFill>
        <p:spPr>
          <a:xfrm>
            <a:off x="571500" y="5931713"/>
            <a:ext cx="4905756" cy="926287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143000" y="6122822"/>
            <a:ext cx="42583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Phase 3: 코딩 스타일 표준화 </a:t>
            </a:r>
            <a:pPr algn="l" indent="0" marL="0">
              <a:buNone/>
            </a:pPr>
            <a:r>
              <a:rPr lang="en-US" sz="9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2~3주</a:t>
            </a:r>
            <a:endParaRPr lang="en-US" sz="15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000" b="-2000"/>
          <a:stretch/>
        </p:blipFill>
        <p:spPr>
          <a:xfrm>
            <a:off x="800100" y="6170371"/>
            <a:ext cx="228600" cy="190195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00100" y="6484925"/>
            <a:ext cx="456285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K&amp;R 스타일과 ANSI C 스타일 혼재를 해결합니다.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함수 선언 및 헤더 파일의 프로토타입 표준화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컴파일러 경고 레벨 강화 (</a:t>
            </a:r>
            <a:pPr algn="l" indent="0" marL="0">
              <a:buNone/>
            </a:pPr>
            <a:r>
              <a:rPr lang="en-US" sz="1000" dirty="0">
                <a:solidFill>
                  <a:srgbClr val="334E68"/>
                </a:solidFill>
                <a:latin typeface="Nanum Gothic Coding" pitchFamily="34" charset="0"/>
                <a:ea typeface="Nanum Gothic Coding" pitchFamily="34" charset="-122"/>
                <a:cs typeface="Nanum Gothic Coding" pitchFamily="34" charset="-120"/>
              </a:rPr>
              <a:t>-Wall -Wextra</a:t>
            </a:r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)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전역 변수 사용 최소화 및 가시성 정리 </a:t>
            </a:r>
            <a:endParaRPr lang="en-US" sz="11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rcRect l="-4" r="-4" t="0" b="0"/>
          <a:stretch/>
        </p:blipFill>
        <p:spPr>
          <a:xfrm>
            <a:off x="5762549" y="2159813"/>
            <a:ext cx="4905756" cy="16002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334049" y="2350922"/>
            <a:ext cx="4334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실행 전략: 병렬 작업 </a:t>
            </a:r>
            <a:endParaRPr lang="en-US" sz="15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rcRect l="-10096" r="-10096" t="0" b="0"/>
          <a:stretch/>
        </p:blipFill>
        <p:spPr>
          <a:xfrm>
            <a:off x="5991149" y="2398471"/>
            <a:ext cx="228600" cy="190195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5991149" y="2713025"/>
            <a:ext cx="456285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전체 일정을 단축하기 위해 독립적인 작업은 병렬로 진행합니다.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1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로깅 시스템:</a:t>
            </a:r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핵심 로직과 독립적으로 모듈 개발 가능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</a:t>
            </a:r>
            <a:pPr algn="l" indent="0" marL="0">
              <a:buNone/>
            </a:pPr>
            <a:r>
              <a:rPr lang="en-US" sz="11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스타일 통일:</a:t>
            </a:r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기능 변경 없이 파일 단위로 점진적 적용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• 로깅/에러 처리는 기능 영향도가 높으므로 순차 적용 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-4" r="-4" t="0" b="0"/>
          <a:stretch/>
        </p:blipFill>
        <p:spPr>
          <a:xfrm>
            <a:off x="5762549" y="4046220"/>
            <a:ext cx="4905756" cy="2811780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6334049" y="4965192"/>
            <a:ext cx="4334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445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품질 보증 및 리스크 관리 </a:t>
            </a:r>
            <a:endParaRPr lang="en-US" sz="150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rcRect l="-10096" r="-10096" t="0" b="0"/>
          <a:stretch/>
        </p:blipFill>
        <p:spPr>
          <a:xfrm>
            <a:off x="5991149" y="5012741"/>
            <a:ext cx="228600" cy="19019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991149" y="5327294"/>
            <a:ext cx="4562856" cy="128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안정적인 레거시 시스템의 기능을 보존하는 것이 최우선입니다.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1. 단계별 회귀 테스트:</a:t>
            </a:r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각 Phase 종료 시 기존 기능(파일 전송, 암호화) 정상 동작 검증 필수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2. 점진적 배포:</a:t>
            </a:r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전체 일괄 적용보다는 모듈 단위 적용으로 리스크 분산</a:t>
            </a:r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3. CI 파이프라인:</a:t>
            </a:r>
            <a:pPr algn="l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빌드 경고 0건 정책을 도입하여 코드 품질 강제 </a:t>
            </a:r>
            <a:endParaRPr lang="en-US" sz="1100" dirty="0"/>
          </a:p>
        </p:txBody>
      </p:sp>
      <p:sp>
        <p:nvSpPr>
          <p:cNvPr id="28" name="Shape 16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445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21874" b="21874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37676" y="619049"/>
            <a:ext cx="334487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8" kern="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SYSTEM ANALYSIS REPORT | ECAMS SERVER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1039551" y="0"/>
            <a:ext cx="9144" cy="685800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" y="1828800"/>
            <a:ext cx="10077602" cy="1239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분석 요약 및 향후 로드맵</a:t>
            </a:r>
            <a:pPr algn="l" indent="0" marL="0">
              <a:buNone/>
            </a:pPr>
            <a:endParaRPr lang="en-US" sz="48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안정적인 현대화를 위한 단계별 접근 전략</a:t>
            </a:r>
            <a:endParaRPr lang="en-US" sz="48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rcRect l="-10" r="-10" t="0" b="0"/>
          <a:stretch/>
        </p:blipFill>
        <p:spPr>
          <a:xfrm>
            <a:off x="571500" y="3448202"/>
            <a:ext cx="9905695" cy="16093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14400" y="3733495"/>
            <a:ext cx="9468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📊 핵심 요약: 안정적인 레거시 시스템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1000354" y="5530291"/>
            <a:ext cx="3143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단기 우선순위 (Immediate)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6096305" y="5530291"/>
            <a:ext cx="36868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중기 개선 과제 (Mid-term)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000354" y="6587338"/>
            <a:ext cx="44961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장기 로드맵 (Long-term)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096305" y="6587338"/>
            <a:ext cx="216987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Action Items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9846" y="5625389"/>
            <a:ext cx="228600" cy="22860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5667451" y="5625389"/>
            <a:ext cx="286207" cy="228600"/>
          </a:xfrm>
          <a:prstGeom prst="rect">
            <a:avLst/>
          </a:prstGeom>
        </p:spPr>
      </p:pic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rcRect l="0" r="0" t="-45" b="-45"/>
          <a:stretch/>
        </p:blipFill>
        <p:spPr>
          <a:xfrm>
            <a:off x="586130" y="6682435"/>
            <a:ext cx="256946" cy="22860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5710428" y="6682435"/>
            <a:ext cx="200254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71500" y="952805"/>
            <a:ext cx="100968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ACDCF9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10</a:t>
            </a:r>
            <a:endParaRPr lang="en-US" sz="3600" dirty="0"/>
          </a:p>
        </p:txBody>
      </p:sp>
      <p:sp>
        <p:nvSpPr>
          <p:cNvPr id="18" name="Shape 10"/>
          <p:cNvSpPr/>
          <p:nvPr/>
        </p:nvSpPr>
        <p:spPr>
          <a:xfrm>
            <a:off x="571500" y="1505102"/>
            <a:ext cx="571500" cy="38405"/>
          </a:xfrm>
          <a:prstGeom prst="rect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14400" y="4219956"/>
            <a:ext cx="93543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 현재 eCAMS 서버는 </a:t>
            </a:r>
            <a:pPr algn="l" indent="0" marL="0">
              <a:buNone/>
            </a:pPr>
            <a:r>
              <a:rPr lang="en-US" sz="1300" b="1" dirty="0">
                <a:solidFill>
                  <a:srgbClr val="FFFFFF">
                    <a:alpha val="95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Socket 통신, AES 암호화, TAR 아카이빙</a:t>
            </a:r>
            <a:pPr algn="l" indent="0" marL="0">
              <a:buNone/>
            </a:pPr>
            <a:r>
              <a:rPr lang="en-US" sz="1300" dirty="0">
                <a:solidFill>
                  <a:srgbClr val="FFFFFF">
                    <a:alpha val="95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을 중심으로 견고하게 구축된 Unix/Linux 기반 시스템입니다. 모듈화된 구조와 크로스 플랫폼 지원은 강점이나, 유지보수성을 위해 로깅 및 에러 처리 체계의 현대화가 시급합니다. 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1000354" y="5844845"/>
            <a:ext cx="3105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구조화된 로깅 시스템 도입 및 에러 처리 표준화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(예상 기간: 3~4주)</a:t>
            </a:r>
            <a:endParaRPr lang="en-US" sz="1200" dirty="0"/>
          </a:p>
        </p:txBody>
      </p:sp>
      <p:sp>
        <p:nvSpPr>
          <p:cNvPr id="21" name="Text 13"/>
          <p:cNvSpPr txBox="1"/>
          <p:nvPr/>
        </p:nvSpPr>
        <p:spPr>
          <a:xfrm>
            <a:off x="6096305" y="5844845"/>
            <a:ext cx="3648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K&amp;R 스타일 코드의 ANSI C 표준화 및 빌드 시스템 정비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(예상 기간: 2~3주)</a:t>
            </a:r>
            <a:endParaRPr lang="en-US" sz="1200" dirty="0"/>
          </a:p>
        </p:txBody>
      </p:sp>
      <p:sp>
        <p:nvSpPr>
          <p:cNvPr id="22" name="Text 14"/>
          <p:cNvSpPr txBox="1"/>
          <p:nvPr/>
        </p:nvSpPr>
        <p:spPr>
          <a:xfrm>
            <a:off x="1000354" y="6901891"/>
            <a:ext cx="445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멀티스레드 모델 전환, TLS/SSL 보안 채널 적용, CMake 마이그레이션</a:t>
            </a:r>
            <a:endParaRPr lang="en-US" sz="1200" dirty="0"/>
          </a:p>
        </p:txBody>
      </p:sp>
      <p:sp>
        <p:nvSpPr>
          <p:cNvPr id="23" name="Text 15"/>
          <p:cNvSpPr txBox="1"/>
          <p:nvPr/>
        </p:nvSpPr>
        <p:spPr>
          <a:xfrm>
            <a:off x="6096305" y="6901891"/>
            <a:ext cx="2162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✅ 로깅 라이브러리 PoC 시작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Nanum Gothic" pitchFamily="34" charset="0"/>
                <a:ea typeface="Nanum Gothic" pitchFamily="34" charset="-122"/>
                <a:cs typeface="Nanum Gothic" pitchFamily="34" charset="-120"/>
              </a:rPr>
              <a:t>✅ 코딩 컨벤션 가이드라인 배포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11334902" y="6001207"/>
            <a:ext cx="476402" cy="476402"/>
          </a:xfrm>
          <a:prstGeom prst="ellipse">
            <a:avLst/>
          </a:prstGeom>
          <a:solidFill>
            <a:srgbClr val="ACDC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rcRect l="-1923" r="-1923" t="0" b="0"/>
          <a:stretch/>
        </p:blipFill>
        <p:spPr>
          <a:xfrm>
            <a:off x="11511382" y="6143854"/>
            <a:ext cx="123444" cy="1901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2026-01-27T06:21:43Z</dcterms:created>
  <dcterms:modified xsi:type="dcterms:W3CDTF">2026-01-27T06:21:43Z</dcterms:modified>
</cp:coreProperties>
</file>